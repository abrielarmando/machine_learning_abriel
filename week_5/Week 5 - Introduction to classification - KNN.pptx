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y="10287000" cx="18288000"/>
  <p:notesSz cx="6858000" cy="9144000"/>
  <p:embeddedFontLst>
    <p:embeddedFont>
      <p:font typeface="Raleway"/>
      <p:regular r:id="rId39"/>
      <p:bold r:id="rId40"/>
      <p:italic r:id="rId41"/>
      <p:boldItalic r:id="rId42"/>
    </p:embeddedFont>
    <p:embeddedFont>
      <p:font typeface="Montserrat"/>
      <p:bold r:id="rId43"/>
      <p:boldItalic r:id="rId44"/>
    </p:embeddedFont>
    <p:embeddedFont>
      <p:font typeface="Open Sans ExtraBold"/>
      <p:bold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47" roundtripDataSignature="AMtx7mg54zbNEEafUV3OJCv5pnQ1RwtTJ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F37385D-6868-4BBC-A807-A0F5DB3808EF}">
  <a:tblStyle styleId="{6F37385D-6868-4BBC-A807-A0F5DB3808EF}"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aleway-bold.fntdata"/><Relationship Id="rId20" Type="http://schemas.openxmlformats.org/officeDocument/2006/relationships/slide" Target="slides/slide14.xml"/><Relationship Id="rId42" Type="http://schemas.openxmlformats.org/officeDocument/2006/relationships/font" Target="fonts/Raleway-boldItalic.fntdata"/><Relationship Id="rId41" Type="http://schemas.openxmlformats.org/officeDocument/2006/relationships/font" Target="fonts/Raleway-italic.fntdata"/><Relationship Id="rId22" Type="http://schemas.openxmlformats.org/officeDocument/2006/relationships/slide" Target="slides/slide16.xml"/><Relationship Id="rId44" Type="http://schemas.openxmlformats.org/officeDocument/2006/relationships/font" Target="fonts/Montserrat-boldItalic.fntdata"/><Relationship Id="rId21" Type="http://schemas.openxmlformats.org/officeDocument/2006/relationships/slide" Target="slides/slide15.xml"/><Relationship Id="rId43" Type="http://schemas.openxmlformats.org/officeDocument/2006/relationships/font" Target="fonts/Montserrat-bold.fntdata"/><Relationship Id="rId24" Type="http://schemas.openxmlformats.org/officeDocument/2006/relationships/slide" Target="slides/slide18.xml"/><Relationship Id="rId46" Type="http://schemas.openxmlformats.org/officeDocument/2006/relationships/font" Target="fonts/OpenSansExtraBold-boldItalic.fntdata"/><Relationship Id="rId23" Type="http://schemas.openxmlformats.org/officeDocument/2006/relationships/slide" Target="slides/slide17.xml"/><Relationship Id="rId45" Type="http://schemas.openxmlformats.org/officeDocument/2006/relationships/font" Target="fonts/OpenSansExtraBold-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47" Type="http://customschemas.google.com/relationships/presentationmetadata" Target="metadata"/><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font" Target="fonts/Raleway-regular.fntdata"/><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 name="Google Shape;11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 name="Google Shape;13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 name="Google Shape;23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1" name="Google Shape;26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 name="Google Shape;27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9" name="Google Shape;28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4" name="Google Shape;30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7" name="Google Shape;317;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8" name="Google Shape;318;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0" name="Google Shape;330;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1" name="Google Shape;331;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3" name="Google Shape;343;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4" name="Google Shape;344;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4" name="Google Shape;374;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5" name="Google Shape;375;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8" name="Google Shape;388;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9" name="Google Shape;389;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1" name="Google Shape;411;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2" name="Google Shape;412;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5" name="Google Shape;425;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6" name="Google Shape;426;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1" name="Google Shape;441;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2" name="Google Shape;442;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5" name="Google Shape;455;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6" name="Google Shape;456;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7" name="Google Shape;467;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8" name="Google Shape;468;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2" name="Google Shape;482;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3" name="Google Shape;483;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4" name="Google Shape;494;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5" name="Google Shape;495;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7" name="Google Shape;507;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8" name="Google Shape;508;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9" name="Google Shape;519;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0" name="Google Shape;520;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3" name="Google Shape;533;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4" name="Google Shape;534;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9" name="Google Shape;549;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9" name="Google Shape;559;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0" name="Google Shape;560;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3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2" name="Google Shape;22;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3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3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3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3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3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3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3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3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3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4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4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4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4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4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42"/>
          <p:cNvSpPr/>
          <p:nvPr>
            <p:ph idx="2" type="pic"/>
          </p:nvPr>
        </p:nvSpPr>
        <p:spPr>
          <a:xfrm>
            <a:off x="1792288" y="612775"/>
            <a:ext cx="5486400" cy="4114800"/>
          </a:xfrm>
          <a:prstGeom prst="rect">
            <a:avLst/>
          </a:prstGeom>
          <a:noFill/>
          <a:ln>
            <a:noFill/>
          </a:ln>
        </p:spPr>
      </p:sp>
      <p:sp>
        <p:nvSpPr>
          <p:cNvPr id="68" name="Google Shape;68;p4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4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4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4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push/>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jpg"/><Relationship Id="rId4" Type="http://schemas.openxmlformats.org/officeDocument/2006/relationships/image" Target="../media/image1.png"/><Relationship Id="rId5"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4.jpg"/><Relationship Id="rId5" Type="http://schemas.openxmlformats.org/officeDocument/2006/relationships/image" Target="../media/image10.jpg"/><Relationship Id="rId6" Type="http://schemas.openxmlformats.org/officeDocument/2006/relationships/image" Target="../media/image11.jpg"/><Relationship Id="rId7" Type="http://schemas.openxmlformats.org/officeDocument/2006/relationships/image" Target="../media/image3.jpg"/><Relationship Id="rId8"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2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17.png"/><Relationship Id="rId5"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15.jpg"/><Relationship Id="rId5" Type="http://schemas.openxmlformats.org/officeDocument/2006/relationships/image" Target="../media/image2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18.png"/><Relationship Id="rId5"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29.png"/><Relationship Id="rId5" Type="http://schemas.openxmlformats.org/officeDocument/2006/relationships/image" Target="../media/image3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23.jpg"/><Relationship Id="rId5" Type="http://schemas.openxmlformats.org/officeDocument/2006/relationships/image" Target="../media/image2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8.pn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7.jpg"/><Relationship Id="rId4" Type="http://schemas.openxmlformats.org/officeDocument/2006/relationships/image" Target="../media/image1.png"/><Relationship Id="rId5" Type="http://schemas.openxmlformats.org/officeDocument/2006/relationships/image" Target="../media/image30.jpg"/><Relationship Id="rId6" Type="http://schemas.openxmlformats.org/officeDocument/2006/relationships/image" Target="../media/image28.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31.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png"/><Relationship Id="rId4" Type="http://schemas.openxmlformats.org/officeDocument/2006/relationships/image" Target="../media/image31.jpg"/><Relationship Id="rId5" Type="http://schemas.openxmlformats.org/officeDocument/2006/relationships/image" Target="../media/image33.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8.png"/><Relationship Id="rId4"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37.jpg"/><Relationship Id="rId4"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png"/><Relationship Id="rId4" Type="http://schemas.openxmlformats.org/officeDocument/2006/relationships/image" Target="../media/image36.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png"/><Relationship Id="rId4" Type="http://schemas.openxmlformats.org/officeDocument/2006/relationships/image" Target="../media/image34.jpg"/><Relationship Id="rId5" Type="http://schemas.openxmlformats.org/officeDocument/2006/relationships/image" Target="../media/image3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88" name="Shape 88"/>
        <p:cNvGrpSpPr/>
        <p:nvPr/>
      </p:nvGrpSpPr>
      <p:grpSpPr>
        <a:xfrm>
          <a:off x="0" y="0"/>
          <a:ext cx="0" cy="0"/>
          <a:chOff x="0" y="0"/>
          <a:chExt cx="0" cy="0"/>
        </a:xfrm>
      </p:grpSpPr>
      <p:sp>
        <p:nvSpPr>
          <p:cNvPr id="89" name="Google Shape;89;p1"/>
          <p:cNvSpPr/>
          <p:nvPr/>
        </p:nvSpPr>
        <p:spPr>
          <a:xfrm>
            <a:off x="0" y="-953969"/>
            <a:ext cx="18288000" cy="11240970"/>
          </a:xfrm>
          <a:custGeom>
            <a:rect b="b" l="l" r="r" t="t"/>
            <a:pathLst>
              <a:path extrusionOk="0" h="12194939" w="18288000">
                <a:moveTo>
                  <a:pt x="0" y="0"/>
                </a:moveTo>
                <a:lnTo>
                  <a:pt x="18288000" y="0"/>
                </a:lnTo>
                <a:lnTo>
                  <a:pt x="18288000" y="12194940"/>
                </a:lnTo>
                <a:lnTo>
                  <a:pt x="0" y="1219494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90" name="Google Shape;90;p1"/>
          <p:cNvGrpSpPr/>
          <p:nvPr/>
        </p:nvGrpSpPr>
        <p:grpSpPr>
          <a:xfrm>
            <a:off x="0" y="-144661"/>
            <a:ext cx="18288000" cy="10431661"/>
            <a:chOff x="0" y="-38100"/>
            <a:chExt cx="4816593" cy="2747433"/>
          </a:xfrm>
        </p:grpSpPr>
        <p:sp>
          <p:nvSpPr>
            <p:cNvPr id="91" name="Google Shape;91;p1"/>
            <p:cNvSpPr/>
            <p:nvPr/>
          </p:nvSpPr>
          <p:spPr>
            <a:xfrm>
              <a:off x="0" y="0"/>
              <a:ext cx="4816592" cy="2709333"/>
            </a:xfrm>
            <a:custGeom>
              <a:rect b="b" l="l" r="r" t="t"/>
              <a:pathLst>
                <a:path extrusionOk="0" h="2709333" w="4816592">
                  <a:moveTo>
                    <a:pt x="0" y="0"/>
                  </a:moveTo>
                  <a:lnTo>
                    <a:pt x="4816592" y="0"/>
                  </a:lnTo>
                  <a:lnTo>
                    <a:pt x="4816592" y="2709333"/>
                  </a:lnTo>
                  <a:lnTo>
                    <a:pt x="0" y="2709333"/>
                  </a:lnTo>
                  <a:close/>
                </a:path>
              </a:pathLst>
            </a:custGeom>
            <a:solidFill>
              <a:srgbClr val="FDFDFD">
                <a:alpha val="7882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 name="Google Shape;92;p1"/>
            <p:cNvSpPr txBox="1"/>
            <p:nvPr/>
          </p:nvSpPr>
          <p:spPr>
            <a:xfrm>
              <a:off x="0" y="-38100"/>
              <a:ext cx="4816593" cy="274743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93" name="Google Shape;93;p1"/>
          <p:cNvSpPr/>
          <p:nvPr/>
        </p:nvSpPr>
        <p:spPr>
          <a:xfrm>
            <a:off x="305748" y="323497"/>
            <a:ext cx="1690679" cy="1410406"/>
          </a:xfrm>
          <a:custGeom>
            <a:rect b="b" l="l" r="r" t="t"/>
            <a:pathLst>
              <a:path extrusionOk="0" h="1410406" w="1690679">
                <a:moveTo>
                  <a:pt x="0" y="0"/>
                </a:moveTo>
                <a:lnTo>
                  <a:pt x="1690679" y="0"/>
                </a:lnTo>
                <a:lnTo>
                  <a:pt x="1690679" y="1410406"/>
                </a:lnTo>
                <a:lnTo>
                  <a:pt x="0" y="141040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94" name="Google Shape;94;p1"/>
          <p:cNvGrpSpPr/>
          <p:nvPr/>
        </p:nvGrpSpPr>
        <p:grpSpPr>
          <a:xfrm>
            <a:off x="0" y="9771383"/>
            <a:ext cx="18288000" cy="515616"/>
            <a:chOff x="0" y="-38100"/>
            <a:chExt cx="3793620" cy="326159"/>
          </a:xfrm>
        </p:grpSpPr>
        <p:sp>
          <p:nvSpPr>
            <p:cNvPr id="95" name="Google Shape;95;p1"/>
            <p:cNvSpPr/>
            <p:nvPr/>
          </p:nvSpPr>
          <p:spPr>
            <a:xfrm>
              <a:off x="0" y="0"/>
              <a:ext cx="3793620" cy="288059"/>
            </a:xfrm>
            <a:custGeom>
              <a:rect b="b" l="l" r="r" t="t"/>
              <a:pathLst>
                <a:path extrusionOk="0" h="288059" w="3793620">
                  <a:moveTo>
                    <a:pt x="0" y="0"/>
                  </a:moveTo>
                  <a:lnTo>
                    <a:pt x="3793620" y="0"/>
                  </a:lnTo>
                  <a:lnTo>
                    <a:pt x="3793620" y="288059"/>
                  </a:lnTo>
                  <a:lnTo>
                    <a:pt x="0" y="288059"/>
                  </a:lnTo>
                  <a:close/>
                </a:path>
              </a:pathLst>
            </a:custGeom>
            <a:solidFill>
              <a:srgbClr val="145D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 name="Google Shape;96;p1"/>
            <p:cNvSpPr txBox="1"/>
            <p:nvPr/>
          </p:nvSpPr>
          <p:spPr>
            <a:xfrm>
              <a:off x="0" y="-38100"/>
              <a:ext cx="3793620" cy="326159"/>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97" name="Google Shape;97;p1"/>
          <p:cNvSpPr/>
          <p:nvPr/>
        </p:nvSpPr>
        <p:spPr>
          <a:xfrm>
            <a:off x="1996427" y="395391"/>
            <a:ext cx="154333" cy="1266619"/>
          </a:xfrm>
          <a:custGeom>
            <a:rect b="b" l="l" r="r" t="t"/>
            <a:pathLst>
              <a:path extrusionOk="0" h="1266619" w="154333">
                <a:moveTo>
                  <a:pt x="0" y="0"/>
                </a:moveTo>
                <a:lnTo>
                  <a:pt x="154334" y="0"/>
                </a:lnTo>
                <a:lnTo>
                  <a:pt x="154334" y="1266618"/>
                </a:lnTo>
                <a:lnTo>
                  <a:pt x="0" y="1266618"/>
                </a:lnTo>
                <a:lnTo>
                  <a:pt x="0" y="0"/>
                </a:lnTo>
                <a:close/>
              </a:path>
            </a:pathLst>
          </a:custGeom>
          <a:blipFill rotWithShape="1">
            <a:blip r:embed="rId5">
              <a:alphaModFix/>
            </a:blip>
            <a:stretch>
              <a:fillRect b="-280155"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8" name="Google Shape;98;p1"/>
          <p:cNvSpPr txBox="1"/>
          <p:nvPr/>
        </p:nvSpPr>
        <p:spPr>
          <a:xfrm>
            <a:off x="2246411" y="2595229"/>
            <a:ext cx="13795173" cy="1846659"/>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6000">
                <a:solidFill>
                  <a:srgbClr val="08377C"/>
                </a:solidFill>
                <a:latin typeface="Montserrat"/>
                <a:ea typeface="Montserrat"/>
                <a:cs typeface="Montserrat"/>
                <a:sym typeface="Montserrat"/>
              </a:rPr>
              <a:t>Introduction to Classification</a:t>
            </a:r>
            <a:endParaRPr/>
          </a:p>
          <a:p>
            <a:pPr indent="0" lvl="0" marL="0" marR="0" rtl="0" algn="ctr">
              <a:spcBef>
                <a:spcPts val="0"/>
              </a:spcBef>
              <a:spcAft>
                <a:spcPts val="0"/>
              </a:spcAft>
              <a:buNone/>
            </a:pPr>
            <a:r>
              <a:rPr b="1" lang="en-US" sz="6000">
                <a:solidFill>
                  <a:srgbClr val="08377C"/>
                </a:solidFill>
                <a:latin typeface="Montserrat"/>
                <a:ea typeface="Montserrat"/>
                <a:cs typeface="Montserrat"/>
                <a:sym typeface="Montserrat"/>
              </a:rPr>
              <a:t>KNN </a:t>
            </a:r>
            <a:endParaRPr b="1" sz="6000">
              <a:solidFill>
                <a:srgbClr val="08377C"/>
              </a:solidFill>
              <a:latin typeface="Montserrat"/>
              <a:ea typeface="Montserrat"/>
              <a:cs typeface="Montserrat"/>
              <a:sym typeface="Montserrat"/>
            </a:endParaRPr>
          </a:p>
        </p:txBody>
      </p:sp>
      <p:sp>
        <p:nvSpPr>
          <p:cNvPr id="99" name="Google Shape;99;p1"/>
          <p:cNvSpPr txBox="1"/>
          <p:nvPr/>
        </p:nvSpPr>
        <p:spPr>
          <a:xfrm>
            <a:off x="4740434" y="4694049"/>
            <a:ext cx="8807132" cy="1949252"/>
          </a:xfrm>
          <a:prstGeom prst="rect">
            <a:avLst/>
          </a:prstGeom>
          <a:noFill/>
          <a:ln>
            <a:noFill/>
          </a:ln>
        </p:spPr>
        <p:txBody>
          <a:bodyPr anchorCtr="0" anchor="t" bIns="0" lIns="0" spcFirstLastPara="1" rIns="0" wrap="square" tIns="0">
            <a:spAutoFit/>
          </a:bodyPr>
          <a:lstStyle/>
          <a:p>
            <a:pPr indent="0" lvl="0" marL="0" marR="0" rtl="0" algn="ctr">
              <a:lnSpc>
                <a:spcPct val="140022"/>
              </a:lnSpc>
              <a:spcBef>
                <a:spcPts val="0"/>
              </a:spcBef>
              <a:spcAft>
                <a:spcPts val="0"/>
              </a:spcAft>
              <a:buNone/>
            </a:pPr>
            <a:r>
              <a:rPr lang="en-US" sz="2696">
                <a:solidFill>
                  <a:srgbClr val="08377C"/>
                </a:solidFill>
                <a:latin typeface="Montserrat"/>
                <a:ea typeface="Montserrat"/>
                <a:cs typeface="Montserrat"/>
                <a:sym typeface="Montserrat"/>
              </a:rPr>
              <a:t>Week 5</a:t>
            </a:r>
            <a:endParaRPr sz="2696">
              <a:solidFill>
                <a:srgbClr val="08377C"/>
              </a:solidFill>
              <a:latin typeface="Montserrat"/>
              <a:ea typeface="Montserrat"/>
              <a:cs typeface="Montserrat"/>
              <a:sym typeface="Montserrat"/>
            </a:endParaRPr>
          </a:p>
          <a:p>
            <a:pPr indent="0" lvl="0" marL="0" marR="0" rtl="0" algn="ctr">
              <a:lnSpc>
                <a:spcPct val="140022"/>
              </a:lnSpc>
              <a:spcBef>
                <a:spcPts val="0"/>
              </a:spcBef>
              <a:spcAft>
                <a:spcPts val="0"/>
              </a:spcAft>
              <a:buNone/>
            </a:pPr>
            <a:r>
              <a:rPr lang="en-US" sz="2696">
                <a:solidFill>
                  <a:srgbClr val="08377C"/>
                </a:solidFill>
                <a:latin typeface="Montserrat"/>
                <a:ea typeface="Montserrat"/>
                <a:cs typeface="Montserrat"/>
                <a:sym typeface="Montserrat"/>
              </a:rPr>
              <a:t>D4 Robotics Engineering Study Program</a:t>
            </a:r>
            <a:endParaRPr/>
          </a:p>
          <a:p>
            <a:pPr indent="0" lvl="0" marL="0" marR="0" rtl="0" algn="ctr">
              <a:lnSpc>
                <a:spcPct val="140022"/>
              </a:lnSpc>
              <a:spcBef>
                <a:spcPts val="0"/>
              </a:spcBef>
              <a:spcAft>
                <a:spcPts val="0"/>
              </a:spcAft>
              <a:buNone/>
            </a:pPr>
            <a:r>
              <a:rPr lang="en-US" sz="2696">
                <a:solidFill>
                  <a:srgbClr val="08377C"/>
                </a:solidFill>
                <a:latin typeface="Montserrat"/>
                <a:ea typeface="Montserrat"/>
                <a:cs typeface="Montserrat"/>
                <a:sym typeface="Montserrat"/>
              </a:rPr>
              <a:t>Department of Electrical Engineering</a:t>
            </a:r>
            <a:endParaRPr/>
          </a:p>
          <a:p>
            <a:pPr indent="0" lvl="0" marL="0" marR="0" rtl="0" algn="ctr">
              <a:lnSpc>
                <a:spcPct val="140022"/>
              </a:lnSpc>
              <a:spcBef>
                <a:spcPts val="0"/>
              </a:spcBef>
              <a:spcAft>
                <a:spcPts val="0"/>
              </a:spcAft>
              <a:buNone/>
            </a:pPr>
            <a:r>
              <a:rPr lang="en-US" sz="2696">
                <a:solidFill>
                  <a:srgbClr val="08377C"/>
                </a:solidFill>
                <a:latin typeface="Montserrat"/>
                <a:ea typeface="Montserrat"/>
                <a:cs typeface="Montserrat"/>
                <a:sym typeface="Montserrat"/>
              </a:rPr>
              <a:t>Politeknik Negeri Batam</a:t>
            </a:r>
            <a:endParaRPr/>
          </a:p>
        </p:txBody>
      </p:sp>
      <p:sp>
        <p:nvSpPr>
          <p:cNvPr id="100" name="Google Shape;100;p1"/>
          <p:cNvSpPr txBox="1"/>
          <p:nvPr/>
        </p:nvSpPr>
        <p:spPr>
          <a:xfrm>
            <a:off x="2217839" y="404916"/>
            <a:ext cx="2167395" cy="1250698"/>
          </a:xfrm>
          <a:prstGeom prst="rect">
            <a:avLst/>
          </a:prstGeom>
          <a:noFill/>
          <a:ln>
            <a:noFill/>
          </a:ln>
        </p:spPr>
        <p:txBody>
          <a:bodyPr anchorCtr="0" anchor="t" bIns="0" lIns="0" spcFirstLastPara="1" rIns="0" wrap="square" tIns="0">
            <a:spAutoFit/>
          </a:bodyPr>
          <a:lstStyle/>
          <a:p>
            <a:pPr indent="0" lvl="0" marL="0" marR="0" rtl="0" algn="l">
              <a:lnSpc>
                <a:spcPct val="116005"/>
              </a:lnSpc>
              <a:spcBef>
                <a:spcPts val="0"/>
              </a:spcBef>
              <a:spcAft>
                <a:spcPts val="0"/>
              </a:spcAft>
              <a:buNone/>
            </a:pPr>
            <a:r>
              <a:rPr lang="en-US" sz="2824">
                <a:solidFill>
                  <a:srgbClr val="08377C"/>
                </a:solidFill>
                <a:latin typeface="Montserrat"/>
                <a:ea typeface="Montserrat"/>
                <a:cs typeface="Montserrat"/>
                <a:sym typeface="Montserrat"/>
              </a:rPr>
              <a:t>Politeknik</a:t>
            </a:r>
            <a:endParaRPr/>
          </a:p>
          <a:p>
            <a:pPr indent="0" lvl="0" marL="0" marR="0" rtl="0" algn="l">
              <a:lnSpc>
                <a:spcPct val="116005"/>
              </a:lnSpc>
              <a:spcBef>
                <a:spcPts val="0"/>
              </a:spcBef>
              <a:spcAft>
                <a:spcPts val="0"/>
              </a:spcAft>
              <a:buNone/>
            </a:pPr>
            <a:r>
              <a:rPr lang="en-US" sz="2824">
                <a:solidFill>
                  <a:srgbClr val="08377C"/>
                </a:solidFill>
                <a:latin typeface="Montserrat"/>
                <a:ea typeface="Montserrat"/>
                <a:cs typeface="Montserrat"/>
                <a:sym typeface="Montserrat"/>
              </a:rPr>
              <a:t>Negeri Batam</a:t>
            </a:r>
            <a:endParaRPr/>
          </a:p>
        </p:txBody>
      </p:sp>
      <p:sp>
        <p:nvSpPr>
          <p:cNvPr id="101" name="Google Shape;101;p1"/>
          <p:cNvSpPr txBox="1"/>
          <p:nvPr/>
        </p:nvSpPr>
        <p:spPr>
          <a:xfrm>
            <a:off x="4110593" y="7475884"/>
            <a:ext cx="9753969" cy="432554"/>
          </a:xfrm>
          <a:prstGeom prst="rect">
            <a:avLst/>
          </a:prstGeom>
          <a:noFill/>
          <a:ln>
            <a:noFill/>
          </a:ln>
        </p:spPr>
        <p:txBody>
          <a:bodyPr anchorCtr="0" anchor="t" bIns="0" lIns="0" spcFirstLastPara="1" rIns="0" wrap="square" tIns="0">
            <a:spAutoFit/>
          </a:bodyPr>
          <a:lstStyle/>
          <a:p>
            <a:pPr indent="0" lvl="0" marL="0" marR="0" rtl="0" algn="ctr">
              <a:lnSpc>
                <a:spcPct val="140022"/>
              </a:lnSpc>
              <a:spcBef>
                <a:spcPts val="0"/>
              </a:spcBef>
              <a:spcAft>
                <a:spcPts val="0"/>
              </a:spcAft>
              <a:buNone/>
            </a:pPr>
            <a:r>
              <a:rPr lang="en-US" sz="2696">
                <a:solidFill>
                  <a:srgbClr val="08377C"/>
                </a:solidFill>
                <a:latin typeface="Montserrat"/>
                <a:ea typeface="Montserrat"/>
                <a:cs typeface="Montserrat"/>
                <a:sym typeface="Montserrat"/>
              </a:rPr>
              <a:t>Machine Learning</a:t>
            </a:r>
            <a:endParaRPr/>
          </a:p>
        </p:txBody>
      </p:sp>
      <p:cxnSp>
        <p:nvCxnSpPr>
          <p:cNvPr id="102" name="Google Shape;102;p1"/>
          <p:cNvCxnSpPr/>
          <p:nvPr/>
        </p:nvCxnSpPr>
        <p:spPr>
          <a:xfrm>
            <a:off x="5897880" y="7082061"/>
            <a:ext cx="6492240" cy="0"/>
          </a:xfrm>
          <a:prstGeom prst="straightConnector1">
            <a:avLst/>
          </a:prstGeom>
          <a:noFill/>
          <a:ln cap="flat" cmpd="sng" w="38100">
            <a:solidFill>
              <a:srgbClr val="08377C"/>
            </a:solidFill>
            <a:prstDash val="solid"/>
            <a:round/>
            <a:headEnd len="sm" w="sm" type="none"/>
            <a:tailEnd len="sm" w="sm" type="none"/>
          </a:ln>
        </p:spPr>
      </p:cxnSp>
    </p:spTree>
  </p:cSld>
  <p:clrMapOvr>
    <a:masterClrMapping/>
  </p:clrMapOvr>
  <p:transition spd="slow">
    <p:push/>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grpSp>
        <p:nvGrpSpPr>
          <p:cNvPr id="108" name="Google Shape;108;p2"/>
          <p:cNvGrpSpPr/>
          <p:nvPr/>
        </p:nvGrpSpPr>
        <p:grpSpPr>
          <a:xfrm>
            <a:off x="13955786" y="-435680"/>
            <a:ext cx="4632524" cy="10996052"/>
            <a:chOff x="0" y="-47625"/>
            <a:chExt cx="1220089" cy="2896080"/>
          </a:xfrm>
        </p:grpSpPr>
        <p:sp>
          <p:nvSpPr>
            <p:cNvPr id="109" name="Google Shape;109;p2"/>
            <p:cNvSpPr/>
            <p:nvPr/>
          </p:nvSpPr>
          <p:spPr>
            <a:xfrm>
              <a:off x="0" y="0"/>
              <a:ext cx="1220089" cy="2848455"/>
            </a:xfrm>
            <a:custGeom>
              <a:rect b="b" l="l" r="r" t="t"/>
              <a:pathLst>
                <a:path extrusionOk="0" h="2848455" w="1220089">
                  <a:moveTo>
                    <a:pt x="0" y="0"/>
                  </a:moveTo>
                  <a:lnTo>
                    <a:pt x="1220089" y="0"/>
                  </a:lnTo>
                  <a:lnTo>
                    <a:pt x="1220089" y="2848455"/>
                  </a:lnTo>
                  <a:lnTo>
                    <a:pt x="0" y="2848455"/>
                  </a:lnTo>
                  <a:close/>
                </a:path>
              </a:pathLst>
            </a:custGeom>
            <a:solidFill>
              <a:srgbClr val="08377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0" name="Google Shape;110;p2"/>
            <p:cNvSpPr txBox="1"/>
            <p:nvPr/>
          </p:nvSpPr>
          <p:spPr>
            <a:xfrm>
              <a:off x="0" y="-47625"/>
              <a:ext cx="1220089" cy="289608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11" name="Google Shape;111;p2"/>
          <p:cNvSpPr/>
          <p:nvPr/>
        </p:nvSpPr>
        <p:spPr>
          <a:xfrm rot="-5400000">
            <a:off x="11952046" y="3265440"/>
            <a:ext cx="7715094" cy="3707614"/>
          </a:xfrm>
          <a:custGeom>
            <a:rect b="b" l="l" r="r" t="t"/>
            <a:pathLst>
              <a:path extrusionOk="0" h="3707614" w="7715094">
                <a:moveTo>
                  <a:pt x="0" y="0"/>
                </a:moveTo>
                <a:lnTo>
                  <a:pt x="7715094" y="0"/>
                </a:lnTo>
                <a:lnTo>
                  <a:pt x="7715094" y="3707614"/>
                </a:lnTo>
                <a:lnTo>
                  <a:pt x="0" y="3707614"/>
                </a:lnTo>
                <a:lnTo>
                  <a:pt x="0" y="0"/>
                </a:lnTo>
                <a:close/>
              </a:path>
            </a:pathLst>
          </a:custGeom>
          <a:blipFill rotWithShape="1">
            <a:blip r:embed="rId3">
              <a:alphaModFix/>
            </a:blip>
            <a:stretch>
              <a:fillRect b="0" l="0" r="0" t="-5934"/>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2" name="Google Shape;112;p2"/>
          <p:cNvSpPr txBox="1"/>
          <p:nvPr/>
        </p:nvSpPr>
        <p:spPr>
          <a:xfrm>
            <a:off x="1311647" y="4214179"/>
            <a:ext cx="4967583" cy="77514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5035" u="none" strike="noStrike">
                <a:solidFill>
                  <a:srgbClr val="2A2E3A"/>
                </a:solidFill>
                <a:latin typeface="Montserrat"/>
                <a:ea typeface="Montserrat"/>
                <a:cs typeface="Montserrat"/>
                <a:sym typeface="Montserrat"/>
              </a:rPr>
              <a:t>Classification</a:t>
            </a:r>
            <a:endParaRPr b="1" sz="5035" u="none" strike="noStrike">
              <a:solidFill>
                <a:srgbClr val="2A2E3A"/>
              </a:solidFill>
              <a:latin typeface="Montserrat"/>
              <a:ea typeface="Montserrat"/>
              <a:cs typeface="Montserrat"/>
              <a:sym typeface="Montserrat"/>
            </a:endParaRPr>
          </a:p>
        </p:txBody>
      </p:sp>
      <p:sp>
        <p:nvSpPr>
          <p:cNvPr id="113" name="Google Shape;113;p2"/>
          <p:cNvSpPr txBox="1"/>
          <p:nvPr/>
        </p:nvSpPr>
        <p:spPr>
          <a:xfrm>
            <a:off x="1259652" y="5143500"/>
            <a:ext cx="10779948" cy="957634"/>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None/>
            </a:pPr>
            <a:r>
              <a:rPr b="1" lang="en-US" sz="6792">
                <a:solidFill>
                  <a:srgbClr val="08377C"/>
                </a:solidFill>
                <a:latin typeface="Montserrat"/>
                <a:ea typeface="Montserrat"/>
                <a:cs typeface="Montserrat"/>
                <a:sym typeface="Montserrat"/>
              </a:rPr>
              <a:t>in Machine Learning</a:t>
            </a:r>
            <a:endParaRPr b="1" sz="6792" u="none" strike="noStrike">
              <a:solidFill>
                <a:srgbClr val="08377C"/>
              </a:solidFill>
              <a:latin typeface="Montserrat"/>
              <a:ea typeface="Montserrat"/>
              <a:cs typeface="Montserrat"/>
              <a:sym typeface="Montserrat"/>
            </a:endParaRPr>
          </a:p>
        </p:txBody>
      </p:sp>
      <p:sp>
        <p:nvSpPr>
          <p:cNvPr id="114" name="Google Shape;114;p2"/>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4">
              <a:alphaModFix/>
            </a:blip>
            <a:stretch>
              <a:fillRect b="0" l="-3961" r="-3961"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5" name="Google Shape;115;p2"/>
          <p:cNvSpPr txBox="1"/>
          <p:nvPr/>
        </p:nvSpPr>
        <p:spPr>
          <a:xfrm>
            <a:off x="14721159" y="4804810"/>
            <a:ext cx="2237609" cy="730456"/>
          </a:xfrm>
          <a:prstGeom prst="rect">
            <a:avLst/>
          </a:prstGeom>
          <a:noFill/>
          <a:ln>
            <a:noFill/>
          </a:ln>
        </p:spPr>
        <p:txBody>
          <a:bodyPr anchorCtr="0" anchor="t" bIns="0" lIns="0" spcFirstLastPara="1" rIns="0" wrap="square" tIns="0">
            <a:spAutoFit/>
          </a:bodyPr>
          <a:lstStyle/>
          <a:p>
            <a:pPr indent="0" lvl="0" marL="0" marR="0" rtl="0" algn="l">
              <a:lnSpc>
                <a:spcPct val="42789"/>
              </a:lnSpc>
              <a:spcBef>
                <a:spcPts val="0"/>
              </a:spcBef>
              <a:spcAft>
                <a:spcPts val="0"/>
              </a:spcAft>
              <a:buNone/>
            </a:pPr>
            <a:r>
              <a:rPr lang="en-US" sz="10000">
                <a:solidFill>
                  <a:schemeClr val="lt1"/>
                </a:solidFill>
                <a:latin typeface="Montserrat"/>
                <a:ea typeface="Montserrat"/>
                <a:cs typeface="Montserrat"/>
                <a:sym typeface="Montserrat"/>
              </a:rPr>
              <a:t>01</a:t>
            </a:r>
            <a:endParaRPr/>
          </a:p>
        </p:txBody>
      </p:sp>
    </p:spTree>
  </p:cSld>
  <p:clrMapOvr>
    <a:masterClrMapping/>
  </p:clrMapOvr>
  <p:transition spd="slow">
    <p:push/>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grpSp>
        <p:nvGrpSpPr>
          <p:cNvPr id="121" name="Google Shape;121;p3"/>
          <p:cNvGrpSpPr/>
          <p:nvPr/>
        </p:nvGrpSpPr>
        <p:grpSpPr>
          <a:xfrm>
            <a:off x="17016492" y="-180826"/>
            <a:ext cx="1271508" cy="10467826"/>
            <a:chOff x="0" y="-47625"/>
            <a:chExt cx="334883" cy="2756958"/>
          </a:xfrm>
        </p:grpSpPr>
        <p:sp>
          <p:nvSpPr>
            <p:cNvPr id="122" name="Google Shape;122;p3"/>
            <p:cNvSpPr/>
            <p:nvPr/>
          </p:nvSpPr>
          <p:spPr>
            <a:xfrm>
              <a:off x="0" y="0"/>
              <a:ext cx="334883" cy="2709333"/>
            </a:xfrm>
            <a:custGeom>
              <a:rect b="b" l="l" r="r" t="t"/>
              <a:pathLst>
                <a:path extrusionOk="0" h="2709333" w="334883">
                  <a:moveTo>
                    <a:pt x="0" y="0"/>
                  </a:moveTo>
                  <a:lnTo>
                    <a:pt x="334883" y="0"/>
                  </a:lnTo>
                  <a:lnTo>
                    <a:pt x="334883" y="2709333"/>
                  </a:lnTo>
                  <a:lnTo>
                    <a:pt x="0" y="2709333"/>
                  </a:lnTo>
                  <a:close/>
                </a:path>
              </a:pathLst>
            </a:custGeom>
            <a:solidFill>
              <a:srgbClr val="08377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3" name="Google Shape;123;p3"/>
            <p:cNvSpPr txBox="1"/>
            <p:nvPr/>
          </p:nvSpPr>
          <p:spPr>
            <a:xfrm>
              <a:off x="0" y="-47625"/>
              <a:ext cx="334883"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24" name="Google Shape;124;p3"/>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3">
              <a:alphaModFix/>
            </a:blip>
            <a:stretch>
              <a:fillRect b="0" l="-3961" r="-3961"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5" name="Google Shape;125;p3"/>
          <p:cNvSpPr txBox="1"/>
          <p:nvPr/>
        </p:nvSpPr>
        <p:spPr>
          <a:xfrm>
            <a:off x="17315322" y="9410922"/>
            <a:ext cx="670613" cy="689890"/>
          </a:xfrm>
          <a:prstGeom prst="rect">
            <a:avLst/>
          </a:prstGeom>
          <a:noFill/>
          <a:ln>
            <a:noFill/>
          </a:ln>
        </p:spPr>
        <p:txBody>
          <a:bodyPr anchorCtr="0" anchor="ctr" bIns="50800" lIns="50800" spcFirstLastPara="1" rIns="50800" wrap="square" tIns="50800">
            <a:noAutofit/>
          </a:bodyPr>
          <a:lstStyle/>
          <a:p>
            <a:pPr indent="0" lvl="0" marL="0" marR="0" rtl="0" algn="ctr">
              <a:lnSpc>
                <a:spcPct val="140021"/>
              </a:lnSpc>
              <a:spcBef>
                <a:spcPts val="0"/>
              </a:spcBef>
              <a:spcAft>
                <a:spcPts val="0"/>
              </a:spcAft>
              <a:buNone/>
            </a:pPr>
            <a:r>
              <a:t/>
            </a:r>
            <a:endParaRPr b="1" sz="1899">
              <a:solidFill>
                <a:srgbClr val="FDFDFD"/>
              </a:solidFill>
              <a:latin typeface="Open Sans ExtraBold"/>
              <a:ea typeface="Open Sans ExtraBold"/>
              <a:cs typeface="Open Sans ExtraBold"/>
              <a:sym typeface="Open Sans ExtraBold"/>
            </a:endParaRPr>
          </a:p>
        </p:txBody>
      </p:sp>
      <p:sp>
        <p:nvSpPr>
          <p:cNvPr id="126" name="Google Shape;126;p3"/>
          <p:cNvSpPr/>
          <p:nvPr/>
        </p:nvSpPr>
        <p:spPr>
          <a:xfrm>
            <a:off x="5295601" y="6143370"/>
            <a:ext cx="7643911" cy="3948650"/>
          </a:xfrm>
          <a:custGeom>
            <a:rect b="b" l="l" r="r" t="t"/>
            <a:pathLst>
              <a:path extrusionOk="0" h="3948650" w="7643911">
                <a:moveTo>
                  <a:pt x="0" y="0"/>
                </a:moveTo>
                <a:lnTo>
                  <a:pt x="7643912" y="0"/>
                </a:lnTo>
                <a:lnTo>
                  <a:pt x="7643912" y="3948650"/>
                </a:lnTo>
                <a:lnTo>
                  <a:pt x="0" y="394865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7" name="Google Shape;127;p3"/>
          <p:cNvSpPr txBox="1"/>
          <p:nvPr/>
        </p:nvSpPr>
        <p:spPr>
          <a:xfrm>
            <a:off x="4152286" y="1328699"/>
            <a:ext cx="9983428" cy="1752600"/>
          </a:xfrm>
          <a:prstGeom prst="rect">
            <a:avLst/>
          </a:prstGeom>
          <a:noFill/>
          <a:ln>
            <a:noFill/>
          </a:ln>
        </p:spPr>
        <p:txBody>
          <a:bodyPr anchorCtr="0" anchor="t" bIns="0" lIns="0" spcFirstLastPara="1" rIns="0" wrap="square" tIns="0">
            <a:spAutoFit/>
          </a:bodyPr>
          <a:lstStyle/>
          <a:p>
            <a:pPr indent="0" lvl="0" marL="0" marR="0" rtl="0" algn="ctr">
              <a:lnSpc>
                <a:spcPct val="120010"/>
              </a:lnSpc>
              <a:spcBef>
                <a:spcPts val="0"/>
              </a:spcBef>
              <a:spcAft>
                <a:spcPts val="0"/>
              </a:spcAft>
              <a:buNone/>
            </a:pPr>
            <a:r>
              <a:rPr b="1" lang="en-US" sz="5792">
                <a:solidFill>
                  <a:srgbClr val="08377C"/>
                </a:solidFill>
                <a:latin typeface="Montserrat"/>
                <a:ea typeface="Montserrat"/>
                <a:cs typeface="Montserrat"/>
                <a:sym typeface="Montserrat"/>
              </a:rPr>
              <a:t>What is Supervised Learning?</a:t>
            </a:r>
            <a:endParaRPr/>
          </a:p>
        </p:txBody>
      </p:sp>
      <p:sp>
        <p:nvSpPr>
          <p:cNvPr id="128" name="Google Shape;128;p3"/>
          <p:cNvSpPr txBox="1"/>
          <p:nvPr/>
        </p:nvSpPr>
        <p:spPr>
          <a:xfrm>
            <a:off x="751417" y="3536335"/>
            <a:ext cx="15591442" cy="2151999"/>
          </a:xfrm>
          <a:prstGeom prst="rect">
            <a:avLst/>
          </a:prstGeom>
          <a:noFill/>
          <a:ln>
            <a:noFill/>
          </a:ln>
        </p:spPr>
        <p:txBody>
          <a:bodyPr anchorCtr="0" anchor="t" bIns="0" lIns="0" spcFirstLastPara="1" rIns="0" wrap="square" tIns="0">
            <a:spAutoFit/>
          </a:bodyPr>
          <a:lstStyle/>
          <a:p>
            <a:pPr indent="0" lvl="0" marL="0" marR="0" rtl="0" algn="ctr">
              <a:lnSpc>
                <a:spcPct val="161031"/>
              </a:lnSpc>
              <a:spcBef>
                <a:spcPts val="0"/>
              </a:spcBef>
              <a:spcAft>
                <a:spcPts val="0"/>
              </a:spcAft>
              <a:buNone/>
            </a:pPr>
            <a:r>
              <a:rPr lang="en-US" sz="2656">
                <a:solidFill>
                  <a:srgbClr val="2A2E3A"/>
                </a:solidFill>
                <a:latin typeface="Montserrat"/>
                <a:ea typeface="Montserrat"/>
                <a:cs typeface="Montserrat"/>
                <a:sym typeface="Montserrat"/>
              </a:rPr>
              <a:t>Dalam Supervised Learning, mesin dilatih menggunakan data berlabel, yang juga dikenal sebagai data pelatihan, untuk memprediksi hasil. Tujuannya adalah untuk membangun model yang dapat belajar dari data berlabel ini untuk membuat prediksi atau klasifikasi pada data baru yang belum pernah dilihat sebelumnya.</a:t>
            </a:r>
            <a:endParaRPr/>
          </a:p>
        </p:txBody>
      </p:sp>
    </p:spTree>
  </p:cSld>
  <p:clrMapOvr>
    <a:masterClrMapping/>
  </p:clrMapOvr>
  <p:transition spd="slow">
    <p:push/>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grpSp>
        <p:nvGrpSpPr>
          <p:cNvPr id="134" name="Google Shape;134;p4"/>
          <p:cNvGrpSpPr/>
          <p:nvPr/>
        </p:nvGrpSpPr>
        <p:grpSpPr>
          <a:xfrm>
            <a:off x="17016492" y="-180826"/>
            <a:ext cx="1271508" cy="10467826"/>
            <a:chOff x="0" y="-47625"/>
            <a:chExt cx="334883" cy="2756958"/>
          </a:xfrm>
        </p:grpSpPr>
        <p:sp>
          <p:nvSpPr>
            <p:cNvPr id="135" name="Google Shape;135;p4"/>
            <p:cNvSpPr/>
            <p:nvPr/>
          </p:nvSpPr>
          <p:spPr>
            <a:xfrm>
              <a:off x="0" y="0"/>
              <a:ext cx="334883" cy="2709333"/>
            </a:xfrm>
            <a:custGeom>
              <a:rect b="b" l="l" r="r" t="t"/>
              <a:pathLst>
                <a:path extrusionOk="0" h="2709333" w="334883">
                  <a:moveTo>
                    <a:pt x="0" y="0"/>
                  </a:moveTo>
                  <a:lnTo>
                    <a:pt x="334883" y="0"/>
                  </a:lnTo>
                  <a:lnTo>
                    <a:pt x="334883" y="2709333"/>
                  </a:lnTo>
                  <a:lnTo>
                    <a:pt x="0" y="2709333"/>
                  </a:lnTo>
                  <a:close/>
                </a:path>
              </a:pathLst>
            </a:custGeom>
            <a:solidFill>
              <a:srgbClr val="08377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6" name="Google Shape;136;p4"/>
            <p:cNvSpPr txBox="1"/>
            <p:nvPr/>
          </p:nvSpPr>
          <p:spPr>
            <a:xfrm>
              <a:off x="0" y="-47625"/>
              <a:ext cx="334883"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37" name="Google Shape;137;p4"/>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3">
              <a:alphaModFix/>
            </a:blip>
            <a:stretch>
              <a:fillRect b="0" l="-3961" r="-3961"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8" name="Google Shape;138;p4"/>
          <p:cNvSpPr txBox="1"/>
          <p:nvPr/>
        </p:nvSpPr>
        <p:spPr>
          <a:xfrm>
            <a:off x="17315322" y="9410922"/>
            <a:ext cx="670613" cy="689890"/>
          </a:xfrm>
          <a:prstGeom prst="rect">
            <a:avLst/>
          </a:prstGeom>
          <a:noFill/>
          <a:ln>
            <a:noFill/>
          </a:ln>
        </p:spPr>
        <p:txBody>
          <a:bodyPr anchorCtr="0" anchor="ctr" bIns="50800" lIns="50800" spcFirstLastPara="1" rIns="50800" wrap="square" tIns="50800">
            <a:noAutofit/>
          </a:bodyPr>
          <a:lstStyle/>
          <a:p>
            <a:pPr indent="0" lvl="0" marL="0" marR="0" rtl="0" algn="ctr">
              <a:lnSpc>
                <a:spcPct val="140021"/>
              </a:lnSpc>
              <a:spcBef>
                <a:spcPts val="0"/>
              </a:spcBef>
              <a:spcAft>
                <a:spcPts val="0"/>
              </a:spcAft>
              <a:buNone/>
            </a:pPr>
            <a:r>
              <a:t/>
            </a:r>
            <a:endParaRPr b="1" sz="1899">
              <a:solidFill>
                <a:srgbClr val="FDFDFD"/>
              </a:solidFill>
              <a:latin typeface="Open Sans ExtraBold"/>
              <a:ea typeface="Open Sans ExtraBold"/>
              <a:cs typeface="Open Sans ExtraBold"/>
              <a:sym typeface="Open Sans ExtraBold"/>
            </a:endParaRPr>
          </a:p>
        </p:txBody>
      </p:sp>
      <p:sp>
        <p:nvSpPr>
          <p:cNvPr id="139" name="Google Shape;139;p4"/>
          <p:cNvSpPr txBox="1"/>
          <p:nvPr/>
        </p:nvSpPr>
        <p:spPr>
          <a:xfrm>
            <a:off x="4152286" y="1328699"/>
            <a:ext cx="9983428" cy="817340"/>
          </a:xfrm>
          <a:prstGeom prst="rect">
            <a:avLst/>
          </a:prstGeom>
          <a:noFill/>
          <a:ln>
            <a:noFill/>
          </a:ln>
        </p:spPr>
        <p:txBody>
          <a:bodyPr anchorCtr="0" anchor="t" bIns="0" lIns="0" spcFirstLastPara="1" rIns="0" wrap="square" tIns="0">
            <a:spAutoFit/>
          </a:bodyPr>
          <a:lstStyle/>
          <a:p>
            <a:pPr indent="0" lvl="0" marL="0" marR="0" rtl="0" algn="ctr">
              <a:lnSpc>
                <a:spcPct val="120010"/>
              </a:lnSpc>
              <a:spcBef>
                <a:spcPts val="0"/>
              </a:spcBef>
              <a:spcAft>
                <a:spcPts val="0"/>
              </a:spcAft>
              <a:buNone/>
            </a:pPr>
            <a:r>
              <a:rPr b="1" lang="en-US" sz="5792">
                <a:solidFill>
                  <a:srgbClr val="08377C"/>
                </a:solidFill>
                <a:latin typeface="Montserrat"/>
                <a:ea typeface="Montserrat"/>
                <a:cs typeface="Montserrat"/>
                <a:sym typeface="Montserrat"/>
              </a:rPr>
              <a:t>What is Classification?</a:t>
            </a:r>
            <a:endParaRPr b="1" sz="5792">
              <a:solidFill>
                <a:srgbClr val="08377C"/>
              </a:solidFill>
              <a:latin typeface="Montserrat"/>
              <a:ea typeface="Montserrat"/>
              <a:cs typeface="Montserrat"/>
              <a:sym typeface="Montserrat"/>
            </a:endParaRPr>
          </a:p>
        </p:txBody>
      </p:sp>
      <p:pic>
        <p:nvPicPr>
          <p:cNvPr descr="Image result for apel " id="140" name="Google Shape;140;p4"/>
          <p:cNvPicPr preferRelativeResize="0"/>
          <p:nvPr/>
        </p:nvPicPr>
        <p:blipFill rotWithShape="1">
          <a:blip r:embed="rId4">
            <a:alphaModFix/>
          </a:blip>
          <a:srcRect b="0" l="0" r="0" t="0"/>
          <a:stretch/>
        </p:blipFill>
        <p:spPr>
          <a:xfrm>
            <a:off x="1066800" y="5053087"/>
            <a:ext cx="2819398" cy="2819400"/>
          </a:xfrm>
          <a:prstGeom prst="rect">
            <a:avLst/>
          </a:prstGeom>
          <a:noFill/>
          <a:ln>
            <a:noFill/>
          </a:ln>
        </p:spPr>
      </p:pic>
      <p:pic>
        <p:nvPicPr>
          <p:cNvPr descr="Image result for JERUK" id="141" name="Google Shape;141;p4"/>
          <p:cNvPicPr preferRelativeResize="0"/>
          <p:nvPr/>
        </p:nvPicPr>
        <p:blipFill rotWithShape="1">
          <a:blip r:embed="rId5">
            <a:alphaModFix/>
          </a:blip>
          <a:srcRect b="0" l="0" r="0" t="0"/>
          <a:stretch/>
        </p:blipFill>
        <p:spPr>
          <a:xfrm>
            <a:off x="4876800" y="5186156"/>
            <a:ext cx="2693724" cy="2693724"/>
          </a:xfrm>
          <a:prstGeom prst="rect">
            <a:avLst/>
          </a:prstGeom>
          <a:noFill/>
          <a:ln>
            <a:noFill/>
          </a:ln>
        </p:spPr>
      </p:pic>
      <p:pic>
        <p:nvPicPr>
          <p:cNvPr descr="Image result for semangka" id="142" name="Google Shape;142;p4"/>
          <p:cNvPicPr preferRelativeResize="0"/>
          <p:nvPr/>
        </p:nvPicPr>
        <p:blipFill rotWithShape="1">
          <a:blip r:embed="rId6">
            <a:alphaModFix/>
          </a:blip>
          <a:srcRect b="0" l="0" r="0" t="0"/>
          <a:stretch/>
        </p:blipFill>
        <p:spPr>
          <a:xfrm>
            <a:off x="9082680" y="5090050"/>
            <a:ext cx="2737243" cy="2831631"/>
          </a:xfrm>
          <a:prstGeom prst="rect">
            <a:avLst/>
          </a:prstGeom>
          <a:noFill/>
          <a:ln>
            <a:noFill/>
          </a:ln>
        </p:spPr>
      </p:pic>
      <p:pic>
        <p:nvPicPr>
          <p:cNvPr descr="Image result for melon" id="143" name="Google Shape;143;p4"/>
          <p:cNvPicPr preferRelativeResize="0"/>
          <p:nvPr/>
        </p:nvPicPr>
        <p:blipFill rotWithShape="1">
          <a:blip r:embed="rId7">
            <a:alphaModFix/>
          </a:blip>
          <a:srcRect b="0" l="0" r="0" t="0"/>
          <a:stretch/>
        </p:blipFill>
        <p:spPr>
          <a:xfrm>
            <a:off x="12843286" y="5157155"/>
            <a:ext cx="3450274" cy="2536209"/>
          </a:xfrm>
          <a:prstGeom prst="rect">
            <a:avLst/>
          </a:prstGeom>
          <a:noFill/>
          <a:ln>
            <a:noFill/>
          </a:ln>
        </p:spPr>
      </p:pic>
      <p:sp>
        <p:nvSpPr>
          <p:cNvPr id="144" name="Google Shape;144;p4"/>
          <p:cNvSpPr/>
          <p:nvPr/>
        </p:nvSpPr>
        <p:spPr>
          <a:xfrm>
            <a:off x="14592123" y="615014"/>
            <a:ext cx="1967960" cy="1826684"/>
          </a:xfrm>
          <a:custGeom>
            <a:rect b="b" l="l" r="r" t="t"/>
            <a:pathLst>
              <a:path extrusionOk="0" h="3948650" w="7643911">
                <a:moveTo>
                  <a:pt x="0" y="0"/>
                </a:moveTo>
                <a:lnTo>
                  <a:pt x="7643912" y="0"/>
                </a:lnTo>
                <a:lnTo>
                  <a:pt x="7643912" y="3948650"/>
                </a:lnTo>
                <a:lnTo>
                  <a:pt x="0" y="3948650"/>
                </a:lnTo>
                <a:lnTo>
                  <a:pt x="0" y="0"/>
                </a:lnTo>
                <a:close/>
              </a:path>
            </a:pathLst>
          </a:custGeom>
          <a:blipFill rotWithShape="1">
            <a:blip r:embed="rId8">
              <a:alphaModFix/>
            </a:blip>
            <a:stretch>
              <a:fillRect b="-10539" l="0" r="-98621"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transition spd="slow">
    <p:push/>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pic>
        <p:nvPicPr>
          <p:cNvPr id="150" name="Google Shape;150;p5"/>
          <p:cNvPicPr preferRelativeResize="0"/>
          <p:nvPr/>
        </p:nvPicPr>
        <p:blipFill rotWithShape="1">
          <a:blip r:embed="rId3">
            <a:alphaModFix/>
          </a:blip>
          <a:srcRect b="0" l="0" r="0" t="0"/>
          <a:stretch/>
        </p:blipFill>
        <p:spPr>
          <a:xfrm>
            <a:off x="9466286" y="3086100"/>
            <a:ext cx="7385750" cy="5878835"/>
          </a:xfrm>
          <a:prstGeom prst="rect">
            <a:avLst/>
          </a:prstGeom>
          <a:noFill/>
          <a:ln>
            <a:noFill/>
          </a:ln>
        </p:spPr>
      </p:pic>
      <p:grpSp>
        <p:nvGrpSpPr>
          <p:cNvPr id="151" name="Google Shape;151;p5"/>
          <p:cNvGrpSpPr/>
          <p:nvPr/>
        </p:nvGrpSpPr>
        <p:grpSpPr>
          <a:xfrm>
            <a:off x="15238003" y="8290589"/>
            <a:ext cx="7523780" cy="7523780"/>
            <a:chOff x="0" y="0"/>
            <a:chExt cx="812800" cy="812800"/>
          </a:xfrm>
        </p:grpSpPr>
        <p:sp>
          <p:nvSpPr>
            <p:cNvPr id="152" name="Google Shape;152;p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29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3" name="Google Shape;153;p5"/>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54" name="Google Shape;154;p5"/>
          <p:cNvGrpSpPr/>
          <p:nvPr/>
        </p:nvGrpSpPr>
        <p:grpSpPr>
          <a:xfrm>
            <a:off x="-3724222" y="-4507687"/>
            <a:ext cx="5924489" cy="5924489"/>
            <a:chOff x="0" y="0"/>
            <a:chExt cx="812800" cy="812800"/>
          </a:xfrm>
        </p:grpSpPr>
        <p:sp>
          <p:nvSpPr>
            <p:cNvPr id="155" name="Google Shape;155;p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29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6" name="Google Shape;156;p5"/>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57" name="Google Shape;157;p5"/>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4">
              <a:alphaModFix/>
            </a:blip>
            <a:stretch>
              <a:fillRect b="0" l="-3961" r="-3961"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8" name="Google Shape;158;p5"/>
          <p:cNvSpPr txBox="1"/>
          <p:nvPr/>
        </p:nvSpPr>
        <p:spPr>
          <a:xfrm>
            <a:off x="1111216" y="1232844"/>
            <a:ext cx="8392584" cy="619208"/>
          </a:xfrm>
          <a:prstGeom prst="rect">
            <a:avLst/>
          </a:prstGeom>
          <a:noFill/>
          <a:ln>
            <a:noFill/>
          </a:ln>
        </p:spPr>
        <p:txBody>
          <a:bodyPr anchorCtr="0" anchor="t" bIns="0" lIns="0" spcFirstLastPara="1" rIns="0" wrap="square" tIns="0">
            <a:spAutoFit/>
          </a:bodyPr>
          <a:lstStyle/>
          <a:p>
            <a:pPr indent="-474980" lvl="1" marL="949961" marR="0" rtl="0" algn="l">
              <a:lnSpc>
                <a:spcPct val="120000"/>
              </a:lnSpc>
              <a:spcBef>
                <a:spcPts val="0"/>
              </a:spcBef>
              <a:spcAft>
                <a:spcPts val="0"/>
              </a:spcAft>
              <a:buClr>
                <a:srgbClr val="08377C"/>
              </a:buClr>
              <a:buSzPts val="4400"/>
              <a:buFont typeface="Montserrat"/>
              <a:buAutoNum type="arabicPeriod"/>
            </a:pPr>
            <a:r>
              <a:rPr b="1" i="0" lang="en-US" sz="4400" u="none" cap="none" strike="noStrike">
                <a:solidFill>
                  <a:srgbClr val="08377C"/>
                </a:solidFill>
                <a:latin typeface="Montserrat"/>
                <a:ea typeface="Montserrat"/>
                <a:cs typeface="Montserrat"/>
                <a:sym typeface="Montserrat"/>
              </a:rPr>
              <a:t>Classification</a:t>
            </a:r>
            <a:endParaRPr/>
          </a:p>
        </p:txBody>
      </p:sp>
      <p:sp>
        <p:nvSpPr>
          <p:cNvPr id="159" name="Google Shape;159;p5"/>
          <p:cNvSpPr txBox="1"/>
          <p:nvPr/>
        </p:nvSpPr>
        <p:spPr>
          <a:xfrm>
            <a:off x="1981200" y="1965619"/>
            <a:ext cx="16666600" cy="712913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US" sz="2800">
                <a:solidFill>
                  <a:schemeClr val="dk1"/>
                </a:solidFill>
                <a:latin typeface="Montserrat"/>
                <a:ea typeface="Montserrat"/>
                <a:cs typeface="Montserrat"/>
                <a:sym typeface="Montserrat"/>
              </a:rPr>
              <a:t>Definition: </a:t>
            </a:r>
            <a:r>
              <a:rPr lang="en-US" sz="2800">
                <a:solidFill>
                  <a:schemeClr val="dk1"/>
                </a:solidFill>
                <a:latin typeface="Montserrat"/>
                <a:ea typeface="Montserrat"/>
                <a:cs typeface="Montserrat"/>
                <a:sym typeface="Montserrat"/>
              </a:rPr>
              <a:t>Model memprediksi kategori atau label diskrit dari input yang diberikan</a:t>
            </a:r>
            <a:endParaRPr/>
          </a:p>
          <a:p>
            <a:pPr indent="0" lvl="0" marL="0" marR="0" rtl="0" algn="l">
              <a:lnSpc>
                <a:spcPct val="150000"/>
              </a:lnSpc>
              <a:spcBef>
                <a:spcPts val="0"/>
              </a:spcBef>
              <a:spcAft>
                <a:spcPts val="0"/>
              </a:spcAft>
              <a:buNone/>
            </a:pPr>
            <a:r>
              <a:rPr b="1" lang="en-US" sz="2800">
                <a:solidFill>
                  <a:schemeClr val="dk1"/>
                </a:solidFill>
                <a:latin typeface="Montserrat"/>
                <a:ea typeface="Montserrat"/>
                <a:cs typeface="Montserrat"/>
                <a:sym typeface="Montserrat"/>
              </a:rPr>
              <a:t>Output : </a:t>
            </a:r>
            <a:r>
              <a:rPr lang="en-US" sz="2800">
                <a:solidFill>
                  <a:schemeClr val="dk1"/>
                </a:solidFill>
                <a:latin typeface="Montserrat"/>
                <a:ea typeface="Montserrat"/>
                <a:cs typeface="Montserrat"/>
                <a:sym typeface="Montserrat"/>
              </a:rPr>
              <a:t>Categorical atau discrete</a:t>
            </a:r>
            <a:endParaRPr/>
          </a:p>
          <a:p>
            <a:pPr indent="0" lvl="0" marL="0" marR="0" rtl="0" algn="l">
              <a:lnSpc>
                <a:spcPct val="150000"/>
              </a:lnSpc>
              <a:spcBef>
                <a:spcPts val="0"/>
              </a:spcBef>
              <a:spcAft>
                <a:spcPts val="0"/>
              </a:spcAft>
              <a:buNone/>
            </a:pPr>
            <a:r>
              <a:rPr b="1" lang="en-US" sz="2800">
                <a:solidFill>
                  <a:schemeClr val="dk1"/>
                </a:solidFill>
                <a:latin typeface="Montserrat"/>
                <a:ea typeface="Montserrat"/>
                <a:cs typeface="Montserrat"/>
                <a:sym typeface="Montserrat"/>
              </a:rPr>
              <a:t>Model :</a:t>
            </a:r>
            <a:endParaRPr/>
          </a:p>
          <a:p>
            <a:pPr indent="-457200" lvl="0" marL="457200" marR="0" rtl="0" algn="l">
              <a:lnSpc>
                <a:spcPct val="150000"/>
              </a:lnSpc>
              <a:spcBef>
                <a:spcPts val="0"/>
              </a:spcBef>
              <a:spcAft>
                <a:spcPts val="0"/>
              </a:spcAft>
              <a:buClr>
                <a:schemeClr val="dk1"/>
              </a:buClr>
              <a:buSzPts val="2800"/>
              <a:buFont typeface="Arial"/>
              <a:buChar char="•"/>
            </a:pPr>
            <a:r>
              <a:rPr lang="en-US" sz="2800">
                <a:solidFill>
                  <a:schemeClr val="dk1"/>
                </a:solidFill>
                <a:latin typeface="Montserrat"/>
                <a:ea typeface="Montserrat"/>
                <a:cs typeface="Montserrat"/>
                <a:sym typeface="Montserrat"/>
              </a:rPr>
              <a:t>Decision Tree,</a:t>
            </a:r>
            <a:endParaRPr/>
          </a:p>
          <a:p>
            <a:pPr indent="-457200" lvl="0" marL="457200" marR="0" rtl="0" algn="l">
              <a:lnSpc>
                <a:spcPct val="150000"/>
              </a:lnSpc>
              <a:spcBef>
                <a:spcPts val="0"/>
              </a:spcBef>
              <a:spcAft>
                <a:spcPts val="0"/>
              </a:spcAft>
              <a:buClr>
                <a:schemeClr val="dk1"/>
              </a:buClr>
              <a:buSzPts val="2800"/>
              <a:buFont typeface="Arial"/>
              <a:buChar char="•"/>
            </a:pPr>
            <a:r>
              <a:rPr lang="en-US" sz="2800">
                <a:solidFill>
                  <a:schemeClr val="dk1"/>
                </a:solidFill>
                <a:latin typeface="Montserrat"/>
                <a:ea typeface="Montserrat"/>
                <a:cs typeface="Montserrat"/>
                <a:sym typeface="Montserrat"/>
              </a:rPr>
              <a:t>Naïve Bayes,</a:t>
            </a:r>
            <a:endParaRPr/>
          </a:p>
          <a:p>
            <a:pPr indent="-457200" lvl="0" marL="457200" marR="0" rtl="0" algn="l">
              <a:lnSpc>
                <a:spcPct val="150000"/>
              </a:lnSpc>
              <a:spcBef>
                <a:spcPts val="0"/>
              </a:spcBef>
              <a:spcAft>
                <a:spcPts val="0"/>
              </a:spcAft>
              <a:buClr>
                <a:schemeClr val="dk1"/>
              </a:buClr>
              <a:buSzPts val="2800"/>
              <a:buFont typeface="Arial"/>
              <a:buChar char="•"/>
            </a:pPr>
            <a:r>
              <a:rPr lang="en-US" sz="2800">
                <a:solidFill>
                  <a:schemeClr val="dk1"/>
                </a:solidFill>
                <a:latin typeface="Montserrat"/>
                <a:ea typeface="Montserrat"/>
                <a:cs typeface="Montserrat"/>
                <a:sym typeface="Montserrat"/>
              </a:rPr>
              <a:t>Random Forest,</a:t>
            </a:r>
            <a:endParaRPr/>
          </a:p>
          <a:p>
            <a:pPr indent="-457200" lvl="0" marL="457200" marR="0" rtl="0" algn="l">
              <a:lnSpc>
                <a:spcPct val="150000"/>
              </a:lnSpc>
              <a:spcBef>
                <a:spcPts val="0"/>
              </a:spcBef>
              <a:spcAft>
                <a:spcPts val="0"/>
              </a:spcAft>
              <a:buClr>
                <a:schemeClr val="dk1"/>
              </a:buClr>
              <a:buSzPts val="2800"/>
              <a:buFont typeface="Arial"/>
              <a:buChar char="•"/>
            </a:pPr>
            <a:r>
              <a:rPr lang="en-US" sz="2800">
                <a:solidFill>
                  <a:schemeClr val="dk1"/>
                </a:solidFill>
                <a:latin typeface="Montserrat"/>
                <a:ea typeface="Montserrat"/>
                <a:cs typeface="Montserrat"/>
                <a:sym typeface="Montserrat"/>
              </a:rPr>
              <a:t>Support Vector Machine (SVM)</a:t>
            </a:r>
            <a:endParaRPr/>
          </a:p>
          <a:p>
            <a:pPr indent="0" lvl="0" marL="0" marR="0" rtl="0" algn="l">
              <a:lnSpc>
                <a:spcPct val="150000"/>
              </a:lnSpc>
              <a:spcBef>
                <a:spcPts val="0"/>
              </a:spcBef>
              <a:spcAft>
                <a:spcPts val="0"/>
              </a:spcAft>
              <a:buNone/>
            </a:pPr>
            <a:r>
              <a:rPr b="1" lang="en-US" sz="2800">
                <a:solidFill>
                  <a:schemeClr val="dk1"/>
                </a:solidFill>
                <a:latin typeface="Montserrat"/>
                <a:ea typeface="Montserrat"/>
                <a:cs typeface="Montserrat"/>
                <a:sym typeface="Montserrat"/>
              </a:rPr>
              <a:t>Model evaluation: </a:t>
            </a:r>
            <a:endParaRPr/>
          </a:p>
          <a:p>
            <a:pPr indent="-457200" lvl="0" marL="457200" marR="0" rtl="0" algn="l">
              <a:lnSpc>
                <a:spcPct val="150000"/>
              </a:lnSpc>
              <a:spcBef>
                <a:spcPts val="0"/>
              </a:spcBef>
              <a:spcAft>
                <a:spcPts val="0"/>
              </a:spcAft>
              <a:buClr>
                <a:schemeClr val="dk1"/>
              </a:buClr>
              <a:buSzPts val="2800"/>
              <a:buFont typeface="Arial"/>
              <a:buChar char="•"/>
            </a:pPr>
            <a:r>
              <a:rPr lang="en-US" sz="2800">
                <a:solidFill>
                  <a:schemeClr val="dk1"/>
                </a:solidFill>
                <a:latin typeface="Montserrat"/>
                <a:ea typeface="Montserrat"/>
                <a:cs typeface="Montserrat"/>
                <a:sym typeface="Montserrat"/>
              </a:rPr>
              <a:t>Accuracy,</a:t>
            </a:r>
            <a:endParaRPr/>
          </a:p>
          <a:p>
            <a:pPr indent="-457200" lvl="0" marL="457200" marR="0" rtl="0" algn="l">
              <a:lnSpc>
                <a:spcPct val="150000"/>
              </a:lnSpc>
              <a:spcBef>
                <a:spcPts val="0"/>
              </a:spcBef>
              <a:spcAft>
                <a:spcPts val="0"/>
              </a:spcAft>
              <a:buClr>
                <a:schemeClr val="dk1"/>
              </a:buClr>
              <a:buSzPts val="2800"/>
              <a:buFont typeface="Arial"/>
              <a:buChar char="•"/>
            </a:pPr>
            <a:r>
              <a:rPr lang="en-US" sz="2800">
                <a:solidFill>
                  <a:schemeClr val="dk1"/>
                </a:solidFill>
                <a:latin typeface="Montserrat"/>
                <a:ea typeface="Montserrat"/>
                <a:cs typeface="Montserrat"/>
                <a:sym typeface="Montserrat"/>
              </a:rPr>
              <a:t>Precision,</a:t>
            </a:r>
            <a:endParaRPr/>
          </a:p>
          <a:p>
            <a:pPr indent="-457200" lvl="0" marL="457200" marR="0" rtl="0" algn="l">
              <a:lnSpc>
                <a:spcPct val="150000"/>
              </a:lnSpc>
              <a:spcBef>
                <a:spcPts val="0"/>
              </a:spcBef>
              <a:spcAft>
                <a:spcPts val="0"/>
              </a:spcAft>
              <a:buClr>
                <a:schemeClr val="dk1"/>
              </a:buClr>
              <a:buSzPts val="2800"/>
              <a:buFont typeface="Arial"/>
              <a:buChar char="•"/>
            </a:pPr>
            <a:r>
              <a:rPr lang="en-US" sz="2800">
                <a:solidFill>
                  <a:schemeClr val="dk1"/>
                </a:solidFill>
                <a:latin typeface="Montserrat"/>
                <a:ea typeface="Montserrat"/>
                <a:cs typeface="Montserrat"/>
                <a:sym typeface="Montserrat"/>
              </a:rPr>
              <a:t>Recall, F1- Score</a:t>
            </a:r>
            <a:endParaRPr/>
          </a:p>
        </p:txBody>
      </p:sp>
    </p:spTree>
  </p:cSld>
  <p:clrMapOvr>
    <a:masterClrMapping/>
  </p:clrMapOvr>
  <p:transition spd="slow">
    <p:push/>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grpSp>
        <p:nvGrpSpPr>
          <p:cNvPr id="165" name="Google Shape;165;p6"/>
          <p:cNvGrpSpPr/>
          <p:nvPr/>
        </p:nvGrpSpPr>
        <p:grpSpPr>
          <a:xfrm>
            <a:off x="15238003" y="8290589"/>
            <a:ext cx="7523780" cy="7523780"/>
            <a:chOff x="0" y="0"/>
            <a:chExt cx="812800" cy="812800"/>
          </a:xfrm>
        </p:grpSpPr>
        <p:sp>
          <p:nvSpPr>
            <p:cNvPr id="166" name="Google Shape;166;p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29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7" name="Google Shape;167;p6"/>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68" name="Google Shape;168;p6"/>
          <p:cNvGrpSpPr/>
          <p:nvPr/>
        </p:nvGrpSpPr>
        <p:grpSpPr>
          <a:xfrm>
            <a:off x="-3724222" y="-4507687"/>
            <a:ext cx="5924489" cy="5924489"/>
            <a:chOff x="0" y="0"/>
            <a:chExt cx="812800" cy="812800"/>
          </a:xfrm>
        </p:grpSpPr>
        <p:sp>
          <p:nvSpPr>
            <p:cNvPr id="169" name="Google Shape;169;p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29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0" name="Google Shape;170;p6"/>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71" name="Google Shape;171;p6"/>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3">
              <a:alphaModFix/>
            </a:blip>
            <a:stretch>
              <a:fillRect b="0" l="-3961" r="-3961"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2" name="Google Shape;172;p6"/>
          <p:cNvSpPr txBox="1"/>
          <p:nvPr/>
        </p:nvSpPr>
        <p:spPr>
          <a:xfrm>
            <a:off x="751416" y="1521577"/>
            <a:ext cx="8392584" cy="619208"/>
          </a:xfrm>
          <a:prstGeom prst="rect">
            <a:avLst/>
          </a:prstGeom>
          <a:noFill/>
          <a:ln>
            <a:noFill/>
          </a:ln>
        </p:spPr>
        <p:txBody>
          <a:bodyPr anchorCtr="0" anchor="t" bIns="0" lIns="0" spcFirstLastPara="1" rIns="0" wrap="square" tIns="0">
            <a:spAutoFit/>
          </a:bodyPr>
          <a:lstStyle/>
          <a:p>
            <a:pPr indent="-474980" lvl="1" marL="949961" marR="0" rtl="0" algn="l">
              <a:lnSpc>
                <a:spcPct val="120000"/>
              </a:lnSpc>
              <a:spcBef>
                <a:spcPts val="0"/>
              </a:spcBef>
              <a:spcAft>
                <a:spcPts val="0"/>
              </a:spcAft>
              <a:buClr>
                <a:srgbClr val="08377C"/>
              </a:buClr>
              <a:buSzPts val="4400"/>
              <a:buFont typeface="Montserrat"/>
              <a:buAutoNum type="arabicPeriod"/>
            </a:pPr>
            <a:r>
              <a:rPr b="1" i="0" lang="en-US" sz="4400" u="none" cap="none" strike="noStrike">
                <a:solidFill>
                  <a:srgbClr val="08377C"/>
                </a:solidFill>
                <a:latin typeface="Montserrat"/>
                <a:ea typeface="Montserrat"/>
                <a:cs typeface="Montserrat"/>
                <a:sym typeface="Montserrat"/>
              </a:rPr>
              <a:t>Classification</a:t>
            </a:r>
            <a:endParaRPr/>
          </a:p>
        </p:txBody>
      </p:sp>
      <p:sp>
        <p:nvSpPr>
          <p:cNvPr id="173" name="Google Shape;173;p6"/>
          <p:cNvSpPr txBox="1"/>
          <p:nvPr/>
        </p:nvSpPr>
        <p:spPr>
          <a:xfrm>
            <a:off x="1644846" y="2493462"/>
            <a:ext cx="1470660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dk1"/>
                </a:solidFill>
                <a:latin typeface="Montserrat"/>
                <a:ea typeface="Montserrat"/>
                <a:cs typeface="Montserrat"/>
                <a:sym typeface="Montserrat"/>
              </a:rPr>
              <a:t>Definition: The model learns from labeled data to predict new outputs.</a:t>
            </a:r>
            <a:endParaRPr/>
          </a:p>
        </p:txBody>
      </p:sp>
      <p:pic>
        <p:nvPicPr>
          <p:cNvPr id="174" name="Google Shape;174;p6"/>
          <p:cNvPicPr preferRelativeResize="0"/>
          <p:nvPr/>
        </p:nvPicPr>
        <p:blipFill rotWithShape="1">
          <a:blip r:embed="rId4">
            <a:alphaModFix/>
          </a:blip>
          <a:srcRect b="0" l="6703" r="0" t="0"/>
          <a:stretch/>
        </p:blipFill>
        <p:spPr>
          <a:xfrm>
            <a:off x="55662" y="4217917"/>
            <a:ext cx="18013514" cy="3257478"/>
          </a:xfrm>
          <a:prstGeom prst="rect">
            <a:avLst/>
          </a:prstGeom>
          <a:noFill/>
          <a:ln>
            <a:noFill/>
          </a:ln>
        </p:spPr>
      </p:pic>
      <p:sp>
        <p:nvSpPr>
          <p:cNvPr id="175" name="Google Shape;175;p6"/>
          <p:cNvSpPr txBox="1"/>
          <p:nvPr/>
        </p:nvSpPr>
        <p:spPr>
          <a:xfrm>
            <a:off x="1790700" y="3390900"/>
            <a:ext cx="14706600"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200">
                <a:solidFill>
                  <a:schemeClr val="dk1"/>
                </a:solidFill>
                <a:latin typeface="Montserrat"/>
                <a:ea typeface="Montserrat"/>
                <a:cs typeface="Montserrat"/>
                <a:sym typeface="Montserrat"/>
              </a:rPr>
              <a:t>B</a:t>
            </a:r>
            <a:r>
              <a:rPr b="1" i="0" lang="en-US" sz="3200">
                <a:solidFill>
                  <a:srgbClr val="1F2328"/>
                </a:solidFill>
                <a:latin typeface="Montserrat"/>
                <a:ea typeface="Montserrat"/>
                <a:cs typeface="Montserrat"/>
                <a:sym typeface="Montserrat"/>
              </a:rPr>
              <a:t>ank Customer Churn Prediction</a:t>
            </a:r>
            <a:endParaRPr/>
          </a:p>
        </p:txBody>
      </p:sp>
    </p:spTree>
  </p:cSld>
  <p:clrMapOvr>
    <a:masterClrMapping/>
  </p:clrMapOvr>
  <p:transition spd="slow">
    <p:push/>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grpSp>
        <p:nvGrpSpPr>
          <p:cNvPr id="181" name="Google Shape;181;p7"/>
          <p:cNvGrpSpPr/>
          <p:nvPr/>
        </p:nvGrpSpPr>
        <p:grpSpPr>
          <a:xfrm>
            <a:off x="15238003" y="8290589"/>
            <a:ext cx="7523780" cy="7523780"/>
            <a:chOff x="0" y="0"/>
            <a:chExt cx="812800" cy="812800"/>
          </a:xfrm>
        </p:grpSpPr>
        <p:sp>
          <p:nvSpPr>
            <p:cNvPr id="182" name="Google Shape;182;p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29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3" name="Google Shape;183;p7"/>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84" name="Google Shape;184;p7"/>
          <p:cNvGrpSpPr/>
          <p:nvPr/>
        </p:nvGrpSpPr>
        <p:grpSpPr>
          <a:xfrm>
            <a:off x="-3724222" y="-4507687"/>
            <a:ext cx="5924489" cy="5924489"/>
            <a:chOff x="0" y="0"/>
            <a:chExt cx="812800" cy="812800"/>
          </a:xfrm>
        </p:grpSpPr>
        <p:sp>
          <p:nvSpPr>
            <p:cNvPr id="185" name="Google Shape;185;p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29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6" name="Google Shape;186;p7"/>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87" name="Google Shape;187;p7"/>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3">
              <a:alphaModFix/>
            </a:blip>
            <a:stretch>
              <a:fillRect b="0" l="-3961" r="-3961"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8" name="Google Shape;188;p7"/>
          <p:cNvSpPr txBox="1"/>
          <p:nvPr/>
        </p:nvSpPr>
        <p:spPr>
          <a:xfrm>
            <a:off x="751416" y="1521577"/>
            <a:ext cx="8392584" cy="619208"/>
          </a:xfrm>
          <a:prstGeom prst="rect">
            <a:avLst/>
          </a:prstGeom>
          <a:noFill/>
          <a:ln>
            <a:noFill/>
          </a:ln>
        </p:spPr>
        <p:txBody>
          <a:bodyPr anchorCtr="0" anchor="t" bIns="0" lIns="0" spcFirstLastPara="1" rIns="0" wrap="square" tIns="0">
            <a:spAutoFit/>
          </a:bodyPr>
          <a:lstStyle/>
          <a:p>
            <a:pPr indent="-474980" lvl="1" marL="949961" marR="0" rtl="0" algn="l">
              <a:lnSpc>
                <a:spcPct val="120000"/>
              </a:lnSpc>
              <a:spcBef>
                <a:spcPts val="0"/>
              </a:spcBef>
              <a:spcAft>
                <a:spcPts val="0"/>
              </a:spcAft>
              <a:buClr>
                <a:srgbClr val="08377C"/>
              </a:buClr>
              <a:buSzPts val="4400"/>
              <a:buFont typeface="Montserrat"/>
              <a:buAutoNum type="arabicPeriod"/>
            </a:pPr>
            <a:r>
              <a:rPr b="1" i="0" lang="en-US" sz="4400" u="none" cap="none" strike="noStrike">
                <a:solidFill>
                  <a:srgbClr val="08377C"/>
                </a:solidFill>
                <a:latin typeface="Montserrat"/>
                <a:ea typeface="Montserrat"/>
                <a:cs typeface="Montserrat"/>
                <a:sym typeface="Montserrat"/>
              </a:rPr>
              <a:t>Classification</a:t>
            </a:r>
            <a:endParaRPr/>
          </a:p>
        </p:txBody>
      </p:sp>
      <p:sp>
        <p:nvSpPr>
          <p:cNvPr id="189" name="Google Shape;189;p7"/>
          <p:cNvSpPr txBox="1"/>
          <p:nvPr/>
        </p:nvSpPr>
        <p:spPr>
          <a:xfrm>
            <a:off x="1644846" y="2493462"/>
            <a:ext cx="1470660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dk1"/>
                </a:solidFill>
                <a:latin typeface="Montserrat"/>
                <a:ea typeface="Montserrat"/>
                <a:cs typeface="Montserrat"/>
                <a:sym typeface="Montserrat"/>
              </a:rPr>
              <a:t>Definition: The model learns from labeled data to predict new outputs.</a:t>
            </a:r>
            <a:endParaRPr/>
          </a:p>
        </p:txBody>
      </p:sp>
      <p:sp>
        <p:nvSpPr>
          <p:cNvPr id="190" name="Google Shape;190;p7"/>
          <p:cNvSpPr txBox="1"/>
          <p:nvPr/>
        </p:nvSpPr>
        <p:spPr>
          <a:xfrm>
            <a:off x="1790700" y="3390900"/>
            <a:ext cx="14706600"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200">
                <a:solidFill>
                  <a:schemeClr val="dk1"/>
                </a:solidFill>
                <a:latin typeface="Montserrat"/>
                <a:ea typeface="Montserrat"/>
                <a:cs typeface="Montserrat"/>
                <a:sym typeface="Montserrat"/>
              </a:rPr>
              <a:t>Anemia Disease Prediction</a:t>
            </a:r>
            <a:endParaRPr b="1" i="0" sz="3200">
              <a:solidFill>
                <a:srgbClr val="1F2328"/>
              </a:solidFill>
              <a:latin typeface="Montserrat"/>
              <a:ea typeface="Montserrat"/>
              <a:cs typeface="Montserrat"/>
              <a:sym typeface="Montserrat"/>
            </a:endParaRPr>
          </a:p>
        </p:txBody>
      </p:sp>
      <p:pic>
        <p:nvPicPr>
          <p:cNvPr id="191" name="Google Shape;191;p7"/>
          <p:cNvPicPr preferRelativeResize="0"/>
          <p:nvPr/>
        </p:nvPicPr>
        <p:blipFill rotWithShape="1">
          <a:blip r:embed="rId4">
            <a:alphaModFix/>
          </a:blip>
          <a:srcRect b="0" l="0" r="0" t="0"/>
          <a:stretch/>
        </p:blipFill>
        <p:spPr>
          <a:xfrm>
            <a:off x="1461674" y="4288338"/>
            <a:ext cx="15364652" cy="4002251"/>
          </a:xfrm>
          <a:prstGeom prst="rect">
            <a:avLst/>
          </a:prstGeom>
          <a:noFill/>
          <a:ln>
            <a:noFill/>
          </a:ln>
        </p:spPr>
      </p:pic>
    </p:spTree>
  </p:cSld>
  <p:clrMapOvr>
    <a:masterClrMapping/>
  </p:clrMapOvr>
  <p:transition spd="slow">
    <p:push/>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grpSp>
        <p:nvGrpSpPr>
          <p:cNvPr id="196" name="Google Shape;196;p8"/>
          <p:cNvGrpSpPr/>
          <p:nvPr/>
        </p:nvGrpSpPr>
        <p:grpSpPr>
          <a:xfrm>
            <a:off x="17016492" y="-180826"/>
            <a:ext cx="1271508" cy="10467826"/>
            <a:chOff x="0" y="-47625"/>
            <a:chExt cx="334883" cy="2756958"/>
          </a:xfrm>
        </p:grpSpPr>
        <p:sp>
          <p:nvSpPr>
            <p:cNvPr id="197" name="Google Shape;197;p8"/>
            <p:cNvSpPr/>
            <p:nvPr/>
          </p:nvSpPr>
          <p:spPr>
            <a:xfrm>
              <a:off x="0" y="0"/>
              <a:ext cx="334883" cy="2709333"/>
            </a:xfrm>
            <a:custGeom>
              <a:rect b="b" l="l" r="r" t="t"/>
              <a:pathLst>
                <a:path extrusionOk="0" h="2709333" w="334883">
                  <a:moveTo>
                    <a:pt x="0" y="0"/>
                  </a:moveTo>
                  <a:lnTo>
                    <a:pt x="334883" y="0"/>
                  </a:lnTo>
                  <a:lnTo>
                    <a:pt x="334883" y="2709333"/>
                  </a:lnTo>
                  <a:lnTo>
                    <a:pt x="0" y="2709333"/>
                  </a:lnTo>
                  <a:close/>
                </a:path>
              </a:pathLst>
            </a:custGeom>
            <a:solidFill>
              <a:srgbClr val="08377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8" name="Google Shape;198;p8"/>
            <p:cNvSpPr txBox="1"/>
            <p:nvPr/>
          </p:nvSpPr>
          <p:spPr>
            <a:xfrm>
              <a:off x="0" y="-47625"/>
              <a:ext cx="334883"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99" name="Google Shape;199;p8"/>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3">
              <a:alphaModFix/>
            </a:blip>
            <a:stretch>
              <a:fillRect b="0" l="-3961" r="-3961"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0" name="Google Shape;200;p8"/>
          <p:cNvSpPr txBox="1"/>
          <p:nvPr/>
        </p:nvSpPr>
        <p:spPr>
          <a:xfrm>
            <a:off x="751416" y="1565597"/>
            <a:ext cx="9392960" cy="876300"/>
          </a:xfrm>
          <a:prstGeom prst="rect">
            <a:avLst/>
          </a:prstGeom>
          <a:noFill/>
          <a:ln>
            <a:noFill/>
          </a:ln>
        </p:spPr>
        <p:txBody>
          <a:bodyPr anchorCtr="0" anchor="t" bIns="0" lIns="0" spcFirstLastPara="1" rIns="0" wrap="square" tIns="0">
            <a:spAutoFit/>
          </a:bodyPr>
          <a:lstStyle/>
          <a:p>
            <a:pPr indent="0" lvl="0" marL="0" marR="0" rtl="0" algn="l">
              <a:lnSpc>
                <a:spcPct val="120010"/>
              </a:lnSpc>
              <a:spcBef>
                <a:spcPts val="0"/>
              </a:spcBef>
              <a:spcAft>
                <a:spcPts val="0"/>
              </a:spcAft>
              <a:buNone/>
            </a:pPr>
            <a:r>
              <a:rPr b="1" lang="en-US" sz="5792">
                <a:solidFill>
                  <a:srgbClr val="08377C"/>
                </a:solidFill>
                <a:latin typeface="Montserrat"/>
                <a:ea typeface="Montserrat"/>
                <a:cs typeface="Montserrat"/>
                <a:sym typeface="Montserrat"/>
              </a:rPr>
              <a:t>Types of Classification</a:t>
            </a:r>
            <a:endParaRPr/>
          </a:p>
        </p:txBody>
      </p:sp>
      <p:grpSp>
        <p:nvGrpSpPr>
          <p:cNvPr id="201" name="Google Shape;201;p8"/>
          <p:cNvGrpSpPr/>
          <p:nvPr/>
        </p:nvGrpSpPr>
        <p:grpSpPr>
          <a:xfrm>
            <a:off x="2133600" y="2902029"/>
            <a:ext cx="12719944" cy="5819374"/>
            <a:chOff x="0" y="0"/>
            <a:chExt cx="16959925" cy="7759166"/>
          </a:xfrm>
        </p:grpSpPr>
        <p:sp>
          <p:nvSpPr>
            <p:cNvPr id="202" name="Google Shape;202;p8"/>
            <p:cNvSpPr/>
            <p:nvPr/>
          </p:nvSpPr>
          <p:spPr>
            <a:xfrm>
              <a:off x="0" y="0"/>
              <a:ext cx="16959925" cy="7759166"/>
            </a:xfrm>
            <a:custGeom>
              <a:rect b="b" l="l" r="r" t="t"/>
              <a:pathLst>
                <a:path extrusionOk="0" h="7759166" w="16959925">
                  <a:moveTo>
                    <a:pt x="0" y="0"/>
                  </a:moveTo>
                  <a:lnTo>
                    <a:pt x="16959925" y="0"/>
                  </a:lnTo>
                  <a:lnTo>
                    <a:pt x="16959925" y="7759166"/>
                  </a:lnTo>
                  <a:lnTo>
                    <a:pt x="0" y="775916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3" name="Google Shape;203;p8"/>
            <p:cNvSpPr txBox="1"/>
            <p:nvPr/>
          </p:nvSpPr>
          <p:spPr>
            <a:xfrm>
              <a:off x="1278404" y="7293190"/>
              <a:ext cx="8061137" cy="458331"/>
            </a:xfrm>
            <a:prstGeom prst="rect">
              <a:avLst/>
            </a:prstGeom>
            <a:noFill/>
            <a:ln>
              <a:noFill/>
            </a:ln>
          </p:spPr>
          <p:txBody>
            <a:bodyPr anchorCtr="0" anchor="t" bIns="0" lIns="0" spcFirstLastPara="1" rIns="0" wrap="square" tIns="0">
              <a:spAutoFit/>
            </a:bodyPr>
            <a:lstStyle/>
            <a:p>
              <a:pPr indent="0" lvl="0" marL="0" marR="0" rtl="0" algn="l">
                <a:lnSpc>
                  <a:spcPct val="166277"/>
                </a:lnSpc>
                <a:spcBef>
                  <a:spcPts val="0"/>
                </a:spcBef>
                <a:spcAft>
                  <a:spcPts val="0"/>
                </a:spcAft>
                <a:buNone/>
              </a:pPr>
              <a:r>
                <a:rPr b="0" i="0" lang="en-US" sz="1800">
                  <a:solidFill>
                    <a:srgbClr val="074364"/>
                  </a:solidFill>
                  <a:latin typeface="Raleway"/>
                  <a:ea typeface="Raleway"/>
                  <a:cs typeface="Raleway"/>
                  <a:sym typeface="Raleway"/>
                </a:rPr>
                <a:t>Image Source </a:t>
              </a:r>
              <a:r>
                <a:rPr lang="en-US" sz="1800">
                  <a:solidFill>
                    <a:srgbClr val="08377C"/>
                  </a:solidFill>
                  <a:latin typeface="Raleway"/>
                  <a:ea typeface="Raleway"/>
                  <a:cs typeface="Raleway"/>
                  <a:sym typeface="Raleway"/>
                </a:rPr>
                <a:t>: </a:t>
              </a:r>
              <a:r>
                <a:rPr lang="en-US" sz="1800" u="sng">
                  <a:solidFill>
                    <a:srgbClr val="08377C"/>
                  </a:solidFill>
                  <a:latin typeface="Raleway"/>
                  <a:ea typeface="Raleway"/>
                  <a:cs typeface="Raleway"/>
                  <a:sym typeface="Raleway"/>
                </a:rPr>
                <a:t>https://www.dicoding.com/ </a:t>
              </a:r>
              <a:endParaRPr/>
            </a:p>
          </p:txBody>
        </p:sp>
      </p:grpSp>
    </p:spTree>
  </p:cSld>
  <p:clrMapOvr>
    <a:masterClrMapping/>
  </p:clrMapOvr>
  <p:transition spd="slow">
    <p:push/>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grpSp>
        <p:nvGrpSpPr>
          <p:cNvPr id="209" name="Google Shape;209;p9"/>
          <p:cNvGrpSpPr/>
          <p:nvPr/>
        </p:nvGrpSpPr>
        <p:grpSpPr>
          <a:xfrm>
            <a:off x="15238003" y="8290589"/>
            <a:ext cx="7523780" cy="7523780"/>
            <a:chOff x="0" y="0"/>
            <a:chExt cx="812800" cy="812800"/>
          </a:xfrm>
        </p:grpSpPr>
        <p:sp>
          <p:nvSpPr>
            <p:cNvPr id="210" name="Google Shape;210;p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29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1" name="Google Shape;211;p9"/>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12" name="Google Shape;212;p9"/>
          <p:cNvGrpSpPr/>
          <p:nvPr/>
        </p:nvGrpSpPr>
        <p:grpSpPr>
          <a:xfrm>
            <a:off x="-3724222" y="-4507687"/>
            <a:ext cx="5924489" cy="5924489"/>
            <a:chOff x="0" y="0"/>
            <a:chExt cx="812800" cy="812800"/>
          </a:xfrm>
        </p:grpSpPr>
        <p:sp>
          <p:nvSpPr>
            <p:cNvPr id="213" name="Google Shape;213;p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29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4" name="Google Shape;214;p9"/>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15" name="Google Shape;215;p9"/>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3">
              <a:alphaModFix/>
            </a:blip>
            <a:stretch>
              <a:fillRect b="0" l="-3961" r="-3961"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6" name="Google Shape;216;p9"/>
          <p:cNvSpPr/>
          <p:nvPr/>
        </p:nvSpPr>
        <p:spPr>
          <a:xfrm>
            <a:off x="1902264" y="3609602"/>
            <a:ext cx="5813600" cy="4461408"/>
          </a:xfrm>
          <a:custGeom>
            <a:rect b="b" l="l" r="r" t="t"/>
            <a:pathLst>
              <a:path extrusionOk="0" h="4461408" w="5813600">
                <a:moveTo>
                  <a:pt x="0" y="0"/>
                </a:moveTo>
                <a:lnTo>
                  <a:pt x="5813600" y="0"/>
                </a:lnTo>
                <a:lnTo>
                  <a:pt x="5813600" y="4461408"/>
                </a:lnTo>
                <a:lnTo>
                  <a:pt x="0" y="4461408"/>
                </a:lnTo>
                <a:lnTo>
                  <a:pt x="0" y="0"/>
                </a:lnTo>
                <a:close/>
              </a:path>
            </a:pathLst>
          </a:custGeom>
          <a:blipFill rotWithShape="1">
            <a:blip r:embed="rId4">
              <a:alphaModFix/>
            </a:blip>
            <a:stretch>
              <a:fillRect b="-6064" l="-27998" r="-27290" t="-23445"/>
            </a:stretch>
          </a:blipFill>
          <a:ln cap="sq" cmpd="sng" w="1905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7" name="Google Shape;217;p9"/>
          <p:cNvSpPr/>
          <p:nvPr/>
        </p:nvSpPr>
        <p:spPr>
          <a:xfrm>
            <a:off x="8418771" y="2967073"/>
            <a:ext cx="8164863" cy="5746466"/>
          </a:xfrm>
          <a:custGeom>
            <a:rect b="b" l="l" r="r" t="t"/>
            <a:pathLst>
              <a:path extrusionOk="0" h="5746466" w="8164863">
                <a:moveTo>
                  <a:pt x="0" y="0"/>
                </a:moveTo>
                <a:lnTo>
                  <a:pt x="8164863" y="0"/>
                </a:lnTo>
                <a:lnTo>
                  <a:pt x="8164863" y="5746466"/>
                </a:lnTo>
                <a:lnTo>
                  <a:pt x="0" y="5746466"/>
                </a:lnTo>
                <a:lnTo>
                  <a:pt x="0" y="0"/>
                </a:lnTo>
                <a:close/>
              </a:path>
            </a:pathLst>
          </a:custGeom>
          <a:blipFill rotWithShape="1">
            <a:blip r:embed="rId5">
              <a:alphaModFix/>
            </a:blip>
            <a:stretch>
              <a:fillRect b="-7056" l="-21032" r="-21452" t="-6818"/>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8" name="Google Shape;218;p9"/>
          <p:cNvSpPr txBox="1"/>
          <p:nvPr/>
        </p:nvSpPr>
        <p:spPr>
          <a:xfrm>
            <a:off x="751416" y="1521577"/>
            <a:ext cx="11895607" cy="666750"/>
          </a:xfrm>
          <a:prstGeom prst="rect">
            <a:avLst/>
          </a:prstGeom>
          <a:noFill/>
          <a:ln>
            <a:noFill/>
          </a:ln>
        </p:spPr>
        <p:txBody>
          <a:bodyPr anchorCtr="0" anchor="t" bIns="0" lIns="0" spcFirstLastPara="1" rIns="0" wrap="square" tIns="0">
            <a:spAutoFit/>
          </a:bodyPr>
          <a:lstStyle/>
          <a:p>
            <a:pPr indent="-474980" lvl="1" marL="949961" marR="0" rtl="0" algn="l">
              <a:lnSpc>
                <a:spcPct val="120000"/>
              </a:lnSpc>
              <a:spcBef>
                <a:spcPts val="0"/>
              </a:spcBef>
              <a:spcAft>
                <a:spcPts val="0"/>
              </a:spcAft>
              <a:buClr>
                <a:srgbClr val="08377C"/>
              </a:buClr>
              <a:buSzPts val="4400"/>
              <a:buFont typeface="Montserrat"/>
              <a:buAutoNum type="arabicPeriod"/>
            </a:pPr>
            <a:r>
              <a:rPr b="1" i="0" lang="en-US" sz="4400" u="none" cap="none" strike="noStrike">
                <a:solidFill>
                  <a:srgbClr val="08377C"/>
                </a:solidFill>
                <a:latin typeface="Montserrat"/>
                <a:ea typeface="Montserrat"/>
                <a:cs typeface="Montserrat"/>
                <a:sym typeface="Montserrat"/>
              </a:rPr>
              <a:t>Binary Classification</a:t>
            </a:r>
            <a:endParaRPr/>
          </a:p>
        </p:txBody>
      </p:sp>
      <p:sp>
        <p:nvSpPr>
          <p:cNvPr id="219" name="Google Shape;219;p9"/>
          <p:cNvSpPr txBox="1"/>
          <p:nvPr/>
        </p:nvSpPr>
        <p:spPr>
          <a:xfrm>
            <a:off x="9094267" y="8541665"/>
            <a:ext cx="6045853" cy="343748"/>
          </a:xfrm>
          <a:prstGeom prst="rect">
            <a:avLst/>
          </a:prstGeom>
          <a:noFill/>
          <a:ln>
            <a:noFill/>
          </a:ln>
        </p:spPr>
        <p:txBody>
          <a:bodyPr anchorCtr="0" anchor="t" bIns="0" lIns="0" spcFirstLastPara="1" rIns="0" wrap="square" tIns="0">
            <a:spAutoFit/>
          </a:bodyPr>
          <a:lstStyle/>
          <a:p>
            <a:pPr indent="0" lvl="0" marL="0" marR="0" rtl="0" algn="l">
              <a:lnSpc>
                <a:spcPct val="166277"/>
              </a:lnSpc>
              <a:spcBef>
                <a:spcPts val="0"/>
              </a:spcBef>
              <a:spcAft>
                <a:spcPts val="0"/>
              </a:spcAft>
              <a:buNone/>
            </a:pPr>
            <a:r>
              <a:rPr b="0" i="0" lang="en-US" sz="1800">
                <a:solidFill>
                  <a:srgbClr val="074364"/>
                </a:solidFill>
                <a:latin typeface="Raleway"/>
                <a:ea typeface="Raleway"/>
                <a:cs typeface="Raleway"/>
                <a:sym typeface="Raleway"/>
              </a:rPr>
              <a:t>Image Source </a:t>
            </a:r>
            <a:r>
              <a:rPr lang="en-US" sz="1800">
                <a:solidFill>
                  <a:srgbClr val="08377C"/>
                </a:solidFill>
                <a:latin typeface="Raleway"/>
                <a:ea typeface="Raleway"/>
                <a:cs typeface="Raleway"/>
                <a:sym typeface="Raleway"/>
              </a:rPr>
              <a:t>: </a:t>
            </a:r>
            <a:r>
              <a:rPr lang="en-US" sz="1800" u="sng">
                <a:solidFill>
                  <a:srgbClr val="08377C"/>
                </a:solidFill>
                <a:latin typeface="Raleway"/>
                <a:ea typeface="Raleway"/>
                <a:cs typeface="Raleway"/>
                <a:sym typeface="Raleway"/>
              </a:rPr>
              <a:t>https://www.dicoding.com/ </a:t>
            </a:r>
            <a:endParaRPr/>
          </a:p>
        </p:txBody>
      </p:sp>
    </p:spTree>
  </p:cSld>
  <p:clrMapOvr>
    <a:masterClrMapping/>
  </p:clrMapOvr>
  <p:transition spd="slow">
    <p:push/>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grpSp>
        <p:nvGrpSpPr>
          <p:cNvPr id="225" name="Google Shape;225;p10"/>
          <p:cNvGrpSpPr/>
          <p:nvPr/>
        </p:nvGrpSpPr>
        <p:grpSpPr>
          <a:xfrm>
            <a:off x="15238003" y="8290589"/>
            <a:ext cx="7523780" cy="7523780"/>
            <a:chOff x="0" y="0"/>
            <a:chExt cx="812800" cy="812800"/>
          </a:xfrm>
        </p:grpSpPr>
        <p:sp>
          <p:nvSpPr>
            <p:cNvPr id="226" name="Google Shape;226;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29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7" name="Google Shape;227;p10"/>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28" name="Google Shape;228;p10"/>
          <p:cNvGrpSpPr/>
          <p:nvPr/>
        </p:nvGrpSpPr>
        <p:grpSpPr>
          <a:xfrm>
            <a:off x="-3724222" y="-4507687"/>
            <a:ext cx="5924489" cy="5924489"/>
            <a:chOff x="0" y="0"/>
            <a:chExt cx="812800" cy="812800"/>
          </a:xfrm>
        </p:grpSpPr>
        <p:sp>
          <p:nvSpPr>
            <p:cNvPr id="229" name="Google Shape;229;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29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0" name="Google Shape;230;p10"/>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31" name="Google Shape;231;p10"/>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3">
              <a:alphaModFix/>
            </a:blip>
            <a:stretch>
              <a:fillRect b="0" l="-3961" r="-3961"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2" name="Google Shape;232;p10"/>
          <p:cNvSpPr txBox="1"/>
          <p:nvPr/>
        </p:nvSpPr>
        <p:spPr>
          <a:xfrm>
            <a:off x="751416" y="1521577"/>
            <a:ext cx="11895607" cy="61920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4400">
                <a:solidFill>
                  <a:srgbClr val="08377C"/>
                </a:solidFill>
                <a:latin typeface="Montserrat"/>
                <a:ea typeface="Montserrat"/>
                <a:cs typeface="Montserrat"/>
                <a:sym typeface="Montserrat"/>
              </a:rPr>
              <a:t>2. Multiclass Classification</a:t>
            </a:r>
            <a:endParaRPr/>
          </a:p>
        </p:txBody>
      </p:sp>
      <p:pic>
        <p:nvPicPr>
          <p:cNvPr id="233" name="Google Shape;233;p10"/>
          <p:cNvPicPr preferRelativeResize="0"/>
          <p:nvPr/>
        </p:nvPicPr>
        <p:blipFill rotWithShape="1">
          <a:blip r:embed="rId4">
            <a:alphaModFix/>
          </a:blip>
          <a:srcRect b="0" l="24500" r="21944" t="22444"/>
          <a:stretch/>
        </p:blipFill>
        <p:spPr>
          <a:xfrm>
            <a:off x="1277238" y="2920031"/>
            <a:ext cx="5816576" cy="4738070"/>
          </a:xfrm>
          <a:prstGeom prst="rect">
            <a:avLst/>
          </a:prstGeom>
          <a:noFill/>
          <a:ln cap="flat" cmpd="sng" w="19050">
            <a:solidFill>
              <a:schemeClr val="dk1"/>
            </a:solidFill>
            <a:prstDash val="solid"/>
            <a:round/>
            <a:headEnd len="sm" w="sm" type="none"/>
            <a:tailEnd len="sm" w="sm" type="none"/>
          </a:ln>
        </p:spPr>
      </p:pic>
      <p:sp>
        <p:nvSpPr>
          <p:cNvPr id="234" name="Google Shape;234;p10"/>
          <p:cNvSpPr txBox="1"/>
          <p:nvPr/>
        </p:nvSpPr>
        <p:spPr>
          <a:xfrm>
            <a:off x="8001000" y="7486227"/>
            <a:ext cx="6045853" cy="343748"/>
          </a:xfrm>
          <a:prstGeom prst="rect">
            <a:avLst/>
          </a:prstGeom>
          <a:noFill/>
          <a:ln>
            <a:noFill/>
          </a:ln>
        </p:spPr>
        <p:txBody>
          <a:bodyPr anchorCtr="0" anchor="t" bIns="0" lIns="0" spcFirstLastPara="1" rIns="0" wrap="square" tIns="0">
            <a:spAutoFit/>
          </a:bodyPr>
          <a:lstStyle/>
          <a:p>
            <a:pPr indent="0" lvl="0" marL="0" marR="0" rtl="0" algn="l">
              <a:lnSpc>
                <a:spcPct val="166277"/>
              </a:lnSpc>
              <a:spcBef>
                <a:spcPts val="0"/>
              </a:spcBef>
              <a:spcAft>
                <a:spcPts val="0"/>
              </a:spcAft>
              <a:buNone/>
            </a:pPr>
            <a:r>
              <a:rPr b="0" i="0" lang="en-US" sz="1800">
                <a:solidFill>
                  <a:srgbClr val="074364"/>
                </a:solidFill>
                <a:latin typeface="Raleway"/>
                <a:ea typeface="Raleway"/>
                <a:cs typeface="Raleway"/>
                <a:sym typeface="Raleway"/>
              </a:rPr>
              <a:t>Image Source </a:t>
            </a:r>
            <a:r>
              <a:rPr lang="en-US" sz="1800">
                <a:solidFill>
                  <a:srgbClr val="08377C"/>
                </a:solidFill>
                <a:latin typeface="Raleway"/>
                <a:ea typeface="Raleway"/>
                <a:cs typeface="Raleway"/>
                <a:sym typeface="Raleway"/>
              </a:rPr>
              <a:t>: </a:t>
            </a:r>
            <a:r>
              <a:rPr lang="en-US" sz="1800" u="sng">
                <a:solidFill>
                  <a:srgbClr val="08377C"/>
                </a:solidFill>
                <a:latin typeface="Raleway"/>
                <a:ea typeface="Raleway"/>
                <a:cs typeface="Raleway"/>
                <a:sym typeface="Raleway"/>
              </a:rPr>
              <a:t>https://www.dicoding.com/ </a:t>
            </a:r>
            <a:endParaRPr/>
          </a:p>
        </p:txBody>
      </p:sp>
      <p:sp>
        <p:nvSpPr>
          <p:cNvPr id="235" name="Google Shape;235;p10"/>
          <p:cNvSpPr/>
          <p:nvPr/>
        </p:nvSpPr>
        <p:spPr>
          <a:xfrm>
            <a:off x="8382000" y="3371427"/>
            <a:ext cx="4114800" cy="4114800"/>
          </a:xfrm>
          <a:custGeom>
            <a:rect b="b" l="l" r="r" t="t"/>
            <a:pathLst>
              <a:path extrusionOk="0" h="7759166" w="16959925">
                <a:moveTo>
                  <a:pt x="0" y="0"/>
                </a:moveTo>
                <a:lnTo>
                  <a:pt x="16959925" y="0"/>
                </a:lnTo>
                <a:lnTo>
                  <a:pt x="16959925" y="7759166"/>
                </a:lnTo>
                <a:lnTo>
                  <a:pt x="0" y="7759166"/>
                </a:lnTo>
                <a:lnTo>
                  <a:pt x="0" y="0"/>
                </a:lnTo>
                <a:close/>
              </a:path>
            </a:pathLst>
          </a:custGeom>
          <a:blipFill rotWithShape="1">
            <a:blip r:embed="rId5">
              <a:alphaModFix/>
            </a:blip>
            <a:stretch>
              <a:fillRect b="-13058" l="-106188" r="-128674" t="-2564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transition spd="slow">
    <p:push/>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grpSp>
        <p:nvGrpSpPr>
          <p:cNvPr id="241" name="Google Shape;241;p11"/>
          <p:cNvGrpSpPr/>
          <p:nvPr/>
        </p:nvGrpSpPr>
        <p:grpSpPr>
          <a:xfrm>
            <a:off x="15238003" y="8290589"/>
            <a:ext cx="7523780" cy="7523780"/>
            <a:chOff x="0" y="0"/>
            <a:chExt cx="812800" cy="812800"/>
          </a:xfrm>
        </p:grpSpPr>
        <p:sp>
          <p:nvSpPr>
            <p:cNvPr id="242" name="Google Shape;242;p1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29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3" name="Google Shape;243;p1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44" name="Google Shape;244;p11"/>
          <p:cNvGrpSpPr/>
          <p:nvPr/>
        </p:nvGrpSpPr>
        <p:grpSpPr>
          <a:xfrm>
            <a:off x="-3724222" y="-4507687"/>
            <a:ext cx="5924489" cy="5924489"/>
            <a:chOff x="0" y="0"/>
            <a:chExt cx="812800" cy="812800"/>
          </a:xfrm>
        </p:grpSpPr>
        <p:sp>
          <p:nvSpPr>
            <p:cNvPr id="245" name="Google Shape;245;p1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29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6" name="Google Shape;246;p1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47" name="Google Shape;247;p11"/>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3">
              <a:alphaModFix/>
            </a:blip>
            <a:stretch>
              <a:fillRect b="0" l="-3961" r="-3961"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8" name="Google Shape;248;p11"/>
          <p:cNvSpPr txBox="1"/>
          <p:nvPr/>
        </p:nvSpPr>
        <p:spPr>
          <a:xfrm>
            <a:off x="1277236" y="2629501"/>
            <a:ext cx="15591442" cy="4086438"/>
          </a:xfrm>
          <a:prstGeom prst="rect">
            <a:avLst/>
          </a:prstGeom>
          <a:noFill/>
          <a:ln>
            <a:noFill/>
          </a:ln>
        </p:spPr>
        <p:txBody>
          <a:bodyPr anchorCtr="0" anchor="t" bIns="0" lIns="0" spcFirstLastPara="1" rIns="0" wrap="square" tIns="0">
            <a:spAutoFit/>
          </a:bodyPr>
          <a:lstStyle/>
          <a:p>
            <a:pPr indent="0" lvl="0" marL="0" marR="0" rtl="0" algn="l">
              <a:lnSpc>
                <a:spcPct val="161032"/>
              </a:lnSpc>
              <a:spcBef>
                <a:spcPts val="0"/>
              </a:spcBef>
              <a:spcAft>
                <a:spcPts val="0"/>
              </a:spcAft>
              <a:buNone/>
            </a:pPr>
            <a:r>
              <a:rPr lang="en-US" sz="2556">
                <a:solidFill>
                  <a:srgbClr val="2A2E3A"/>
                </a:solidFill>
                <a:latin typeface="Montserrat"/>
                <a:ea typeface="Montserrat"/>
                <a:cs typeface="Montserrat"/>
                <a:sym typeface="Montserrat"/>
              </a:rPr>
              <a:t>Multilabel classification is a method that allows data to be categorized into more than one label or category at a time. Unlike multiclass classification, which limits data to only one category from several options, multilabel classification provides greater flexibility by allowing a single data sample to have multiple labels.</a:t>
            </a:r>
            <a:endParaRPr/>
          </a:p>
          <a:p>
            <a:pPr indent="0" lvl="0" marL="0" marR="0" rtl="0" algn="l">
              <a:lnSpc>
                <a:spcPct val="161032"/>
              </a:lnSpc>
              <a:spcBef>
                <a:spcPts val="0"/>
              </a:spcBef>
              <a:spcAft>
                <a:spcPts val="0"/>
              </a:spcAft>
              <a:buNone/>
            </a:pPr>
            <a:r>
              <a:t/>
            </a:r>
            <a:endParaRPr sz="2556">
              <a:solidFill>
                <a:srgbClr val="2A2E3A"/>
              </a:solidFill>
              <a:latin typeface="Montserrat"/>
              <a:ea typeface="Montserrat"/>
              <a:cs typeface="Montserrat"/>
              <a:sym typeface="Montserrat"/>
            </a:endParaRPr>
          </a:p>
          <a:p>
            <a:pPr indent="0" lvl="0" marL="0" marR="0" rtl="0" algn="l">
              <a:lnSpc>
                <a:spcPct val="161032"/>
              </a:lnSpc>
              <a:spcBef>
                <a:spcPts val="0"/>
              </a:spcBef>
              <a:spcAft>
                <a:spcPts val="0"/>
              </a:spcAft>
              <a:buNone/>
            </a:pPr>
            <a:r>
              <a:rPr lang="en-US" sz="2556">
                <a:solidFill>
                  <a:srgbClr val="2A2E3A"/>
                </a:solidFill>
                <a:latin typeface="Montserrat"/>
                <a:ea typeface="Montserrat"/>
                <a:cs typeface="Montserrat"/>
                <a:sym typeface="Montserrat"/>
              </a:rPr>
              <a:t>Example:</a:t>
            </a:r>
            <a:endParaRPr/>
          </a:p>
          <a:p>
            <a:pPr indent="0" lvl="0" marL="0" marR="0" rtl="0" algn="l">
              <a:lnSpc>
                <a:spcPct val="161032"/>
              </a:lnSpc>
              <a:spcBef>
                <a:spcPts val="0"/>
              </a:spcBef>
              <a:spcAft>
                <a:spcPts val="0"/>
              </a:spcAft>
              <a:buNone/>
            </a:pPr>
            <a:r>
              <a:rPr b="1" lang="en-US" sz="2556">
                <a:solidFill>
                  <a:srgbClr val="08377C"/>
                </a:solidFill>
                <a:latin typeface="Montserrat"/>
                <a:ea typeface="Montserrat"/>
                <a:cs typeface="Montserrat"/>
                <a:sym typeface="Montserrat"/>
              </a:rPr>
              <a:t>Tagging a news article</a:t>
            </a:r>
            <a:endParaRPr/>
          </a:p>
          <a:p>
            <a:pPr indent="0" lvl="0" marL="0" marR="0" rtl="0" algn="l">
              <a:lnSpc>
                <a:spcPct val="161032"/>
              </a:lnSpc>
              <a:spcBef>
                <a:spcPts val="0"/>
              </a:spcBef>
              <a:spcAft>
                <a:spcPts val="0"/>
              </a:spcAft>
              <a:buNone/>
            </a:pPr>
            <a:r>
              <a:t/>
            </a:r>
            <a:endParaRPr b="1" sz="2556">
              <a:solidFill>
                <a:srgbClr val="08377C"/>
              </a:solidFill>
              <a:latin typeface="Montserrat"/>
              <a:ea typeface="Montserrat"/>
              <a:cs typeface="Montserrat"/>
              <a:sym typeface="Montserrat"/>
            </a:endParaRPr>
          </a:p>
        </p:txBody>
      </p:sp>
      <p:sp>
        <p:nvSpPr>
          <p:cNvPr id="249" name="Google Shape;249;p11"/>
          <p:cNvSpPr/>
          <p:nvPr/>
        </p:nvSpPr>
        <p:spPr>
          <a:xfrm>
            <a:off x="7120183" y="6232014"/>
            <a:ext cx="3151262" cy="3136744"/>
          </a:xfrm>
          <a:custGeom>
            <a:rect b="b" l="l" r="r" t="t"/>
            <a:pathLst>
              <a:path extrusionOk="0" h="3136744" w="3151262">
                <a:moveTo>
                  <a:pt x="0" y="0"/>
                </a:moveTo>
                <a:lnTo>
                  <a:pt x="3151262" y="0"/>
                </a:lnTo>
                <a:lnTo>
                  <a:pt x="3151262" y="3136745"/>
                </a:lnTo>
                <a:lnTo>
                  <a:pt x="0" y="3136745"/>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0" name="Google Shape;250;p11"/>
          <p:cNvSpPr/>
          <p:nvPr/>
        </p:nvSpPr>
        <p:spPr>
          <a:xfrm>
            <a:off x="3179842" y="6921791"/>
            <a:ext cx="2057400" cy="2057400"/>
          </a:xfrm>
          <a:custGeom>
            <a:rect b="b" l="l" r="r" t="t"/>
            <a:pathLst>
              <a:path extrusionOk="0" h="2057400" w="2057400">
                <a:moveTo>
                  <a:pt x="0" y="0"/>
                </a:moveTo>
                <a:lnTo>
                  <a:pt x="2057400" y="0"/>
                </a:lnTo>
                <a:lnTo>
                  <a:pt x="2057400" y="2057400"/>
                </a:lnTo>
                <a:lnTo>
                  <a:pt x="0" y="205740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1" name="Google Shape;251;p11"/>
          <p:cNvSpPr txBox="1"/>
          <p:nvPr/>
        </p:nvSpPr>
        <p:spPr>
          <a:xfrm>
            <a:off x="751416" y="1521577"/>
            <a:ext cx="11895607" cy="66675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4400">
                <a:solidFill>
                  <a:srgbClr val="08377C"/>
                </a:solidFill>
                <a:latin typeface="Montserrat"/>
                <a:ea typeface="Montserrat"/>
                <a:cs typeface="Montserrat"/>
                <a:sym typeface="Montserrat"/>
              </a:rPr>
              <a:t>3. Multilabel Classification</a:t>
            </a:r>
            <a:endParaRPr/>
          </a:p>
        </p:txBody>
      </p:sp>
      <p:sp>
        <p:nvSpPr>
          <p:cNvPr id="252" name="Google Shape;252;p11"/>
          <p:cNvSpPr txBox="1"/>
          <p:nvPr/>
        </p:nvSpPr>
        <p:spPr>
          <a:xfrm>
            <a:off x="12009920" y="7081154"/>
            <a:ext cx="2099456" cy="485988"/>
          </a:xfrm>
          <a:prstGeom prst="rect">
            <a:avLst/>
          </a:prstGeom>
          <a:noFill/>
          <a:ln>
            <a:noFill/>
          </a:ln>
        </p:spPr>
        <p:txBody>
          <a:bodyPr anchorCtr="0" anchor="t" bIns="0" lIns="0" spcFirstLastPara="1" rIns="0" wrap="square" tIns="0">
            <a:spAutoFit/>
          </a:bodyPr>
          <a:lstStyle/>
          <a:p>
            <a:pPr indent="-276015" lvl="1" marL="552031" marR="0" rtl="0" algn="l">
              <a:lnSpc>
                <a:spcPct val="161032"/>
              </a:lnSpc>
              <a:spcBef>
                <a:spcPts val="0"/>
              </a:spcBef>
              <a:spcAft>
                <a:spcPts val="0"/>
              </a:spcAft>
              <a:buClr>
                <a:srgbClr val="2A2E3A"/>
              </a:buClr>
              <a:buSzPts val="2556"/>
              <a:buFont typeface="Arial"/>
              <a:buChar char="•"/>
            </a:pPr>
            <a:r>
              <a:rPr b="0" i="0" lang="en-US" sz="2556" u="none" cap="none" strike="noStrike">
                <a:solidFill>
                  <a:srgbClr val="2A2E3A"/>
                </a:solidFill>
                <a:latin typeface="Montserrat"/>
                <a:ea typeface="Montserrat"/>
                <a:cs typeface="Montserrat"/>
                <a:sym typeface="Montserrat"/>
              </a:rPr>
              <a:t>Politics</a:t>
            </a:r>
            <a:endParaRPr/>
          </a:p>
        </p:txBody>
      </p:sp>
      <p:sp>
        <p:nvSpPr>
          <p:cNvPr id="253" name="Google Shape;253;p11"/>
          <p:cNvSpPr txBox="1"/>
          <p:nvPr/>
        </p:nvSpPr>
        <p:spPr>
          <a:xfrm>
            <a:off x="12009920" y="7583383"/>
            <a:ext cx="2271877" cy="485988"/>
          </a:xfrm>
          <a:prstGeom prst="rect">
            <a:avLst/>
          </a:prstGeom>
          <a:noFill/>
          <a:ln>
            <a:noFill/>
          </a:ln>
        </p:spPr>
        <p:txBody>
          <a:bodyPr anchorCtr="0" anchor="t" bIns="0" lIns="0" spcFirstLastPara="1" rIns="0" wrap="square" tIns="0">
            <a:spAutoFit/>
          </a:bodyPr>
          <a:lstStyle/>
          <a:p>
            <a:pPr indent="-276015" lvl="1" marL="552031" marR="0" rtl="0" algn="l">
              <a:lnSpc>
                <a:spcPct val="161032"/>
              </a:lnSpc>
              <a:spcBef>
                <a:spcPts val="0"/>
              </a:spcBef>
              <a:spcAft>
                <a:spcPts val="0"/>
              </a:spcAft>
              <a:buClr>
                <a:srgbClr val="2A2E3A"/>
              </a:buClr>
              <a:buSzPts val="2556"/>
              <a:buFont typeface="Arial"/>
              <a:buChar char="•"/>
            </a:pPr>
            <a:r>
              <a:rPr b="0" i="0" lang="en-US" sz="2556" u="none" cap="none" strike="noStrike">
                <a:solidFill>
                  <a:srgbClr val="2A2E3A"/>
                </a:solidFill>
                <a:latin typeface="Montserrat"/>
                <a:ea typeface="Montserrat"/>
                <a:cs typeface="Montserrat"/>
                <a:sym typeface="Montserrat"/>
              </a:rPr>
              <a:t>Economy</a:t>
            </a:r>
            <a:endParaRPr/>
          </a:p>
        </p:txBody>
      </p:sp>
      <p:sp>
        <p:nvSpPr>
          <p:cNvPr id="254" name="Google Shape;254;p11"/>
          <p:cNvSpPr txBox="1"/>
          <p:nvPr/>
        </p:nvSpPr>
        <p:spPr>
          <a:xfrm>
            <a:off x="12009920" y="8073585"/>
            <a:ext cx="3133985" cy="485988"/>
          </a:xfrm>
          <a:prstGeom prst="rect">
            <a:avLst/>
          </a:prstGeom>
          <a:noFill/>
          <a:ln>
            <a:noFill/>
          </a:ln>
        </p:spPr>
        <p:txBody>
          <a:bodyPr anchorCtr="0" anchor="t" bIns="0" lIns="0" spcFirstLastPara="1" rIns="0" wrap="square" tIns="0">
            <a:spAutoFit/>
          </a:bodyPr>
          <a:lstStyle/>
          <a:p>
            <a:pPr indent="-276015" lvl="1" marL="552031" marR="0" rtl="0" algn="l">
              <a:lnSpc>
                <a:spcPct val="161032"/>
              </a:lnSpc>
              <a:spcBef>
                <a:spcPts val="0"/>
              </a:spcBef>
              <a:spcAft>
                <a:spcPts val="0"/>
              </a:spcAft>
              <a:buClr>
                <a:srgbClr val="2A2E3A"/>
              </a:buClr>
              <a:buSzPts val="2556"/>
              <a:buFont typeface="Arial"/>
              <a:buChar char="•"/>
            </a:pPr>
            <a:r>
              <a:rPr b="0" i="0" lang="en-US" sz="2556" u="none" cap="none" strike="noStrike">
                <a:solidFill>
                  <a:srgbClr val="2A2E3A"/>
                </a:solidFill>
                <a:latin typeface="Montserrat"/>
                <a:ea typeface="Montserrat"/>
                <a:cs typeface="Montserrat"/>
                <a:sym typeface="Montserrat"/>
              </a:rPr>
              <a:t>Technology</a:t>
            </a:r>
            <a:endParaRPr/>
          </a:p>
        </p:txBody>
      </p:sp>
      <p:sp>
        <p:nvSpPr>
          <p:cNvPr id="255" name="Google Shape;255;p11"/>
          <p:cNvSpPr/>
          <p:nvPr/>
        </p:nvSpPr>
        <p:spPr>
          <a:xfrm>
            <a:off x="5470333" y="7510683"/>
            <a:ext cx="1575483" cy="879616"/>
          </a:xfrm>
          <a:prstGeom prst="rightArrow">
            <a:avLst>
              <a:gd fmla="val 50000" name="adj1"/>
              <a:gd fmla="val 50000" name="adj2"/>
            </a:avLst>
          </a:prstGeom>
          <a:solidFill>
            <a:schemeClr val="accent1"/>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6" name="Google Shape;256;p11"/>
          <p:cNvSpPr/>
          <p:nvPr/>
        </p:nvSpPr>
        <p:spPr>
          <a:xfrm>
            <a:off x="10365543" y="7510683"/>
            <a:ext cx="1575483" cy="879616"/>
          </a:xfrm>
          <a:prstGeom prst="rightArrow">
            <a:avLst>
              <a:gd fmla="val 50000" name="adj1"/>
              <a:gd fmla="val 50000" name="adj2"/>
            </a:avLst>
          </a:prstGeom>
          <a:solidFill>
            <a:schemeClr val="accent1"/>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7" name="Google Shape;257;p11"/>
          <p:cNvSpPr txBox="1"/>
          <p:nvPr/>
        </p:nvSpPr>
        <p:spPr>
          <a:xfrm>
            <a:off x="3179842" y="9184092"/>
            <a:ext cx="205740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chemeClr val="dk1"/>
                </a:solidFill>
                <a:latin typeface="Montserrat"/>
                <a:ea typeface="Montserrat"/>
                <a:cs typeface="Montserrat"/>
                <a:sym typeface="Montserrat"/>
              </a:rPr>
              <a:t>News Article</a:t>
            </a:r>
            <a:endParaRPr/>
          </a:p>
        </p:txBody>
      </p:sp>
      <p:sp>
        <p:nvSpPr>
          <p:cNvPr id="258" name="Google Shape;258;p11"/>
          <p:cNvSpPr txBox="1"/>
          <p:nvPr/>
        </p:nvSpPr>
        <p:spPr>
          <a:xfrm>
            <a:off x="12514690" y="8979191"/>
            <a:ext cx="205740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chemeClr val="dk1"/>
                </a:solidFill>
                <a:latin typeface="Montserrat"/>
                <a:ea typeface="Montserrat"/>
                <a:cs typeface="Montserrat"/>
                <a:sym typeface="Montserrat"/>
              </a:rPr>
              <a:t>Tag</a:t>
            </a:r>
            <a:endParaRPr/>
          </a:p>
        </p:txBody>
      </p:sp>
    </p:spTree>
  </p:cSld>
  <p:clrMapOvr>
    <a:masterClrMapping/>
  </p:clrMapOvr>
  <p:transition spd="slow">
    <p:push/>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grpSp>
        <p:nvGrpSpPr>
          <p:cNvPr id="264" name="Google Shape;264;p12"/>
          <p:cNvGrpSpPr/>
          <p:nvPr/>
        </p:nvGrpSpPr>
        <p:grpSpPr>
          <a:xfrm>
            <a:off x="13955786" y="-435680"/>
            <a:ext cx="4632524" cy="10996052"/>
            <a:chOff x="0" y="-47625"/>
            <a:chExt cx="1220089" cy="2896080"/>
          </a:xfrm>
        </p:grpSpPr>
        <p:sp>
          <p:nvSpPr>
            <p:cNvPr id="265" name="Google Shape;265;p12"/>
            <p:cNvSpPr/>
            <p:nvPr/>
          </p:nvSpPr>
          <p:spPr>
            <a:xfrm>
              <a:off x="0" y="0"/>
              <a:ext cx="1220089" cy="2848455"/>
            </a:xfrm>
            <a:custGeom>
              <a:rect b="b" l="l" r="r" t="t"/>
              <a:pathLst>
                <a:path extrusionOk="0" h="2848455" w="1220089">
                  <a:moveTo>
                    <a:pt x="0" y="0"/>
                  </a:moveTo>
                  <a:lnTo>
                    <a:pt x="1220089" y="0"/>
                  </a:lnTo>
                  <a:lnTo>
                    <a:pt x="1220089" y="2848455"/>
                  </a:lnTo>
                  <a:lnTo>
                    <a:pt x="0" y="2848455"/>
                  </a:lnTo>
                  <a:close/>
                </a:path>
              </a:pathLst>
            </a:custGeom>
            <a:solidFill>
              <a:srgbClr val="08377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6" name="Google Shape;266;p12"/>
            <p:cNvSpPr txBox="1"/>
            <p:nvPr/>
          </p:nvSpPr>
          <p:spPr>
            <a:xfrm>
              <a:off x="0" y="-47625"/>
              <a:ext cx="1220089" cy="289608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67" name="Google Shape;267;p12"/>
          <p:cNvSpPr/>
          <p:nvPr/>
        </p:nvSpPr>
        <p:spPr>
          <a:xfrm rot="-5400000">
            <a:off x="11952046" y="3265440"/>
            <a:ext cx="7715094" cy="3707614"/>
          </a:xfrm>
          <a:custGeom>
            <a:rect b="b" l="l" r="r" t="t"/>
            <a:pathLst>
              <a:path extrusionOk="0" h="3707614" w="7715094">
                <a:moveTo>
                  <a:pt x="0" y="0"/>
                </a:moveTo>
                <a:lnTo>
                  <a:pt x="7715094" y="0"/>
                </a:lnTo>
                <a:lnTo>
                  <a:pt x="7715094" y="3707614"/>
                </a:lnTo>
                <a:lnTo>
                  <a:pt x="0" y="3707614"/>
                </a:lnTo>
                <a:lnTo>
                  <a:pt x="0" y="0"/>
                </a:lnTo>
                <a:close/>
              </a:path>
            </a:pathLst>
          </a:custGeom>
          <a:blipFill rotWithShape="1">
            <a:blip r:embed="rId3">
              <a:alphaModFix/>
            </a:blip>
            <a:stretch>
              <a:fillRect b="0" l="0" r="0" t="-5934"/>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8" name="Google Shape;268;p12"/>
          <p:cNvSpPr txBox="1"/>
          <p:nvPr/>
        </p:nvSpPr>
        <p:spPr>
          <a:xfrm>
            <a:off x="1311647" y="4214179"/>
            <a:ext cx="8822953" cy="769441"/>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5035" u="none" strike="noStrike">
                <a:solidFill>
                  <a:srgbClr val="2A2E3A"/>
                </a:solidFill>
                <a:latin typeface="Montserrat"/>
                <a:ea typeface="Montserrat"/>
                <a:cs typeface="Montserrat"/>
                <a:sym typeface="Montserrat"/>
              </a:rPr>
              <a:t>Algorithm Classification</a:t>
            </a:r>
            <a:endParaRPr b="1" sz="5035" u="none" strike="noStrike">
              <a:solidFill>
                <a:srgbClr val="2A2E3A"/>
              </a:solidFill>
              <a:latin typeface="Montserrat"/>
              <a:ea typeface="Montserrat"/>
              <a:cs typeface="Montserrat"/>
              <a:sym typeface="Montserrat"/>
            </a:endParaRPr>
          </a:p>
        </p:txBody>
      </p:sp>
      <p:sp>
        <p:nvSpPr>
          <p:cNvPr id="269" name="Google Shape;269;p12"/>
          <p:cNvSpPr txBox="1"/>
          <p:nvPr/>
        </p:nvSpPr>
        <p:spPr>
          <a:xfrm>
            <a:off x="1259652" y="5143500"/>
            <a:ext cx="10779948" cy="957634"/>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None/>
            </a:pPr>
            <a:r>
              <a:rPr b="1" lang="en-US" sz="6792">
                <a:solidFill>
                  <a:srgbClr val="08377C"/>
                </a:solidFill>
                <a:latin typeface="Montserrat"/>
                <a:ea typeface="Montserrat"/>
                <a:cs typeface="Montserrat"/>
                <a:sym typeface="Montserrat"/>
              </a:rPr>
              <a:t>in Machine Learning</a:t>
            </a:r>
            <a:endParaRPr b="1" sz="6792" u="none" strike="noStrike">
              <a:solidFill>
                <a:srgbClr val="08377C"/>
              </a:solidFill>
              <a:latin typeface="Montserrat"/>
              <a:ea typeface="Montserrat"/>
              <a:cs typeface="Montserrat"/>
              <a:sym typeface="Montserrat"/>
            </a:endParaRPr>
          </a:p>
        </p:txBody>
      </p:sp>
      <p:sp>
        <p:nvSpPr>
          <p:cNvPr id="270" name="Google Shape;270;p12"/>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4">
              <a:alphaModFix/>
            </a:blip>
            <a:stretch>
              <a:fillRect b="0" l="-3961" r="-3961"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1" name="Google Shape;271;p12"/>
          <p:cNvSpPr txBox="1"/>
          <p:nvPr/>
        </p:nvSpPr>
        <p:spPr>
          <a:xfrm>
            <a:off x="14721159" y="4804810"/>
            <a:ext cx="2237609" cy="730456"/>
          </a:xfrm>
          <a:prstGeom prst="rect">
            <a:avLst/>
          </a:prstGeom>
          <a:noFill/>
          <a:ln>
            <a:noFill/>
          </a:ln>
        </p:spPr>
        <p:txBody>
          <a:bodyPr anchorCtr="0" anchor="t" bIns="0" lIns="0" spcFirstLastPara="1" rIns="0" wrap="square" tIns="0">
            <a:spAutoFit/>
          </a:bodyPr>
          <a:lstStyle/>
          <a:p>
            <a:pPr indent="0" lvl="0" marL="0" marR="0" rtl="0" algn="l">
              <a:lnSpc>
                <a:spcPct val="42789"/>
              </a:lnSpc>
              <a:spcBef>
                <a:spcPts val="0"/>
              </a:spcBef>
              <a:spcAft>
                <a:spcPts val="0"/>
              </a:spcAft>
              <a:buNone/>
            </a:pPr>
            <a:r>
              <a:rPr lang="en-US" sz="10000">
                <a:solidFill>
                  <a:schemeClr val="lt1"/>
                </a:solidFill>
                <a:latin typeface="Montserrat"/>
                <a:ea typeface="Montserrat"/>
                <a:cs typeface="Montserrat"/>
                <a:sym typeface="Montserrat"/>
              </a:rPr>
              <a:t>02</a:t>
            </a:r>
            <a:endParaRPr sz="10000">
              <a:solidFill>
                <a:schemeClr val="lt1"/>
              </a:solidFill>
              <a:latin typeface="Montserrat"/>
              <a:ea typeface="Montserrat"/>
              <a:cs typeface="Montserrat"/>
              <a:sym typeface="Montserrat"/>
            </a:endParaRPr>
          </a:p>
        </p:txBody>
      </p:sp>
    </p:spTree>
  </p:cSld>
  <p:clrMapOvr>
    <a:masterClrMapping/>
  </p:clrMapOvr>
  <p:transition spd="slow">
    <p:push/>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grpSp>
        <p:nvGrpSpPr>
          <p:cNvPr id="276" name="Google Shape;276;p13"/>
          <p:cNvGrpSpPr/>
          <p:nvPr/>
        </p:nvGrpSpPr>
        <p:grpSpPr>
          <a:xfrm>
            <a:off x="17016492" y="-180826"/>
            <a:ext cx="1271508" cy="10467826"/>
            <a:chOff x="0" y="-47625"/>
            <a:chExt cx="334883" cy="2756958"/>
          </a:xfrm>
        </p:grpSpPr>
        <p:sp>
          <p:nvSpPr>
            <p:cNvPr id="277" name="Google Shape;277;p13"/>
            <p:cNvSpPr/>
            <p:nvPr/>
          </p:nvSpPr>
          <p:spPr>
            <a:xfrm>
              <a:off x="0" y="0"/>
              <a:ext cx="334883" cy="2709333"/>
            </a:xfrm>
            <a:custGeom>
              <a:rect b="b" l="l" r="r" t="t"/>
              <a:pathLst>
                <a:path extrusionOk="0" h="2709333" w="334883">
                  <a:moveTo>
                    <a:pt x="0" y="0"/>
                  </a:moveTo>
                  <a:lnTo>
                    <a:pt x="334883" y="0"/>
                  </a:lnTo>
                  <a:lnTo>
                    <a:pt x="334883" y="2709333"/>
                  </a:lnTo>
                  <a:lnTo>
                    <a:pt x="0" y="2709333"/>
                  </a:lnTo>
                  <a:close/>
                </a:path>
              </a:pathLst>
            </a:custGeom>
            <a:solidFill>
              <a:srgbClr val="08377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8" name="Google Shape;278;p13"/>
            <p:cNvSpPr txBox="1"/>
            <p:nvPr/>
          </p:nvSpPr>
          <p:spPr>
            <a:xfrm>
              <a:off x="0" y="-47625"/>
              <a:ext cx="334883"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79" name="Google Shape;279;p13"/>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3">
              <a:alphaModFix/>
            </a:blip>
            <a:stretch>
              <a:fillRect b="0" l="-3961" r="-3961"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0" name="Google Shape;280;p13"/>
          <p:cNvSpPr txBox="1"/>
          <p:nvPr/>
        </p:nvSpPr>
        <p:spPr>
          <a:xfrm>
            <a:off x="751416" y="1565597"/>
            <a:ext cx="13269384" cy="897682"/>
          </a:xfrm>
          <a:prstGeom prst="rect">
            <a:avLst/>
          </a:prstGeom>
          <a:noFill/>
          <a:ln>
            <a:noFill/>
          </a:ln>
        </p:spPr>
        <p:txBody>
          <a:bodyPr anchorCtr="0" anchor="t" bIns="0" lIns="0" spcFirstLastPara="1" rIns="0" wrap="square" tIns="0">
            <a:spAutoFit/>
          </a:bodyPr>
          <a:lstStyle/>
          <a:p>
            <a:pPr indent="0" lvl="0" marL="0" marR="0" rtl="0" algn="l">
              <a:lnSpc>
                <a:spcPct val="120010"/>
              </a:lnSpc>
              <a:spcBef>
                <a:spcPts val="0"/>
              </a:spcBef>
              <a:spcAft>
                <a:spcPts val="0"/>
              </a:spcAft>
              <a:buNone/>
            </a:pPr>
            <a:r>
              <a:rPr b="1" lang="en-US" sz="5792">
                <a:solidFill>
                  <a:srgbClr val="08377C"/>
                </a:solidFill>
                <a:latin typeface="Montserrat"/>
                <a:ea typeface="Montserrat"/>
                <a:cs typeface="Montserrat"/>
                <a:sym typeface="Montserrat"/>
              </a:rPr>
              <a:t>Algorithm Classification</a:t>
            </a:r>
            <a:endParaRPr b="1" sz="5792">
              <a:solidFill>
                <a:srgbClr val="08377C"/>
              </a:solidFill>
              <a:latin typeface="Montserrat"/>
              <a:ea typeface="Montserrat"/>
              <a:cs typeface="Montserrat"/>
              <a:sym typeface="Montserrat"/>
            </a:endParaRPr>
          </a:p>
        </p:txBody>
      </p:sp>
      <p:sp>
        <p:nvSpPr>
          <p:cNvPr descr="Depiction of the working of kNN algorithm. | Download Scientific Diagram" id="281" name="Google Shape;281;p13"/>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Depiction of the working of kNN algorithm. | Download Scientific Diagram" id="282" name="Google Shape;282;p13"/>
          <p:cNvSpPr/>
          <p:nvPr/>
        </p:nvSpPr>
        <p:spPr>
          <a:xfrm>
            <a:off x="307975" y="7937"/>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283" name="Google Shape;283;p13"/>
          <p:cNvPicPr preferRelativeResize="0"/>
          <p:nvPr/>
        </p:nvPicPr>
        <p:blipFill rotWithShape="1">
          <a:blip r:embed="rId4">
            <a:alphaModFix/>
          </a:blip>
          <a:srcRect b="0" l="0" r="0" t="0"/>
          <a:stretch/>
        </p:blipFill>
        <p:spPr>
          <a:xfrm>
            <a:off x="460375" y="4229100"/>
            <a:ext cx="7141308" cy="3276600"/>
          </a:xfrm>
          <a:prstGeom prst="rect">
            <a:avLst/>
          </a:prstGeom>
          <a:noFill/>
          <a:ln>
            <a:noFill/>
          </a:ln>
        </p:spPr>
      </p:pic>
      <p:pic>
        <p:nvPicPr>
          <p:cNvPr id="284" name="Google Shape;284;p13"/>
          <p:cNvPicPr preferRelativeResize="0"/>
          <p:nvPr/>
        </p:nvPicPr>
        <p:blipFill rotWithShape="1">
          <a:blip r:embed="rId5">
            <a:alphaModFix/>
          </a:blip>
          <a:srcRect b="0" l="0" r="0" t="0"/>
          <a:stretch/>
        </p:blipFill>
        <p:spPr>
          <a:xfrm>
            <a:off x="9829800" y="4457700"/>
            <a:ext cx="5735778" cy="2779452"/>
          </a:xfrm>
          <a:prstGeom prst="rect">
            <a:avLst/>
          </a:prstGeom>
          <a:noFill/>
          <a:ln>
            <a:noFill/>
          </a:ln>
        </p:spPr>
      </p:pic>
      <p:sp>
        <p:nvSpPr>
          <p:cNvPr id="285" name="Google Shape;285;p13"/>
          <p:cNvSpPr txBox="1"/>
          <p:nvPr/>
        </p:nvSpPr>
        <p:spPr>
          <a:xfrm>
            <a:off x="293190" y="3438626"/>
            <a:ext cx="2754810" cy="679673"/>
          </a:xfrm>
          <a:prstGeom prst="rect">
            <a:avLst/>
          </a:prstGeom>
          <a:noFill/>
          <a:ln>
            <a:noFill/>
          </a:ln>
        </p:spPr>
        <p:txBody>
          <a:bodyPr anchorCtr="0" anchor="t" bIns="0" lIns="0" spcFirstLastPara="1" rIns="0" wrap="square" tIns="0">
            <a:spAutoFit/>
          </a:bodyPr>
          <a:lstStyle/>
          <a:p>
            <a:pPr indent="-474980" lvl="1" marL="949961" marR="0" rtl="0" algn="l">
              <a:lnSpc>
                <a:spcPct val="165000"/>
              </a:lnSpc>
              <a:spcBef>
                <a:spcPts val="0"/>
              </a:spcBef>
              <a:spcAft>
                <a:spcPts val="0"/>
              </a:spcAft>
              <a:buClr>
                <a:srgbClr val="08377C"/>
              </a:buClr>
              <a:buSzPts val="3200"/>
              <a:buFont typeface="Montserrat"/>
              <a:buAutoNum type="arabicPeriod"/>
            </a:pPr>
            <a:r>
              <a:rPr b="1" i="0" lang="en-US" sz="3200" u="none" cap="none" strike="noStrike">
                <a:solidFill>
                  <a:srgbClr val="08377C"/>
                </a:solidFill>
                <a:latin typeface="Montserrat"/>
                <a:ea typeface="Montserrat"/>
                <a:cs typeface="Montserrat"/>
                <a:sym typeface="Montserrat"/>
              </a:rPr>
              <a:t>KNN</a:t>
            </a:r>
            <a:endParaRPr b="1" i="0" sz="3200" u="none" cap="none" strike="noStrike">
              <a:solidFill>
                <a:srgbClr val="08377C"/>
              </a:solidFill>
              <a:latin typeface="Montserrat"/>
              <a:ea typeface="Montserrat"/>
              <a:cs typeface="Montserrat"/>
              <a:sym typeface="Montserrat"/>
            </a:endParaRPr>
          </a:p>
        </p:txBody>
      </p:sp>
      <p:sp>
        <p:nvSpPr>
          <p:cNvPr id="286" name="Google Shape;286;p13"/>
          <p:cNvSpPr txBox="1"/>
          <p:nvPr/>
        </p:nvSpPr>
        <p:spPr>
          <a:xfrm>
            <a:off x="9296400" y="3438626"/>
            <a:ext cx="5181600" cy="679673"/>
          </a:xfrm>
          <a:prstGeom prst="rect">
            <a:avLst/>
          </a:prstGeom>
          <a:noFill/>
          <a:ln>
            <a:noFill/>
          </a:ln>
        </p:spPr>
        <p:txBody>
          <a:bodyPr anchorCtr="0" anchor="t" bIns="0" lIns="0" spcFirstLastPara="1" rIns="0" wrap="square" tIns="0">
            <a:spAutoFit/>
          </a:bodyPr>
          <a:lstStyle/>
          <a:p>
            <a:pPr indent="0" lvl="1" marL="474981" marR="0" rtl="0" algn="l">
              <a:lnSpc>
                <a:spcPct val="165000"/>
              </a:lnSpc>
              <a:spcBef>
                <a:spcPts val="0"/>
              </a:spcBef>
              <a:spcAft>
                <a:spcPts val="0"/>
              </a:spcAft>
              <a:buNone/>
            </a:pPr>
            <a:r>
              <a:rPr b="1" i="0" lang="en-US" sz="3200" u="none" cap="none" strike="noStrike">
                <a:solidFill>
                  <a:srgbClr val="08377C"/>
                </a:solidFill>
                <a:latin typeface="Montserrat"/>
                <a:ea typeface="Montserrat"/>
                <a:cs typeface="Montserrat"/>
                <a:sym typeface="Montserrat"/>
              </a:rPr>
              <a:t>2. Decision Tree</a:t>
            </a:r>
            <a:endParaRPr b="1" i="0" sz="3200" u="none" cap="none" strike="noStrike">
              <a:solidFill>
                <a:srgbClr val="08377C"/>
              </a:solidFill>
              <a:latin typeface="Montserrat"/>
              <a:ea typeface="Montserrat"/>
              <a:cs typeface="Montserrat"/>
              <a:sym typeface="Montserrat"/>
            </a:endParaRPr>
          </a:p>
        </p:txBody>
      </p:sp>
    </p:spTree>
  </p:cSld>
  <p:clrMapOvr>
    <a:masterClrMapping/>
  </p:clrMapOvr>
  <p:transition spd="slow">
    <p:push/>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grpSp>
        <p:nvGrpSpPr>
          <p:cNvPr id="291" name="Google Shape;291;p14"/>
          <p:cNvGrpSpPr/>
          <p:nvPr/>
        </p:nvGrpSpPr>
        <p:grpSpPr>
          <a:xfrm>
            <a:off x="17016492" y="-180826"/>
            <a:ext cx="1271508" cy="10467826"/>
            <a:chOff x="0" y="-47625"/>
            <a:chExt cx="334883" cy="2756958"/>
          </a:xfrm>
        </p:grpSpPr>
        <p:sp>
          <p:nvSpPr>
            <p:cNvPr id="292" name="Google Shape;292;p14"/>
            <p:cNvSpPr/>
            <p:nvPr/>
          </p:nvSpPr>
          <p:spPr>
            <a:xfrm>
              <a:off x="0" y="0"/>
              <a:ext cx="334883" cy="2709333"/>
            </a:xfrm>
            <a:custGeom>
              <a:rect b="b" l="l" r="r" t="t"/>
              <a:pathLst>
                <a:path extrusionOk="0" h="2709333" w="334883">
                  <a:moveTo>
                    <a:pt x="0" y="0"/>
                  </a:moveTo>
                  <a:lnTo>
                    <a:pt x="334883" y="0"/>
                  </a:lnTo>
                  <a:lnTo>
                    <a:pt x="334883" y="2709333"/>
                  </a:lnTo>
                  <a:lnTo>
                    <a:pt x="0" y="2709333"/>
                  </a:lnTo>
                  <a:close/>
                </a:path>
              </a:pathLst>
            </a:custGeom>
            <a:solidFill>
              <a:srgbClr val="08377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3" name="Google Shape;293;p14"/>
            <p:cNvSpPr txBox="1"/>
            <p:nvPr/>
          </p:nvSpPr>
          <p:spPr>
            <a:xfrm>
              <a:off x="0" y="-47625"/>
              <a:ext cx="334883"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94" name="Google Shape;294;p14"/>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3">
              <a:alphaModFix/>
            </a:blip>
            <a:stretch>
              <a:fillRect b="0" l="-3961" r="-3961"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5" name="Google Shape;295;p14"/>
          <p:cNvSpPr txBox="1"/>
          <p:nvPr/>
        </p:nvSpPr>
        <p:spPr>
          <a:xfrm>
            <a:off x="751416" y="1565597"/>
            <a:ext cx="13269384" cy="897682"/>
          </a:xfrm>
          <a:prstGeom prst="rect">
            <a:avLst/>
          </a:prstGeom>
          <a:noFill/>
          <a:ln>
            <a:noFill/>
          </a:ln>
        </p:spPr>
        <p:txBody>
          <a:bodyPr anchorCtr="0" anchor="t" bIns="0" lIns="0" spcFirstLastPara="1" rIns="0" wrap="square" tIns="0">
            <a:spAutoFit/>
          </a:bodyPr>
          <a:lstStyle/>
          <a:p>
            <a:pPr indent="0" lvl="0" marL="0" marR="0" rtl="0" algn="l">
              <a:lnSpc>
                <a:spcPct val="120010"/>
              </a:lnSpc>
              <a:spcBef>
                <a:spcPts val="0"/>
              </a:spcBef>
              <a:spcAft>
                <a:spcPts val="0"/>
              </a:spcAft>
              <a:buNone/>
            </a:pPr>
            <a:r>
              <a:rPr b="1" lang="en-US" sz="5792">
                <a:solidFill>
                  <a:srgbClr val="08377C"/>
                </a:solidFill>
                <a:latin typeface="Montserrat"/>
                <a:ea typeface="Montserrat"/>
                <a:cs typeface="Montserrat"/>
                <a:sym typeface="Montserrat"/>
              </a:rPr>
              <a:t>Algorithm Classification</a:t>
            </a:r>
            <a:endParaRPr b="1" sz="5792">
              <a:solidFill>
                <a:srgbClr val="08377C"/>
              </a:solidFill>
              <a:latin typeface="Montserrat"/>
              <a:ea typeface="Montserrat"/>
              <a:cs typeface="Montserrat"/>
              <a:sym typeface="Montserrat"/>
            </a:endParaRPr>
          </a:p>
        </p:txBody>
      </p:sp>
      <p:sp>
        <p:nvSpPr>
          <p:cNvPr descr="Depiction of the working of kNN algorithm. | Download Scientific Diagram" id="296" name="Google Shape;296;p14"/>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Depiction of the working of kNN algorithm. | Download Scientific Diagram" id="297" name="Google Shape;297;p14"/>
          <p:cNvSpPr/>
          <p:nvPr/>
        </p:nvSpPr>
        <p:spPr>
          <a:xfrm>
            <a:off x="307975" y="7937"/>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8" name="Google Shape;298;p14"/>
          <p:cNvSpPr txBox="1"/>
          <p:nvPr/>
        </p:nvSpPr>
        <p:spPr>
          <a:xfrm>
            <a:off x="293190" y="3438626"/>
            <a:ext cx="7022010" cy="679673"/>
          </a:xfrm>
          <a:prstGeom prst="rect">
            <a:avLst/>
          </a:prstGeom>
          <a:noFill/>
          <a:ln>
            <a:noFill/>
          </a:ln>
        </p:spPr>
        <p:txBody>
          <a:bodyPr anchorCtr="0" anchor="t" bIns="0" lIns="0" spcFirstLastPara="1" rIns="0" wrap="square" tIns="0">
            <a:spAutoFit/>
          </a:bodyPr>
          <a:lstStyle/>
          <a:p>
            <a:pPr indent="0" lvl="1" marL="474981" marR="0" rtl="0" algn="l">
              <a:lnSpc>
                <a:spcPct val="165000"/>
              </a:lnSpc>
              <a:spcBef>
                <a:spcPts val="0"/>
              </a:spcBef>
              <a:spcAft>
                <a:spcPts val="0"/>
              </a:spcAft>
              <a:buNone/>
            </a:pPr>
            <a:r>
              <a:rPr b="1" i="0" lang="en-US" sz="3200" u="none" cap="none" strike="noStrike">
                <a:solidFill>
                  <a:srgbClr val="08377C"/>
                </a:solidFill>
                <a:latin typeface="Montserrat"/>
                <a:ea typeface="Montserrat"/>
                <a:cs typeface="Montserrat"/>
                <a:sym typeface="Montserrat"/>
              </a:rPr>
              <a:t>3. Random Forest</a:t>
            </a:r>
            <a:endParaRPr b="1" i="0" sz="3200" u="none" cap="none" strike="noStrike">
              <a:solidFill>
                <a:srgbClr val="08377C"/>
              </a:solidFill>
              <a:latin typeface="Montserrat"/>
              <a:ea typeface="Montserrat"/>
              <a:cs typeface="Montserrat"/>
              <a:sym typeface="Montserrat"/>
            </a:endParaRPr>
          </a:p>
        </p:txBody>
      </p:sp>
      <p:sp>
        <p:nvSpPr>
          <p:cNvPr id="299" name="Google Shape;299;p14"/>
          <p:cNvSpPr txBox="1"/>
          <p:nvPr/>
        </p:nvSpPr>
        <p:spPr>
          <a:xfrm>
            <a:off x="8534400" y="3438626"/>
            <a:ext cx="8596045" cy="679673"/>
          </a:xfrm>
          <a:prstGeom prst="rect">
            <a:avLst/>
          </a:prstGeom>
          <a:noFill/>
          <a:ln>
            <a:noFill/>
          </a:ln>
        </p:spPr>
        <p:txBody>
          <a:bodyPr anchorCtr="0" anchor="t" bIns="0" lIns="0" spcFirstLastPara="1" rIns="0" wrap="square" tIns="0">
            <a:spAutoFit/>
          </a:bodyPr>
          <a:lstStyle/>
          <a:p>
            <a:pPr indent="0" lvl="1" marL="474981" marR="0" rtl="0" algn="l">
              <a:lnSpc>
                <a:spcPct val="165000"/>
              </a:lnSpc>
              <a:spcBef>
                <a:spcPts val="0"/>
              </a:spcBef>
              <a:spcAft>
                <a:spcPts val="0"/>
              </a:spcAft>
              <a:buNone/>
            </a:pPr>
            <a:r>
              <a:rPr b="1" i="0" lang="en-US" sz="3200" u="none" cap="none" strike="noStrike">
                <a:solidFill>
                  <a:srgbClr val="08377C"/>
                </a:solidFill>
                <a:latin typeface="Montserrat"/>
                <a:ea typeface="Montserrat"/>
                <a:cs typeface="Montserrat"/>
                <a:sym typeface="Montserrat"/>
              </a:rPr>
              <a:t>4. Support Vector Machine (SVM)</a:t>
            </a:r>
            <a:endParaRPr b="1" i="0" sz="3200" u="none" cap="none" strike="noStrike">
              <a:solidFill>
                <a:srgbClr val="08377C"/>
              </a:solidFill>
              <a:latin typeface="Montserrat"/>
              <a:ea typeface="Montserrat"/>
              <a:cs typeface="Montserrat"/>
              <a:sym typeface="Montserrat"/>
            </a:endParaRPr>
          </a:p>
        </p:txBody>
      </p:sp>
      <p:pic>
        <p:nvPicPr>
          <p:cNvPr descr="10 Must-Know Models for ML Beginners: Random Forest | by Dagang Wei ..." id="300" name="Google Shape;300;p14"/>
          <p:cNvPicPr preferRelativeResize="0"/>
          <p:nvPr/>
        </p:nvPicPr>
        <p:blipFill rotWithShape="1">
          <a:blip r:embed="rId4">
            <a:alphaModFix/>
          </a:blip>
          <a:srcRect b="0" l="0" r="0" t="0"/>
          <a:stretch/>
        </p:blipFill>
        <p:spPr>
          <a:xfrm>
            <a:off x="247206" y="4114318"/>
            <a:ext cx="6753857" cy="4159250"/>
          </a:xfrm>
          <a:prstGeom prst="rect">
            <a:avLst/>
          </a:prstGeom>
          <a:noFill/>
          <a:ln>
            <a:noFill/>
          </a:ln>
        </p:spPr>
      </p:pic>
      <p:pic>
        <p:nvPicPr>
          <p:cNvPr descr="Image result for support vector machine" id="301" name="Google Shape;301;p14"/>
          <p:cNvPicPr preferRelativeResize="0"/>
          <p:nvPr/>
        </p:nvPicPr>
        <p:blipFill rotWithShape="1">
          <a:blip r:embed="rId5">
            <a:alphaModFix/>
          </a:blip>
          <a:srcRect b="0" l="0" r="0" t="0"/>
          <a:stretch/>
        </p:blipFill>
        <p:spPr>
          <a:xfrm>
            <a:off x="8991600" y="4304188"/>
            <a:ext cx="5322972" cy="3779510"/>
          </a:xfrm>
          <a:prstGeom prst="rect">
            <a:avLst/>
          </a:prstGeom>
          <a:noFill/>
          <a:ln>
            <a:noFill/>
          </a:ln>
        </p:spPr>
      </p:pic>
    </p:spTree>
  </p:cSld>
  <p:clrMapOvr>
    <a:masterClrMapping/>
  </p:clrMapOvr>
  <p:transition spd="slow">
    <p:push/>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grpSp>
        <p:nvGrpSpPr>
          <p:cNvPr id="306" name="Google Shape;306;p15"/>
          <p:cNvGrpSpPr/>
          <p:nvPr/>
        </p:nvGrpSpPr>
        <p:grpSpPr>
          <a:xfrm>
            <a:off x="17016492" y="-180826"/>
            <a:ext cx="1271508" cy="10467826"/>
            <a:chOff x="0" y="-47625"/>
            <a:chExt cx="334883" cy="2756958"/>
          </a:xfrm>
        </p:grpSpPr>
        <p:sp>
          <p:nvSpPr>
            <p:cNvPr id="307" name="Google Shape;307;p15"/>
            <p:cNvSpPr/>
            <p:nvPr/>
          </p:nvSpPr>
          <p:spPr>
            <a:xfrm>
              <a:off x="0" y="0"/>
              <a:ext cx="334883" cy="2709333"/>
            </a:xfrm>
            <a:custGeom>
              <a:rect b="b" l="l" r="r" t="t"/>
              <a:pathLst>
                <a:path extrusionOk="0" h="2709333" w="334883">
                  <a:moveTo>
                    <a:pt x="0" y="0"/>
                  </a:moveTo>
                  <a:lnTo>
                    <a:pt x="334883" y="0"/>
                  </a:lnTo>
                  <a:lnTo>
                    <a:pt x="334883" y="2709333"/>
                  </a:lnTo>
                  <a:lnTo>
                    <a:pt x="0" y="2709333"/>
                  </a:lnTo>
                  <a:close/>
                </a:path>
              </a:pathLst>
            </a:custGeom>
            <a:solidFill>
              <a:srgbClr val="08377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8" name="Google Shape;308;p15"/>
            <p:cNvSpPr txBox="1"/>
            <p:nvPr/>
          </p:nvSpPr>
          <p:spPr>
            <a:xfrm>
              <a:off x="0" y="-47625"/>
              <a:ext cx="334883"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09" name="Google Shape;309;p15"/>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3">
              <a:alphaModFix/>
            </a:blip>
            <a:stretch>
              <a:fillRect b="0" l="-3961" r="-3961"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0" name="Google Shape;310;p15"/>
          <p:cNvSpPr txBox="1"/>
          <p:nvPr/>
        </p:nvSpPr>
        <p:spPr>
          <a:xfrm>
            <a:off x="751416" y="1565597"/>
            <a:ext cx="13269384" cy="897682"/>
          </a:xfrm>
          <a:prstGeom prst="rect">
            <a:avLst/>
          </a:prstGeom>
          <a:noFill/>
          <a:ln>
            <a:noFill/>
          </a:ln>
        </p:spPr>
        <p:txBody>
          <a:bodyPr anchorCtr="0" anchor="t" bIns="0" lIns="0" spcFirstLastPara="1" rIns="0" wrap="square" tIns="0">
            <a:spAutoFit/>
          </a:bodyPr>
          <a:lstStyle/>
          <a:p>
            <a:pPr indent="0" lvl="0" marL="0" marR="0" rtl="0" algn="l">
              <a:lnSpc>
                <a:spcPct val="120010"/>
              </a:lnSpc>
              <a:spcBef>
                <a:spcPts val="0"/>
              </a:spcBef>
              <a:spcAft>
                <a:spcPts val="0"/>
              </a:spcAft>
              <a:buNone/>
            </a:pPr>
            <a:r>
              <a:rPr b="1" lang="en-US" sz="5792">
                <a:solidFill>
                  <a:srgbClr val="08377C"/>
                </a:solidFill>
                <a:latin typeface="Montserrat"/>
                <a:ea typeface="Montserrat"/>
                <a:cs typeface="Montserrat"/>
                <a:sym typeface="Montserrat"/>
              </a:rPr>
              <a:t>Algorithm Classification</a:t>
            </a:r>
            <a:endParaRPr b="1" sz="5792">
              <a:solidFill>
                <a:srgbClr val="08377C"/>
              </a:solidFill>
              <a:latin typeface="Montserrat"/>
              <a:ea typeface="Montserrat"/>
              <a:cs typeface="Montserrat"/>
              <a:sym typeface="Montserrat"/>
            </a:endParaRPr>
          </a:p>
        </p:txBody>
      </p:sp>
      <p:sp>
        <p:nvSpPr>
          <p:cNvPr descr="Depiction of the working of kNN algorithm. | Download Scientific Diagram" id="311" name="Google Shape;311;p15"/>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Depiction of the working of kNN algorithm. | Download Scientific Diagram" id="312" name="Google Shape;312;p15"/>
          <p:cNvSpPr/>
          <p:nvPr/>
        </p:nvSpPr>
        <p:spPr>
          <a:xfrm>
            <a:off x="307975" y="7937"/>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3" name="Google Shape;313;p15"/>
          <p:cNvSpPr txBox="1"/>
          <p:nvPr/>
        </p:nvSpPr>
        <p:spPr>
          <a:xfrm>
            <a:off x="293190" y="3438626"/>
            <a:ext cx="7022010" cy="589392"/>
          </a:xfrm>
          <a:prstGeom prst="rect">
            <a:avLst/>
          </a:prstGeom>
          <a:noFill/>
          <a:ln>
            <a:noFill/>
          </a:ln>
        </p:spPr>
        <p:txBody>
          <a:bodyPr anchorCtr="0" anchor="t" bIns="0" lIns="0" spcFirstLastPara="1" rIns="0" wrap="square" tIns="0">
            <a:spAutoFit/>
          </a:bodyPr>
          <a:lstStyle/>
          <a:p>
            <a:pPr indent="0" lvl="1" marL="474981" marR="0" rtl="0" algn="l">
              <a:lnSpc>
                <a:spcPct val="165000"/>
              </a:lnSpc>
              <a:spcBef>
                <a:spcPts val="0"/>
              </a:spcBef>
              <a:spcAft>
                <a:spcPts val="0"/>
              </a:spcAft>
              <a:buNone/>
            </a:pPr>
            <a:r>
              <a:rPr b="1" i="0" lang="en-US" sz="3200" u="none" cap="none" strike="noStrike">
                <a:solidFill>
                  <a:srgbClr val="08377C"/>
                </a:solidFill>
                <a:latin typeface="Montserrat"/>
                <a:ea typeface="Montserrat"/>
                <a:cs typeface="Montserrat"/>
                <a:sym typeface="Montserrat"/>
              </a:rPr>
              <a:t>5. Naïve Bayes</a:t>
            </a:r>
            <a:endParaRPr b="1" i="0" sz="3200" u="none" cap="none" strike="noStrike">
              <a:solidFill>
                <a:srgbClr val="08377C"/>
              </a:solidFill>
              <a:latin typeface="Montserrat"/>
              <a:ea typeface="Montserrat"/>
              <a:cs typeface="Montserrat"/>
              <a:sym typeface="Montserrat"/>
            </a:endParaRPr>
          </a:p>
        </p:txBody>
      </p:sp>
      <p:pic>
        <p:nvPicPr>
          <p:cNvPr descr="What is the Naive Bayes Algorithm? | Data Basecamp" id="314" name="Google Shape;314;p15"/>
          <p:cNvPicPr preferRelativeResize="0"/>
          <p:nvPr/>
        </p:nvPicPr>
        <p:blipFill rotWithShape="1">
          <a:blip r:embed="rId4">
            <a:alphaModFix/>
          </a:blip>
          <a:srcRect b="0" l="0" r="0" t="0"/>
          <a:stretch/>
        </p:blipFill>
        <p:spPr>
          <a:xfrm>
            <a:off x="786229" y="4305300"/>
            <a:ext cx="5352270" cy="3706491"/>
          </a:xfrm>
          <a:prstGeom prst="rect">
            <a:avLst/>
          </a:prstGeom>
          <a:noFill/>
          <a:ln>
            <a:noFill/>
          </a:ln>
        </p:spPr>
      </p:pic>
    </p:spTree>
  </p:cSld>
  <p:clrMapOvr>
    <a:masterClrMapping/>
  </p:clrMapOvr>
  <p:transition spd="slow">
    <p:push/>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grpSp>
        <p:nvGrpSpPr>
          <p:cNvPr id="320" name="Google Shape;320;p16"/>
          <p:cNvGrpSpPr/>
          <p:nvPr/>
        </p:nvGrpSpPr>
        <p:grpSpPr>
          <a:xfrm>
            <a:off x="13955786" y="-435680"/>
            <a:ext cx="4632524" cy="10996052"/>
            <a:chOff x="0" y="-47625"/>
            <a:chExt cx="1220089" cy="2896080"/>
          </a:xfrm>
        </p:grpSpPr>
        <p:sp>
          <p:nvSpPr>
            <p:cNvPr id="321" name="Google Shape;321;p16"/>
            <p:cNvSpPr/>
            <p:nvPr/>
          </p:nvSpPr>
          <p:spPr>
            <a:xfrm>
              <a:off x="0" y="0"/>
              <a:ext cx="1220089" cy="2848455"/>
            </a:xfrm>
            <a:custGeom>
              <a:rect b="b" l="l" r="r" t="t"/>
              <a:pathLst>
                <a:path extrusionOk="0" h="2848455" w="1220089">
                  <a:moveTo>
                    <a:pt x="0" y="0"/>
                  </a:moveTo>
                  <a:lnTo>
                    <a:pt x="1220089" y="0"/>
                  </a:lnTo>
                  <a:lnTo>
                    <a:pt x="1220089" y="2848455"/>
                  </a:lnTo>
                  <a:lnTo>
                    <a:pt x="0" y="2848455"/>
                  </a:lnTo>
                  <a:close/>
                </a:path>
              </a:pathLst>
            </a:custGeom>
            <a:solidFill>
              <a:srgbClr val="08377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2" name="Google Shape;322;p16"/>
            <p:cNvSpPr txBox="1"/>
            <p:nvPr/>
          </p:nvSpPr>
          <p:spPr>
            <a:xfrm>
              <a:off x="0" y="-47625"/>
              <a:ext cx="1220089" cy="289608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23" name="Google Shape;323;p16"/>
          <p:cNvSpPr/>
          <p:nvPr/>
        </p:nvSpPr>
        <p:spPr>
          <a:xfrm rot="-5400000">
            <a:off x="11952046" y="3265440"/>
            <a:ext cx="7715094" cy="3707614"/>
          </a:xfrm>
          <a:custGeom>
            <a:rect b="b" l="l" r="r" t="t"/>
            <a:pathLst>
              <a:path extrusionOk="0" h="3707614" w="7715094">
                <a:moveTo>
                  <a:pt x="0" y="0"/>
                </a:moveTo>
                <a:lnTo>
                  <a:pt x="7715094" y="0"/>
                </a:lnTo>
                <a:lnTo>
                  <a:pt x="7715094" y="3707614"/>
                </a:lnTo>
                <a:lnTo>
                  <a:pt x="0" y="3707614"/>
                </a:lnTo>
                <a:lnTo>
                  <a:pt x="0" y="0"/>
                </a:lnTo>
                <a:close/>
              </a:path>
            </a:pathLst>
          </a:custGeom>
          <a:blipFill rotWithShape="1">
            <a:blip r:embed="rId3">
              <a:alphaModFix/>
            </a:blip>
            <a:stretch>
              <a:fillRect b="0" l="0" r="0" t="-5934"/>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4" name="Google Shape;324;p16"/>
          <p:cNvSpPr txBox="1"/>
          <p:nvPr/>
        </p:nvSpPr>
        <p:spPr>
          <a:xfrm>
            <a:off x="1311647" y="4214179"/>
            <a:ext cx="8822953" cy="769441"/>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5035" u="none" strike="noStrike">
                <a:solidFill>
                  <a:srgbClr val="2A2E3A"/>
                </a:solidFill>
                <a:latin typeface="Montserrat"/>
                <a:ea typeface="Montserrat"/>
                <a:cs typeface="Montserrat"/>
                <a:sym typeface="Montserrat"/>
              </a:rPr>
              <a:t>KNN</a:t>
            </a:r>
            <a:endParaRPr b="1" sz="5035" u="none" strike="noStrike">
              <a:solidFill>
                <a:srgbClr val="2A2E3A"/>
              </a:solidFill>
              <a:latin typeface="Montserrat"/>
              <a:ea typeface="Montserrat"/>
              <a:cs typeface="Montserrat"/>
              <a:sym typeface="Montserrat"/>
            </a:endParaRPr>
          </a:p>
        </p:txBody>
      </p:sp>
      <p:sp>
        <p:nvSpPr>
          <p:cNvPr id="325" name="Google Shape;325;p16"/>
          <p:cNvSpPr txBox="1"/>
          <p:nvPr/>
        </p:nvSpPr>
        <p:spPr>
          <a:xfrm>
            <a:off x="1259652" y="5143500"/>
            <a:ext cx="10779948" cy="957634"/>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None/>
            </a:pPr>
            <a:r>
              <a:rPr b="1" lang="en-US" sz="6792">
                <a:solidFill>
                  <a:srgbClr val="08377C"/>
                </a:solidFill>
                <a:latin typeface="Montserrat"/>
                <a:ea typeface="Montserrat"/>
                <a:cs typeface="Montserrat"/>
                <a:sym typeface="Montserrat"/>
              </a:rPr>
              <a:t>in Classification</a:t>
            </a:r>
            <a:endParaRPr b="1" sz="6792" u="none" strike="noStrike">
              <a:solidFill>
                <a:srgbClr val="08377C"/>
              </a:solidFill>
              <a:latin typeface="Montserrat"/>
              <a:ea typeface="Montserrat"/>
              <a:cs typeface="Montserrat"/>
              <a:sym typeface="Montserrat"/>
            </a:endParaRPr>
          </a:p>
        </p:txBody>
      </p:sp>
      <p:sp>
        <p:nvSpPr>
          <p:cNvPr id="326" name="Google Shape;326;p16"/>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4">
              <a:alphaModFix/>
            </a:blip>
            <a:stretch>
              <a:fillRect b="0" l="-3961" r="-3961"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7" name="Google Shape;327;p16"/>
          <p:cNvSpPr txBox="1"/>
          <p:nvPr/>
        </p:nvSpPr>
        <p:spPr>
          <a:xfrm>
            <a:off x="14721159" y="4804810"/>
            <a:ext cx="2237609" cy="730456"/>
          </a:xfrm>
          <a:prstGeom prst="rect">
            <a:avLst/>
          </a:prstGeom>
          <a:noFill/>
          <a:ln>
            <a:noFill/>
          </a:ln>
        </p:spPr>
        <p:txBody>
          <a:bodyPr anchorCtr="0" anchor="t" bIns="0" lIns="0" spcFirstLastPara="1" rIns="0" wrap="square" tIns="0">
            <a:spAutoFit/>
          </a:bodyPr>
          <a:lstStyle/>
          <a:p>
            <a:pPr indent="0" lvl="0" marL="0" marR="0" rtl="0" algn="l">
              <a:lnSpc>
                <a:spcPct val="42789"/>
              </a:lnSpc>
              <a:spcBef>
                <a:spcPts val="0"/>
              </a:spcBef>
              <a:spcAft>
                <a:spcPts val="0"/>
              </a:spcAft>
              <a:buNone/>
            </a:pPr>
            <a:r>
              <a:rPr lang="en-US" sz="10000">
                <a:solidFill>
                  <a:schemeClr val="lt1"/>
                </a:solidFill>
                <a:latin typeface="Montserrat"/>
                <a:ea typeface="Montserrat"/>
                <a:cs typeface="Montserrat"/>
                <a:sym typeface="Montserrat"/>
              </a:rPr>
              <a:t>03</a:t>
            </a:r>
            <a:endParaRPr sz="10000">
              <a:solidFill>
                <a:schemeClr val="lt1"/>
              </a:solidFill>
              <a:latin typeface="Montserrat"/>
              <a:ea typeface="Montserrat"/>
              <a:cs typeface="Montserrat"/>
              <a:sym typeface="Montserrat"/>
            </a:endParaRPr>
          </a:p>
        </p:txBody>
      </p:sp>
    </p:spTree>
  </p:cSld>
  <p:clrMapOvr>
    <a:masterClrMapping/>
  </p:clrMapOvr>
  <p:transition spd="slow">
    <p:push/>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grpSp>
        <p:nvGrpSpPr>
          <p:cNvPr id="333" name="Google Shape;333;p17"/>
          <p:cNvGrpSpPr/>
          <p:nvPr/>
        </p:nvGrpSpPr>
        <p:grpSpPr>
          <a:xfrm>
            <a:off x="17016492" y="-180826"/>
            <a:ext cx="1271508" cy="10467826"/>
            <a:chOff x="0" y="-47625"/>
            <a:chExt cx="334883" cy="2756958"/>
          </a:xfrm>
        </p:grpSpPr>
        <p:sp>
          <p:nvSpPr>
            <p:cNvPr id="334" name="Google Shape;334;p17"/>
            <p:cNvSpPr/>
            <p:nvPr/>
          </p:nvSpPr>
          <p:spPr>
            <a:xfrm>
              <a:off x="0" y="0"/>
              <a:ext cx="334883" cy="2709333"/>
            </a:xfrm>
            <a:custGeom>
              <a:rect b="b" l="l" r="r" t="t"/>
              <a:pathLst>
                <a:path extrusionOk="0" h="2709333" w="334883">
                  <a:moveTo>
                    <a:pt x="0" y="0"/>
                  </a:moveTo>
                  <a:lnTo>
                    <a:pt x="334883" y="0"/>
                  </a:lnTo>
                  <a:lnTo>
                    <a:pt x="334883" y="2709333"/>
                  </a:lnTo>
                  <a:lnTo>
                    <a:pt x="0" y="2709333"/>
                  </a:lnTo>
                  <a:close/>
                </a:path>
              </a:pathLst>
            </a:custGeom>
            <a:solidFill>
              <a:srgbClr val="08377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5" name="Google Shape;335;p17"/>
            <p:cNvSpPr txBox="1"/>
            <p:nvPr/>
          </p:nvSpPr>
          <p:spPr>
            <a:xfrm>
              <a:off x="0" y="-47625"/>
              <a:ext cx="334883"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36" name="Google Shape;336;p17"/>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3">
              <a:alphaModFix/>
            </a:blip>
            <a:stretch>
              <a:fillRect b="0" l="-3961" r="-3961"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7" name="Google Shape;337;p17"/>
          <p:cNvSpPr txBox="1"/>
          <p:nvPr/>
        </p:nvSpPr>
        <p:spPr>
          <a:xfrm>
            <a:off x="17315322" y="9410922"/>
            <a:ext cx="670613" cy="689890"/>
          </a:xfrm>
          <a:prstGeom prst="rect">
            <a:avLst/>
          </a:prstGeom>
          <a:noFill/>
          <a:ln>
            <a:noFill/>
          </a:ln>
        </p:spPr>
        <p:txBody>
          <a:bodyPr anchorCtr="0" anchor="ctr" bIns="50800" lIns="50800" spcFirstLastPara="1" rIns="50800" wrap="square" tIns="50800">
            <a:noAutofit/>
          </a:bodyPr>
          <a:lstStyle/>
          <a:p>
            <a:pPr indent="0" lvl="0" marL="0" marR="0" rtl="0" algn="ctr">
              <a:lnSpc>
                <a:spcPct val="140021"/>
              </a:lnSpc>
              <a:spcBef>
                <a:spcPts val="0"/>
              </a:spcBef>
              <a:spcAft>
                <a:spcPts val="0"/>
              </a:spcAft>
              <a:buNone/>
            </a:pPr>
            <a:r>
              <a:t/>
            </a:r>
            <a:endParaRPr b="1" sz="1899">
              <a:solidFill>
                <a:srgbClr val="FDFDFD"/>
              </a:solidFill>
              <a:latin typeface="Open Sans ExtraBold"/>
              <a:ea typeface="Open Sans ExtraBold"/>
              <a:cs typeface="Open Sans ExtraBold"/>
              <a:sym typeface="Open Sans ExtraBold"/>
            </a:endParaRPr>
          </a:p>
        </p:txBody>
      </p:sp>
      <p:sp>
        <p:nvSpPr>
          <p:cNvPr id="338" name="Google Shape;338;p17"/>
          <p:cNvSpPr txBox="1"/>
          <p:nvPr/>
        </p:nvSpPr>
        <p:spPr>
          <a:xfrm>
            <a:off x="4152286" y="1328699"/>
            <a:ext cx="9983428" cy="817340"/>
          </a:xfrm>
          <a:prstGeom prst="rect">
            <a:avLst/>
          </a:prstGeom>
          <a:noFill/>
          <a:ln>
            <a:noFill/>
          </a:ln>
        </p:spPr>
        <p:txBody>
          <a:bodyPr anchorCtr="0" anchor="t" bIns="0" lIns="0" spcFirstLastPara="1" rIns="0" wrap="square" tIns="0">
            <a:spAutoFit/>
          </a:bodyPr>
          <a:lstStyle/>
          <a:p>
            <a:pPr indent="0" lvl="0" marL="0" marR="0" rtl="0" algn="ctr">
              <a:lnSpc>
                <a:spcPct val="120010"/>
              </a:lnSpc>
              <a:spcBef>
                <a:spcPts val="0"/>
              </a:spcBef>
              <a:spcAft>
                <a:spcPts val="0"/>
              </a:spcAft>
              <a:buNone/>
            </a:pPr>
            <a:r>
              <a:rPr b="1" lang="en-US" sz="5792">
                <a:solidFill>
                  <a:srgbClr val="08377C"/>
                </a:solidFill>
                <a:latin typeface="Montserrat"/>
                <a:ea typeface="Montserrat"/>
                <a:cs typeface="Montserrat"/>
                <a:sym typeface="Montserrat"/>
              </a:rPr>
              <a:t>What is KNN?</a:t>
            </a:r>
            <a:endParaRPr b="1" sz="5792">
              <a:solidFill>
                <a:srgbClr val="08377C"/>
              </a:solidFill>
              <a:latin typeface="Montserrat"/>
              <a:ea typeface="Montserrat"/>
              <a:cs typeface="Montserrat"/>
              <a:sym typeface="Montserrat"/>
            </a:endParaRPr>
          </a:p>
        </p:txBody>
      </p:sp>
      <p:pic>
        <p:nvPicPr>
          <p:cNvPr id="339" name="Google Shape;339;p17"/>
          <p:cNvPicPr preferRelativeResize="0"/>
          <p:nvPr/>
        </p:nvPicPr>
        <p:blipFill rotWithShape="1">
          <a:blip r:embed="rId4">
            <a:alphaModFix/>
          </a:blip>
          <a:srcRect b="0" l="0" r="0" t="0"/>
          <a:stretch/>
        </p:blipFill>
        <p:spPr>
          <a:xfrm>
            <a:off x="5029200" y="3086100"/>
            <a:ext cx="7971693" cy="3657600"/>
          </a:xfrm>
          <a:prstGeom prst="rect">
            <a:avLst/>
          </a:prstGeom>
          <a:noFill/>
          <a:ln>
            <a:noFill/>
          </a:ln>
        </p:spPr>
      </p:pic>
      <p:sp>
        <p:nvSpPr>
          <p:cNvPr id="340" name="Google Shape;340;p17"/>
          <p:cNvSpPr/>
          <p:nvPr/>
        </p:nvSpPr>
        <p:spPr>
          <a:xfrm>
            <a:off x="1752599" y="7353300"/>
            <a:ext cx="14961827" cy="1754326"/>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lang="en-US" sz="2400">
                <a:solidFill>
                  <a:schemeClr val="dk1"/>
                </a:solidFill>
                <a:latin typeface="Montserrat"/>
                <a:ea typeface="Montserrat"/>
                <a:cs typeface="Montserrat"/>
                <a:sym typeface="Montserrat"/>
              </a:rPr>
              <a:t>KNN (K-Nearest Neighbor) adalah salah satu </a:t>
            </a:r>
            <a:r>
              <a:rPr b="1" lang="en-US" sz="2400">
                <a:solidFill>
                  <a:schemeClr val="dk1"/>
                </a:solidFill>
                <a:latin typeface="Montserrat"/>
                <a:ea typeface="Montserrat"/>
                <a:cs typeface="Montserrat"/>
                <a:sym typeface="Montserrat"/>
              </a:rPr>
              <a:t>algoritma machine learning yang digunakan untuk melakukan klasifikasi pada data</a:t>
            </a:r>
            <a:r>
              <a:rPr lang="en-US" sz="2400">
                <a:solidFill>
                  <a:schemeClr val="dk1"/>
                </a:solidFill>
                <a:latin typeface="Montserrat"/>
                <a:ea typeface="Montserrat"/>
                <a:cs typeface="Montserrat"/>
                <a:sym typeface="Montserrat"/>
              </a:rPr>
              <a:t>. Algoritma ini bekerja berdasarkan </a:t>
            </a:r>
            <a:r>
              <a:rPr b="1" lang="en-US" sz="2400">
                <a:solidFill>
                  <a:schemeClr val="dk1"/>
                </a:solidFill>
                <a:latin typeface="Montserrat"/>
                <a:ea typeface="Montserrat"/>
                <a:cs typeface="Montserrat"/>
                <a:sym typeface="Montserrat"/>
              </a:rPr>
              <a:t>prinsip bahwa objek yang mirip cenderung berada dalam jarak yang dekat satu sama lain</a:t>
            </a:r>
            <a:r>
              <a:rPr lang="en-US" sz="2400">
                <a:solidFill>
                  <a:schemeClr val="dk1"/>
                </a:solidFill>
                <a:latin typeface="Montserrat"/>
                <a:ea typeface="Montserrat"/>
                <a:cs typeface="Montserrat"/>
                <a:sym typeface="Montserrat"/>
              </a:rPr>
              <a:t>. </a:t>
            </a:r>
            <a:endParaRPr/>
          </a:p>
        </p:txBody>
      </p:sp>
    </p:spTree>
  </p:cSld>
  <p:clrMapOvr>
    <a:masterClrMapping/>
  </p:clrMapOvr>
  <p:transition spd="slow">
    <p:push/>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grpSp>
        <p:nvGrpSpPr>
          <p:cNvPr id="346" name="Google Shape;346;p18"/>
          <p:cNvGrpSpPr/>
          <p:nvPr/>
        </p:nvGrpSpPr>
        <p:grpSpPr>
          <a:xfrm>
            <a:off x="17016492" y="-180826"/>
            <a:ext cx="1271508" cy="10467826"/>
            <a:chOff x="0" y="-47625"/>
            <a:chExt cx="334883" cy="2756958"/>
          </a:xfrm>
        </p:grpSpPr>
        <p:sp>
          <p:nvSpPr>
            <p:cNvPr id="347" name="Google Shape;347;p18"/>
            <p:cNvSpPr/>
            <p:nvPr/>
          </p:nvSpPr>
          <p:spPr>
            <a:xfrm>
              <a:off x="0" y="0"/>
              <a:ext cx="334883" cy="2709333"/>
            </a:xfrm>
            <a:custGeom>
              <a:rect b="b" l="l" r="r" t="t"/>
              <a:pathLst>
                <a:path extrusionOk="0" h="2709333" w="334883">
                  <a:moveTo>
                    <a:pt x="0" y="0"/>
                  </a:moveTo>
                  <a:lnTo>
                    <a:pt x="334883" y="0"/>
                  </a:lnTo>
                  <a:lnTo>
                    <a:pt x="334883" y="2709333"/>
                  </a:lnTo>
                  <a:lnTo>
                    <a:pt x="0" y="2709333"/>
                  </a:lnTo>
                  <a:close/>
                </a:path>
              </a:pathLst>
            </a:custGeom>
            <a:solidFill>
              <a:srgbClr val="08377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8" name="Google Shape;348;p18"/>
            <p:cNvSpPr txBox="1"/>
            <p:nvPr/>
          </p:nvSpPr>
          <p:spPr>
            <a:xfrm>
              <a:off x="0" y="-47625"/>
              <a:ext cx="334883"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49" name="Google Shape;349;p18"/>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3">
              <a:alphaModFix/>
            </a:blip>
            <a:stretch>
              <a:fillRect b="0" l="-3961" r="-3961"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0" name="Google Shape;350;p18"/>
          <p:cNvSpPr txBox="1"/>
          <p:nvPr/>
        </p:nvSpPr>
        <p:spPr>
          <a:xfrm>
            <a:off x="17315322" y="9410922"/>
            <a:ext cx="670613" cy="689890"/>
          </a:xfrm>
          <a:prstGeom prst="rect">
            <a:avLst/>
          </a:prstGeom>
          <a:noFill/>
          <a:ln>
            <a:noFill/>
          </a:ln>
        </p:spPr>
        <p:txBody>
          <a:bodyPr anchorCtr="0" anchor="ctr" bIns="50800" lIns="50800" spcFirstLastPara="1" rIns="50800" wrap="square" tIns="50800">
            <a:noAutofit/>
          </a:bodyPr>
          <a:lstStyle/>
          <a:p>
            <a:pPr indent="0" lvl="0" marL="0" marR="0" rtl="0" algn="ctr">
              <a:lnSpc>
                <a:spcPct val="140021"/>
              </a:lnSpc>
              <a:spcBef>
                <a:spcPts val="0"/>
              </a:spcBef>
              <a:spcAft>
                <a:spcPts val="0"/>
              </a:spcAft>
              <a:buNone/>
            </a:pPr>
            <a:r>
              <a:t/>
            </a:r>
            <a:endParaRPr b="1" sz="1899">
              <a:solidFill>
                <a:srgbClr val="FDFDFD"/>
              </a:solidFill>
              <a:latin typeface="Open Sans ExtraBold"/>
              <a:ea typeface="Open Sans ExtraBold"/>
              <a:cs typeface="Open Sans ExtraBold"/>
              <a:sym typeface="Open Sans ExtraBold"/>
            </a:endParaRPr>
          </a:p>
        </p:txBody>
      </p:sp>
      <p:grpSp>
        <p:nvGrpSpPr>
          <p:cNvPr id="351" name="Google Shape;351;p18"/>
          <p:cNvGrpSpPr/>
          <p:nvPr/>
        </p:nvGrpSpPr>
        <p:grpSpPr>
          <a:xfrm>
            <a:off x="-4464322" y="-101727"/>
            <a:ext cx="21264897" cy="10934832"/>
            <a:chOff x="-9188722" y="-1403415"/>
            <a:chExt cx="21264897" cy="10934832"/>
          </a:xfrm>
        </p:grpSpPr>
        <p:sp>
          <p:nvSpPr>
            <p:cNvPr id="352" name="Google Shape;352;p18"/>
            <p:cNvSpPr/>
            <p:nvPr/>
          </p:nvSpPr>
          <p:spPr>
            <a:xfrm>
              <a:off x="-9188722" y="-1403415"/>
              <a:ext cx="10934832" cy="10934832"/>
            </a:xfrm>
            <a:prstGeom prst="blockArc">
              <a:avLst>
                <a:gd fmla="val 18900000" name="adj1"/>
                <a:gd fmla="val 2700000" name="adj2"/>
                <a:gd fmla="val 198" name="adj3"/>
              </a:avLst>
            </a:prstGeom>
            <a:noFill/>
            <a:ln cap="flat" cmpd="sng" w="25400">
              <a:solidFill>
                <a:srgbClr val="3B64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8"/>
            <p:cNvSpPr/>
            <p:nvPr/>
          </p:nvSpPr>
          <p:spPr>
            <a:xfrm>
              <a:off x="650646" y="428020"/>
              <a:ext cx="11425529" cy="855715"/>
            </a:xfrm>
            <a:prstGeom prst="rect">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8"/>
            <p:cNvSpPr txBox="1"/>
            <p:nvPr/>
          </p:nvSpPr>
          <p:spPr>
            <a:xfrm>
              <a:off x="650646" y="428020"/>
              <a:ext cx="11425529" cy="855715"/>
            </a:xfrm>
            <a:prstGeom prst="rect">
              <a:avLst/>
            </a:prstGeom>
            <a:noFill/>
            <a:ln>
              <a:noFill/>
            </a:ln>
          </p:spPr>
          <p:txBody>
            <a:bodyPr anchorCtr="0" anchor="ctr" bIns="109200" lIns="679200" spcFirstLastPara="1" rIns="109200" wrap="square" tIns="109200">
              <a:noAutofit/>
            </a:bodyPr>
            <a:lstStyle/>
            <a:p>
              <a:pPr indent="0" lvl="0" marL="0" marR="0" rtl="0" algn="l">
                <a:lnSpc>
                  <a:spcPct val="90000"/>
                </a:lnSpc>
                <a:spcBef>
                  <a:spcPts val="0"/>
                </a:spcBef>
                <a:spcAft>
                  <a:spcPts val="0"/>
                </a:spcAft>
                <a:buNone/>
              </a:pPr>
              <a:r>
                <a:rPr lang="en-US" sz="4300">
                  <a:solidFill>
                    <a:schemeClr val="lt1"/>
                  </a:solidFill>
                  <a:latin typeface="Calibri"/>
                  <a:ea typeface="Calibri"/>
                  <a:cs typeface="Calibri"/>
                  <a:sym typeface="Calibri"/>
                </a:rPr>
                <a:t>Jumlah Tetangga (K)</a:t>
              </a:r>
              <a:endParaRPr sz="4300">
                <a:solidFill>
                  <a:schemeClr val="lt1"/>
                </a:solidFill>
                <a:latin typeface="Calibri"/>
                <a:ea typeface="Calibri"/>
                <a:cs typeface="Calibri"/>
                <a:sym typeface="Calibri"/>
              </a:endParaRPr>
            </a:p>
          </p:txBody>
        </p:sp>
        <p:sp>
          <p:nvSpPr>
            <p:cNvPr id="355" name="Google Shape;355;p18"/>
            <p:cNvSpPr/>
            <p:nvPr/>
          </p:nvSpPr>
          <p:spPr>
            <a:xfrm>
              <a:off x="115823" y="321056"/>
              <a:ext cx="1069644" cy="1069644"/>
            </a:xfrm>
            <a:prstGeom prst="ellipse">
              <a:avLst/>
            </a:prstGeom>
            <a:solidFill>
              <a:schemeClr val="lt1"/>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8"/>
            <p:cNvSpPr/>
            <p:nvPr/>
          </p:nvSpPr>
          <p:spPr>
            <a:xfrm>
              <a:off x="1354531" y="1711431"/>
              <a:ext cx="10721644" cy="855715"/>
            </a:xfrm>
            <a:prstGeom prst="rect">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8"/>
            <p:cNvSpPr txBox="1"/>
            <p:nvPr/>
          </p:nvSpPr>
          <p:spPr>
            <a:xfrm>
              <a:off x="1354531" y="1711431"/>
              <a:ext cx="10721644" cy="855715"/>
            </a:xfrm>
            <a:prstGeom prst="rect">
              <a:avLst/>
            </a:prstGeom>
            <a:noFill/>
            <a:ln>
              <a:noFill/>
            </a:ln>
          </p:spPr>
          <p:txBody>
            <a:bodyPr anchorCtr="0" anchor="ctr" bIns="109200" lIns="679200" spcFirstLastPara="1" rIns="109200" wrap="square" tIns="109200">
              <a:noAutofit/>
            </a:bodyPr>
            <a:lstStyle/>
            <a:p>
              <a:pPr indent="0" lvl="0" marL="0" marR="0" rtl="0" algn="l">
                <a:lnSpc>
                  <a:spcPct val="90000"/>
                </a:lnSpc>
                <a:spcBef>
                  <a:spcPts val="0"/>
                </a:spcBef>
                <a:spcAft>
                  <a:spcPts val="0"/>
                </a:spcAft>
                <a:buNone/>
              </a:pPr>
              <a:r>
                <a:rPr lang="en-US" sz="4300">
                  <a:solidFill>
                    <a:schemeClr val="lt1"/>
                  </a:solidFill>
                  <a:latin typeface="Calibri"/>
                  <a:ea typeface="Calibri"/>
                  <a:cs typeface="Calibri"/>
                  <a:sym typeface="Calibri"/>
                </a:rPr>
                <a:t>Metric Jarak</a:t>
              </a:r>
              <a:endParaRPr sz="4300">
                <a:solidFill>
                  <a:schemeClr val="lt1"/>
                </a:solidFill>
                <a:latin typeface="Calibri"/>
                <a:ea typeface="Calibri"/>
                <a:cs typeface="Calibri"/>
                <a:sym typeface="Calibri"/>
              </a:endParaRPr>
            </a:p>
          </p:txBody>
        </p:sp>
        <p:sp>
          <p:nvSpPr>
            <p:cNvPr id="358" name="Google Shape;358;p18"/>
            <p:cNvSpPr/>
            <p:nvPr/>
          </p:nvSpPr>
          <p:spPr>
            <a:xfrm>
              <a:off x="819708" y="1604467"/>
              <a:ext cx="1069644" cy="1069644"/>
            </a:xfrm>
            <a:prstGeom prst="ellipse">
              <a:avLst/>
            </a:prstGeom>
            <a:solidFill>
              <a:schemeClr val="lt1"/>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8"/>
            <p:cNvSpPr/>
            <p:nvPr/>
          </p:nvSpPr>
          <p:spPr>
            <a:xfrm>
              <a:off x="1676399" y="2994842"/>
              <a:ext cx="10399776" cy="855715"/>
            </a:xfrm>
            <a:prstGeom prst="rect">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8"/>
            <p:cNvSpPr txBox="1"/>
            <p:nvPr/>
          </p:nvSpPr>
          <p:spPr>
            <a:xfrm>
              <a:off x="1676399" y="2994842"/>
              <a:ext cx="10399776" cy="855715"/>
            </a:xfrm>
            <a:prstGeom prst="rect">
              <a:avLst/>
            </a:prstGeom>
            <a:noFill/>
            <a:ln>
              <a:noFill/>
            </a:ln>
          </p:spPr>
          <p:txBody>
            <a:bodyPr anchorCtr="0" anchor="ctr" bIns="109200" lIns="679200" spcFirstLastPara="1" rIns="109200" wrap="square" tIns="109200">
              <a:noAutofit/>
            </a:bodyPr>
            <a:lstStyle/>
            <a:p>
              <a:pPr indent="0" lvl="0" marL="0" marR="0" rtl="0" algn="l">
                <a:lnSpc>
                  <a:spcPct val="90000"/>
                </a:lnSpc>
                <a:spcBef>
                  <a:spcPts val="0"/>
                </a:spcBef>
                <a:spcAft>
                  <a:spcPts val="0"/>
                </a:spcAft>
                <a:buNone/>
              </a:pPr>
              <a:r>
                <a:rPr lang="en-US" sz="4300">
                  <a:solidFill>
                    <a:schemeClr val="lt1"/>
                  </a:solidFill>
                  <a:latin typeface="Calibri"/>
                  <a:ea typeface="Calibri"/>
                  <a:cs typeface="Calibri"/>
                  <a:sym typeface="Calibri"/>
                </a:rPr>
                <a:t>Bobot (Weights)</a:t>
              </a:r>
              <a:endParaRPr sz="4300">
                <a:solidFill>
                  <a:schemeClr val="lt1"/>
                </a:solidFill>
                <a:latin typeface="Calibri"/>
                <a:ea typeface="Calibri"/>
                <a:cs typeface="Calibri"/>
                <a:sym typeface="Calibri"/>
              </a:endParaRPr>
            </a:p>
          </p:txBody>
        </p:sp>
        <p:sp>
          <p:nvSpPr>
            <p:cNvPr id="361" name="Google Shape;361;p18"/>
            <p:cNvSpPr/>
            <p:nvPr/>
          </p:nvSpPr>
          <p:spPr>
            <a:xfrm>
              <a:off x="1141577" y="2887878"/>
              <a:ext cx="1069644" cy="1069644"/>
            </a:xfrm>
            <a:prstGeom prst="ellipse">
              <a:avLst/>
            </a:prstGeom>
            <a:solidFill>
              <a:schemeClr val="lt1"/>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8"/>
            <p:cNvSpPr/>
            <p:nvPr/>
          </p:nvSpPr>
          <p:spPr>
            <a:xfrm>
              <a:off x="1676399" y="4277441"/>
              <a:ext cx="10399776" cy="855715"/>
            </a:xfrm>
            <a:prstGeom prst="rect">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8"/>
            <p:cNvSpPr txBox="1"/>
            <p:nvPr/>
          </p:nvSpPr>
          <p:spPr>
            <a:xfrm>
              <a:off x="1676399" y="4277441"/>
              <a:ext cx="10399776" cy="855715"/>
            </a:xfrm>
            <a:prstGeom prst="rect">
              <a:avLst/>
            </a:prstGeom>
            <a:noFill/>
            <a:ln>
              <a:noFill/>
            </a:ln>
          </p:spPr>
          <p:txBody>
            <a:bodyPr anchorCtr="0" anchor="ctr" bIns="109200" lIns="679200" spcFirstLastPara="1" rIns="109200" wrap="square" tIns="109200">
              <a:noAutofit/>
            </a:bodyPr>
            <a:lstStyle/>
            <a:p>
              <a:pPr indent="0" lvl="0" marL="0" marR="0" rtl="0" algn="l">
                <a:lnSpc>
                  <a:spcPct val="90000"/>
                </a:lnSpc>
                <a:spcBef>
                  <a:spcPts val="0"/>
                </a:spcBef>
                <a:spcAft>
                  <a:spcPts val="0"/>
                </a:spcAft>
                <a:buNone/>
              </a:pPr>
              <a:r>
                <a:rPr lang="en-US" sz="4300">
                  <a:solidFill>
                    <a:schemeClr val="lt1"/>
                  </a:solidFill>
                  <a:latin typeface="Calibri"/>
                  <a:ea typeface="Calibri"/>
                  <a:cs typeface="Calibri"/>
                  <a:sym typeface="Calibri"/>
                </a:rPr>
                <a:t>Panjang Jarak (Distance Metric Parameters)</a:t>
              </a:r>
              <a:endParaRPr sz="4300">
                <a:solidFill>
                  <a:schemeClr val="lt1"/>
                </a:solidFill>
                <a:latin typeface="Calibri"/>
                <a:ea typeface="Calibri"/>
                <a:cs typeface="Calibri"/>
                <a:sym typeface="Calibri"/>
              </a:endParaRPr>
            </a:p>
          </p:txBody>
        </p:sp>
        <p:sp>
          <p:nvSpPr>
            <p:cNvPr id="364" name="Google Shape;364;p18"/>
            <p:cNvSpPr/>
            <p:nvPr/>
          </p:nvSpPr>
          <p:spPr>
            <a:xfrm>
              <a:off x="1141577" y="4170476"/>
              <a:ext cx="1069644" cy="1069644"/>
            </a:xfrm>
            <a:prstGeom prst="ellipse">
              <a:avLst/>
            </a:prstGeom>
            <a:solidFill>
              <a:schemeClr val="lt1"/>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8"/>
            <p:cNvSpPr/>
            <p:nvPr/>
          </p:nvSpPr>
          <p:spPr>
            <a:xfrm>
              <a:off x="1354531" y="5560852"/>
              <a:ext cx="10721644" cy="855715"/>
            </a:xfrm>
            <a:prstGeom prst="rect">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8"/>
            <p:cNvSpPr txBox="1"/>
            <p:nvPr/>
          </p:nvSpPr>
          <p:spPr>
            <a:xfrm>
              <a:off x="1354531" y="5560852"/>
              <a:ext cx="10721644" cy="855715"/>
            </a:xfrm>
            <a:prstGeom prst="rect">
              <a:avLst/>
            </a:prstGeom>
            <a:noFill/>
            <a:ln>
              <a:noFill/>
            </a:ln>
          </p:spPr>
          <p:txBody>
            <a:bodyPr anchorCtr="0" anchor="ctr" bIns="109200" lIns="679200" spcFirstLastPara="1" rIns="109200" wrap="square" tIns="109200">
              <a:noAutofit/>
            </a:bodyPr>
            <a:lstStyle/>
            <a:p>
              <a:pPr indent="0" lvl="0" marL="0" marR="0" rtl="0" algn="l">
                <a:lnSpc>
                  <a:spcPct val="90000"/>
                </a:lnSpc>
                <a:spcBef>
                  <a:spcPts val="0"/>
                </a:spcBef>
                <a:spcAft>
                  <a:spcPts val="0"/>
                </a:spcAft>
                <a:buNone/>
              </a:pPr>
              <a:r>
                <a:rPr lang="en-US" sz="4300">
                  <a:solidFill>
                    <a:schemeClr val="lt1"/>
                  </a:solidFill>
                  <a:latin typeface="Calibri"/>
                  <a:ea typeface="Calibri"/>
                  <a:cs typeface="Calibri"/>
                  <a:sym typeface="Calibri"/>
                </a:rPr>
                <a:t>Normalisasi Data</a:t>
              </a:r>
              <a:endParaRPr sz="4300">
                <a:solidFill>
                  <a:schemeClr val="lt1"/>
                </a:solidFill>
                <a:latin typeface="Calibri"/>
                <a:ea typeface="Calibri"/>
                <a:cs typeface="Calibri"/>
                <a:sym typeface="Calibri"/>
              </a:endParaRPr>
            </a:p>
          </p:txBody>
        </p:sp>
        <p:sp>
          <p:nvSpPr>
            <p:cNvPr id="367" name="Google Shape;367;p18"/>
            <p:cNvSpPr/>
            <p:nvPr/>
          </p:nvSpPr>
          <p:spPr>
            <a:xfrm>
              <a:off x="819708" y="5453888"/>
              <a:ext cx="1069644" cy="1069644"/>
            </a:xfrm>
            <a:prstGeom prst="ellipse">
              <a:avLst/>
            </a:prstGeom>
            <a:solidFill>
              <a:schemeClr val="lt1"/>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8"/>
            <p:cNvSpPr/>
            <p:nvPr/>
          </p:nvSpPr>
          <p:spPr>
            <a:xfrm>
              <a:off x="650646" y="6844263"/>
              <a:ext cx="11425529" cy="855715"/>
            </a:xfrm>
            <a:prstGeom prst="rect">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8"/>
            <p:cNvSpPr txBox="1"/>
            <p:nvPr/>
          </p:nvSpPr>
          <p:spPr>
            <a:xfrm>
              <a:off x="650646" y="6844263"/>
              <a:ext cx="11425529" cy="855715"/>
            </a:xfrm>
            <a:prstGeom prst="rect">
              <a:avLst/>
            </a:prstGeom>
            <a:noFill/>
            <a:ln>
              <a:noFill/>
            </a:ln>
          </p:spPr>
          <p:txBody>
            <a:bodyPr anchorCtr="0" anchor="ctr" bIns="109200" lIns="679200" spcFirstLastPara="1" rIns="109200" wrap="square" tIns="109200">
              <a:noAutofit/>
            </a:bodyPr>
            <a:lstStyle/>
            <a:p>
              <a:pPr indent="0" lvl="0" marL="0" marR="0" rtl="0" algn="l">
                <a:lnSpc>
                  <a:spcPct val="90000"/>
                </a:lnSpc>
                <a:spcBef>
                  <a:spcPts val="0"/>
                </a:spcBef>
                <a:spcAft>
                  <a:spcPts val="0"/>
                </a:spcAft>
                <a:buNone/>
              </a:pPr>
              <a:r>
                <a:rPr lang="en-US" sz="4300">
                  <a:solidFill>
                    <a:schemeClr val="lt1"/>
                  </a:solidFill>
                  <a:latin typeface="Calibri"/>
                  <a:ea typeface="Calibri"/>
                  <a:cs typeface="Calibri"/>
                  <a:sym typeface="Calibri"/>
                </a:rPr>
                <a:t>Algoritma Pencarian Tetangga</a:t>
              </a:r>
              <a:endParaRPr sz="4300">
                <a:solidFill>
                  <a:schemeClr val="lt1"/>
                </a:solidFill>
                <a:latin typeface="Calibri"/>
                <a:ea typeface="Calibri"/>
                <a:cs typeface="Calibri"/>
                <a:sym typeface="Calibri"/>
              </a:endParaRPr>
            </a:p>
          </p:txBody>
        </p:sp>
        <p:sp>
          <p:nvSpPr>
            <p:cNvPr id="370" name="Google Shape;370;p18"/>
            <p:cNvSpPr/>
            <p:nvPr/>
          </p:nvSpPr>
          <p:spPr>
            <a:xfrm>
              <a:off x="115823" y="6737299"/>
              <a:ext cx="1069644" cy="1069644"/>
            </a:xfrm>
            <a:prstGeom prst="ellipse">
              <a:avLst/>
            </a:prstGeom>
            <a:solidFill>
              <a:schemeClr val="lt1"/>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1" name="Google Shape;371;p18"/>
          <p:cNvSpPr txBox="1"/>
          <p:nvPr/>
        </p:nvSpPr>
        <p:spPr>
          <a:xfrm>
            <a:off x="914400" y="3467100"/>
            <a:ext cx="3962400" cy="373948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5400">
                <a:solidFill>
                  <a:srgbClr val="08377C"/>
                </a:solidFill>
                <a:latin typeface="Montserrat"/>
                <a:ea typeface="Montserrat"/>
                <a:cs typeface="Montserrat"/>
                <a:sym typeface="Montserrat"/>
              </a:rPr>
              <a:t>Parameter Utama KNN</a:t>
            </a:r>
            <a:endParaRPr b="1" sz="5400">
              <a:solidFill>
                <a:srgbClr val="08377C"/>
              </a:solidFill>
              <a:latin typeface="Montserrat"/>
              <a:ea typeface="Montserrat"/>
              <a:cs typeface="Montserrat"/>
              <a:sym typeface="Montserrat"/>
            </a:endParaRPr>
          </a:p>
        </p:txBody>
      </p:sp>
    </p:spTree>
  </p:cSld>
  <p:clrMapOvr>
    <a:masterClrMapping/>
  </p:clrMapOvr>
  <p:transition spd="slow">
    <p:push/>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grpSp>
        <p:nvGrpSpPr>
          <p:cNvPr id="377" name="Google Shape;377;p19"/>
          <p:cNvGrpSpPr/>
          <p:nvPr/>
        </p:nvGrpSpPr>
        <p:grpSpPr>
          <a:xfrm>
            <a:off x="15238003" y="8290589"/>
            <a:ext cx="7523780" cy="7523780"/>
            <a:chOff x="0" y="0"/>
            <a:chExt cx="812800" cy="812800"/>
          </a:xfrm>
        </p:grpSpPr>
        <p:sp>
          <p:nvSpPr>
            <p:cNvPr id="378" name="Google Shape;378;p1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29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9" name="Google Shape;379;p19"/>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80" name="Google Shape;380;p19"/>
          <p:cNvGrpSpPr/>
          <p:nvPr/>
        </p:nvGrpSpPr>
        <p:grpSpPr>
          <a:xfrm>
            <a:off x="-3724222" y="-4507687"/>
            <a:ext cx="5924489" cy="5924489"/>
            <a:chOff x="0" y="0"/>
            <a:chExt cx="812800" cy="812800"/>
          </a:xfrm>
        </p:grpSpPr>
        <p:sp>
          <p:nvSpPr>
            <p:cNvPr id="381" name="Google Shape;381;p1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29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2" name="Google Shape;382;p19"/>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83" name="Google Shape;383;p19"/>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3">
              <a:alphaModFix/>
            </a:blip>
            <a:stretch>
              <a:fillRect b="0" l="-3961" r="-3961"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4" name="Google Shape;384;p19"/>
          <p:cNvSpPr txBox="1"/>
          <p:nvPr/>
        </p:nvSpPr>
        <p:spPr>
          <a:xfrm>
            <a:off x="751417" y="1326523"/>
            <a:ext cx="17526000" cy="492443"/>
          </a:xfrm>
          <a:prstGeom prst="rect">
            <a:avLst/>
          </a:prstGeom>
          <a:noFill/>
          <a:ln>
            <a:noFill/>
          </a:ln>
        </p:spPr>
        <p:txBody>
          <a:bodyPr anchorCtr="0" anchor="t" bIns="0" lIns="0" spcFirstLastPara="1" rIns="0" wrap="square" tIns="0">
            <a:spAutoFit/>
          </a:bodyPr>
          <a:lstStyle/>
          <a:p>
            <a:pPr indent="-514350" lvl="0" marL="514350" marR="0" rtl="0" algn="l">
              <a:spcBef>
                <a:spcPts val="0"/>
              </a:spcBef>
              <a:spcAft>
                <a:spcPts val="0"/>
              </a:spcAft>
              <a:buClr>
                <a:srgbClr val="08377C"/>
              </a:buClr>
              <a:buSzPts val="3200"/>
              <a:buFont typeface="Calibri"/>
              <a:buAutoNum type="arabicPeriod"/>
            </a:pPr>
            <a:r>
              <a:rPr b="1" lang="en-US" sz="3200">
                <a:solidFill>
                  <a:srgbClr val="08377C"/>
                </a:solidFill>
                <a:latin typeface="Calibri"/>
                <a:ea typeface="Calibri"/>
                <a:cs typeface="Calibri"/>
                <a:sym typeface="Calibri"/>
              </a:rPr>
              <a:t>Jumlah Tetangga (K) atau n_neighbors (default = 5)</a:t>
            </a:r>
            <a:endParaRPr/>
          </a:p>
        </p:txBody>
      </p:sp>
      <p:sp>
        <p:nvSpPr>
          <p:cNvPr id="385" name="Google Shape;385;p19"/>
          <p:cNvSpPr/>
          <p:nvPr/>
        </p:nvSpPr>
        <p:spPr>
          <a:xfrm>
            <a:off x="1143000" y="2045156"/>
            <a:ext cx="14961827" cy="5909310"/>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50000"/>
              </a:lnSpc>
              <a:spcBef>
                <a:spcPts val="0"/>
              </a:spcBef>
              <a:spcAft>
                <a:spcPts val="0"/>
              </a:spcAft>
              <a:buClr>
                <a:schemeClr val="dk1"/>
              </a:buClr>
              <a:buSzPts val="2800"/>
              <a:buFont typeface="Arial"/>
              <a:buChar char="•"/>
            </a:pPr>
            <a:r>
              <a:rPr b="1" lang="en-US" sz="2800">
                <a:solidFill>
                  <a:schemeClr val="dk1"/>
                </a:solidFill>
                <a:latin typeface="Montserrat"/>
                <a:ea typeface="Montserrat"/>
                <a:cs typeface="Montserrat"/>
                <a:sym typeface="Montserrat"/>
              </a:rPr>
              <a:t>Nilai K Kecil:</a:t>
            </a:r>
            <a:r>
              <a:rPr lang="en-US" sz="2800">
                <a:solidFill>
                  <a:schemeClr val="dk1"/>
                </a:solidFill>
                <a:latin typeface="Montserrat"/>
                <a:ea typeface="Montserrat"/>
                <a:cs typeface="Montserrat"/>
                <a:sym typeface="Montserrat"/>
              </a:rPr>
              <a:t> </a:t>
            </a:r>
            <a:r>
              <a:rPr i="1" lang="en-US" sz="2800">
                <a:solidFill>
                  <a:srgbClr val="FF0000"/>
                </a:solidFill>
                <a:latin typeface="Montserrat"/>
                <a:ea typeface="Montserrat"/>
                <a:cs typeface="Montserrat"/>
                <a:sym typeface="Montserrat"/>
              </a:rPr>
              <a:t>Jika K terlalu kecil (misalnya, K = 1), </a:t>
            </a:r>
            <a:r>
              <a:rPr lang="en-US" sz="2800">
                <a:solidFill>
                  <a:schemeClr val="dk1"/>
                </a:solidFill>
                <a:latin typeface="Montserrat"/>
                <a:ea typeface="Montserrat"/>
                <a:cs typeface="Montserrat"/>
                <a:sym typeface="Montserrat"/>
              </a:rPr>
              <a:t>model akan sangat sensitif terhadap </a:t>
            </a:r>
            <a:r>
              <a:rPr i="1" lang="en-US" sz="2800">
                <a:solidFill>
                  <a:schemeClr val="dk1"/>
                </a:solidFill>
                <a:latin typeface="Montserrat"/>
                <a:ea typeface="Montserrat"/>
                <a:cs typeface="Montserrat"/>
                <a:sym typeface="Montserrat"/>
              </a:rPr>
              <a:t>noise</a:t>
            </a:r>
            <a:r>
              <a:rPr lang="en-US" sz="2800">
                <a:solidFill>
                  <a:schemeClr val="dk1"/>
                </a:solidFill>
                <a:latin typeface="Montserrat"/>
                <a:ea typeface="Montserrat"/>
                <a:cs typeface="Montserrat"/>
                <a:sym typeface="Montserrat"/>
              </a:rPr>
              <a:t> dan </a:t>
            </a:r>
            <a:r>
              <a:rPr i="1" lang="en-US" sz="2800">
                <a:solidFill>
                  <a:schemeClr val="dk1"/>
                </a:solidFill>
                <a:latin typeface="Montserrat"/>
                <a:ea typeface="Montserrat"/>
                <a:cs typeface="Montserrat"/>
                <a:sym typeface="Montserrat"/>
              </a:rPr>
              <a:t>outlier</a:t>
            </a:r>
            <a:r>
              <a:rPr lang="en-US" sz="2800">
                <a:solidFill>
                  <a:schemeClr val="dk1"/>
                </a:solidFill>
                <a:latin typeface="Montserrat"/>
                <a:ea typeface="Montserrat"/>
                <a:cs typeface="Montserrat"/>
                <a:sym typeface="Montserrat"/>
              </a:rPr>
              <a:t> karena hanya mempertimbangkan satu tetangga. Ini sering menyebabkan </a:t>
            </a:r>
            <a:r>
              <a:rPr i="1" lang="en-US" sz="2800">
                <a:solidFill>
                  <a:schemeClr val="dk1"/>
                </a:solidFill>
                <a:latin typeface="Montserrat"/>
                <a:ea typeface="Montserrat"/>
                <a:cs typeface="Montserrat"/>
                <a:sym typeface="Montserrat"/>
              </a:rPr>
              <a:t>overfitting</a:t>
            </a:r>
            <a:r>
              <a:rPr lang="en-US" sz="2800">
                <a:solidFill>
                  <a:schemeClr val="dk1"/>
                </a:solidFill>
                <a:latin typeface="Montserrat"/>
                <a:ea typeface="Montserrat"/>
                <a:cs typeface="Montserrat"/>
                <a:sym typeface="Montserrat"/>
              </a:rPr>
              <a:t> karena model terlalu sesuai dengan data pelatihan dan kurang mampu generalisasi pada data baru.</a:t>
            </a:r>
            <a:endParaRPr/>
          </a:p>
          <a:p>
            <a:pPr indent="0" lvl="0" marL="0" marR="0" rtl="0" algn="just">
              <a:lnSpc>
                <a:spcPct val="150000"/>
              </a:lnSpc>
              <a:spcBef>
                <a:spcPts val="0"/>
              </a:spcBef>
              <a:spcAft>
                <a:spcPts val="0"/>
              </a:spcAft>
              <a:buNone/>
            </a:pPr>
            <a:r>
              <a:t/>
            </a:r>
            <a:endParaRPr sz="2800">
              <a:solidFill>
                <a:schemeClr val="dk1"/>
              </a:solidFill>
              <a:latin typeface="Montserrat"/>
              <a:ea typeface="Montserrat"/>
              <a:cs typeface="Montserrat"/>
              <a:sym typeface="Montserrat"/>
            </a:endParaRPr>
          </a:p>
          <a:p>
            <a:pPr indent="-457200" lvl="0" marL="457200" marR="0" rtl="0" algn="just">
              <a:lnSpc>
                <a:spcPct val="150000"/>
              </a:lnSpc>
              <a:spcBef>
                <a:spcPts val="0"/>
              </a:spcBef>
              <a:spcAft>
                <a:spcPts val="0"/>
              </a:spcAft>
              <a:buClr>
                <a:schemeClr val="dk1"/>
              </a:buClr>
              <a:buSzPts val="2800"/>
              <a:buFont typeface="Arial"/>
              <a:buChar char="•"/>
            </a:pPr>
            <a:r>
              <a:rPr b="1" lang="en-US" sz="2800">
                <a:solidFill>
                  <a:schemeClr val="dk1"/>
                </a:solidFill>
                <a:latin typeface="Montserrat"/>
                <a:ea typeface="Montserrat"/>
                <a:cs typeface="Montserrat"/>
                <a:sym typeface="Montserrat"/>
              </a:rPr>
              <a:t>Nilai K Besar:</a:t>
            </a:r>
            <a:r>
              <a:rPr lang="en-US" sz="2800">
                <a:solidFill>
                  <a:schemeClr val="dk1"/>
                </a:solidFill>
                <a:latin typeface="Montserrat"/>
                <a:ea typeface="Montserrat"/>
                <a:cs typeface="Montserrat"/>
                <a:sym typeface="Montserrat"/>
              </a:rPr>
              <a:t> </a:t>
            </a:r>
            <a:r>
              <a:rPr i="1" lang="en-US" sz="2800">
                <a:solidFill>
                  <a:srgbClr val="08377C"/>
                </a:solidFill>
                <a:latin typeface="Montserrat"/>
                <a:ea typeface="Montserrat"/>
                <a:cs typeface="Montserrat"/>
                <a:sym typeface="Montserrat"/>
              </a:rPr>
              <a:t>Jika K terlalu besar (misalnya, K = 20)</a:t>
            </a:r>
            <a:r>
              <a:rPr lang="en-US" sz="2800">
                <a:solidFill>
                  <a:schemeClr val="dk1"/>
                </a:solidFill>
                <a:latin typeface="Montserrat"/>
                <a:ea typeface="Montserrat"/>
                <a:cs typeface="Montserrat"/>
                <a:sym typeface="Montserrat"/>
              </a:rPr>
              <a:t>, model akan lebih stabil dan kurang terpengaruh oleh </a:t>
            </a:r>
            <a:r>
              <a:rPr i="1" lang="en-US" sz="2800">
                <a:solidFill>
                  <a:schemeClr val="dk1"/>
                </a:solidFill>
                <a:latin typeface="Montserrat"/>
                <a:ea typeface="Montserrat"/>
                <a:cs typeface="Montserrat"/>
                <a:sym typeface="Montserrat"/>
              </a:rPr>
              <a:t>noise</a:t>
            </a:r>
            <a:r>
              <a:rPr lang="en-US" sz="2800">
                <a:solidFill>
                  <a:schemeClr val="dk1"/>
                </a:solidFill>
                <a:latin typeface="Montserrat"/>
                <a:ea typeface="Montserrat"/>
                <a:cs typeface="Montserrat"/>
                <a:sym typeface="Montserrat"/>
              </a:rPr>
              <a:t>, tetapi dapat terlalu umum (</a:t>
            </a:r>
            <a:r>
              <a:rPr i="1" lang="en-US" sz="2800">
                <a:solidFill>
                  <a:schemeClr val="dk1"/>
                </a:solidFill>
                <a:latin typeface="Montserrat"/>
                <a:ea typeface="Montserrat"/>
                <a:cs typeface="Montserrat"/>
                <a:sym typeface="Montserrat"/>
              </a:rPr>
              <a:t>underfitting</a:t>
            </a:r>
            <a:r>
              <a:rPr lang="en-US" sz="2800">
                <a:solidFill>
                  <a:schemeClr val="dk1"/>
                </a:solidFill>
                <a:latin typeface="Montserrat"/>
                <a:ea typeface="Montserrat"/>
                <a:cs typeface="Montserrat"/>
                <a:sym typeface="Montserrat"/>
              </a:rPr>
              <a:t>). Ini akan memengaruhi hasil berdasarkan tetangga yang lebih jauh dan mengabaikan detail penting dari data pelatihan.</a:t>
            </a:r>
            <a:endParaRPr/>
          </a:p>
        </p:txBody>
      </p:sp>
    </p:spTree>
  </p:cSld>
  <p:clrMapOvr>
    <a:masterClrMapping/>
  </p:clrMapOvr>
  <p:transition spd="slow">
    <p:push/>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pic>
        <p:nvPicPr>
          <p:cNvPr descr="dos-a369fe173701f0d0704d4581736a0b3d20241015142620.jpeg" id="391" name="Google Shape;391;p20"/>
          <p:cNvPicPr preferRelativeResize="0"/>
          <p:nvPr/>
        </p:nvPicPr>
        <p:blipFill rotWithShape="1">
          <a:blip r:embed="rId3">
            <a:alphaModFix/>
          </a:blip>
          <a:srcRect b="0" l="0" r="0" t="0"/>
          <a:stretch/>
        </p:blipFill>
        <p:spPr>
          <a:xfrm>
            <a:off x="10668681" y="4505482"/>
            <a:ext cx="5367710" cy="2532888"/>
          </a:xfrm>
          <a:prstGeom prst="rect">
            <a:avLst/>
          </a:prstGeom>
          <a:noFill/>
          <a:ln>
            <a:noFill/>
          </a:ln>
        </p:spPr>
      </p:pic>
      <p:grpSp>
        <p:nvGrpSpPr>
          <p:cNvPr id="392" name="Google Shape;392;p20"/>
          <p:cNvGrpSpPr/>
          <p:nvPr/>
        </p:nvGrpSpPr>
        <p:grpSpPr>
          <a:xfrm>
            <a:off x="15238003" y="8290589"/>
            <a:ext cx="7523780" cy="7523780"/>
            <a:chOff x="0" y="0"/>
            <a:chExt cx="812800" cy="812800"/>
          </a:xfrm>
        </p:grpSpPr>
        <p:sp>
          <p:nvSpPr>
            <p:cNvPr id="393" name="Google Shape;393;p2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29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4" name="Google Shape;394;p20"/>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95" name="Google Shape;395;p20"/>
          <p:cNvGrpSpPr/>
          <p:nvPr/>
        </p:nvGrpSpPr>
        <p:grpSpPr>
          <a:xfrm>
            <a:off x="-3724222" y="-4507687"/>
            <a:ext cx="5924489" cy="5924489"/>
            <a:chOff x="0" y="0"/>
            <a:chExt cx="812800" cy="812800"/>
          </a:xfrm>
        </p:grpSpPr>
        <p:sp>
          <p:nvSpPr>
            <p:cNvPr id="396" name="Google Shape;396;p2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29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7" name="Google Shape;397;p20"/>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98" name="Google Shape;398;p20"/>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4">
              <a:alphaModFix/>
            </a:blip>
            <a:stretch>
              <a:fillRect b="0" l="-3961" r="-3961"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9" name="Google Shape;399;p20"/>
          <p:cNvSpPr txBox="1"/>
          <p:nvPr/>
        </p:nvSpPr>
        <p:spPr>
          <a:xfrm>
            <a:off x="751417" y="1326523"/>
            <a:ext cx="17526000" cy="49244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200">
                <a:solidFill>
                  <a:srgbClr val="08377C"/>
                </a:solidFill>
                <a:latin typeface="Calibri"/>
                <a:ea typeface="Calibri"/>
                <a:cs typeface="Calibri"/>
                <a:sym typeface="Calibri"/>
              </a:rPr>
              <a:t>2. Metric Jarak (default = minkowski)</a:t>
            </a:r>
            <a:endParaRPr/>
          </a:p>
        </p:txBody>
      </p:sp>
      <p:sp>
        <p:nvSpPr>
          <p:cNvPr id="400" name="Google Shape;400;p20"/>
          <p:cNvSpPr/>
          <p:nvPr/>
        </p:nvSpPr>
        <p:spPr>
          <a:xfrm>
            <a:off x="1143000" y="2045156"/>
            <a:ext cx="14961827" cy="1963230"/>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50000"/>
              </a:lnSpc>
              <a:spcBef>
                <a:spcPts val="0"/>
              </a:spcBef>
              <a:spcAft>
                <a:spcPts val="0"/>
              </a:spcAft>
              <a:buClr>
                <a:schemeClr val="dk1"/>
              </a:buClr>
              <a:buSzPts val="2800"/>
              <a:buFont typeface="Arial"/>
              <a:buChar char="•"/>
            </a:pPr>
            <a:r>
              <a:rPr lang="en-US" sz="2800">
                <a:solidFill>
                  <a:schemeClr val="dk1"/>
                </a:solidFill>
                <a:latin typeface="Montserrat"/>
                <a:ea typeface="Montserrat"/>
                <a:cs typeface="Montserrat"/>
                <a:sym typeface="Montserrat"/>
              </a:rPr>
              <a:t>Metrik jarak digunakan untuk mengukur seberapa dekat atau mirip dua titik dalam ruang fitur. Metrik yang berbeda dapat mengukur jarak atau kesamaan dengan cara berbeda. Ini memengaruhi pemilihan tetangga terdekat.</a:t>
            </a:r>
            <a:endParaRPr/>
          </a:p>
        </p:txBody>
      </p:sp>
      <p:pic>
        <p:nvPicPr>
          <p:cNvPr descr="dos-c9863be676998a6770ea50ed285154c920241015141900.jpeg" id="401" name="Google Shape;401;p20"/>
          <p:cNvPicPr preferRelativeResize="0"/>
          <p:nvPr/>
        </p:nvPicPr>
        <p:blipFill rotWithShape="1">
          <a:blip r:embed="rId5">
            <a:alphaModFix/>
          </a:blip>
          <a:srcRect b="0" l="0" r="0" t="0"/>
          <a:stretch/>
        </p:blipFill>
        <p:spPr>
          <a:xfrm>
            <a:off x="765485" y="4447358"/>
            <a:ext cx="5310000" cy="2528888"/>
          </a:xfrm>
          <a:prstGeom prst="rect">
            <a:avLst/>
          </a:prstGeom>
          <a:noFill/>
          <a:ln>
            <a:noFill/>
          </a:ln>
        </p:spPr>
      </p:pic>
      <p:sp>
        <p:nvSpPr>
          <p:cNvPr id="402" name="Google Shape;402;p20"/>
          <p:cNvSpPr/>
          <p:nvPr/>
        </p:nvSpPr>
        <p:spPr>
          <a:xfrm>
            <a:off x="1637812" y="6695591"/>
            <a:ext cx="3467588" cy="501932"/>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b="1" lang="en-US" sz="2000">
                <a:solidFill>
                  <a:schemeClr val="dk1"/>
                </a:solidFill>
                <a:latin typeface="Montserrat"/>
                <a:ea typeface="Montserrat"/>
                <a:cs typeface="Montserrat"/>
                <a:sym typeface="Montserrat"/>
              </a:rPr>
              <a:t>Euclidean Distance</a:t>
            </a:r>
            <a:endParaRPr b="1" sz="2000">
              <a:solidFill>
                <a:schemeClr val="dk1"/>
              </a:solidFill>
              <a:latin typeface="Montserrat"/>
              <a:ea typeface="Montserrat"/>
              <a:cs typeface="Montserrat"/>
              <a:sym typeface="Montserrat"/>
            </a:endParaRPr>
          </a:p>
        </p:txBody>
      </p:sp>
      <p:pic>
        <p:nvPicPr>
          <p:cNvPr descr="dos-d0faaa6adf7d2a0b981d677a25d1e09820241015142536.jpeg" id="403" name="Google Shape;403;p20"/>
          <p:cNvPicPr preferRelativeResize="0"/>
          <p:nvPr/>
        </p:nvPicPr>
        <p:blipFill rotWithShape="1">
          <a:blip r:embed="rId6">
            <a:alphaModFix/>
          </a:blip>
          <a:srcRect b="0" l="0" r="0" t="0"/>
          <a:stretch/>
        </p:blipFill>
        <p:spPr>
          <a:xfrm>
            <a:off x="5562600" y="4447358"/>
            <a:ext cx="5831108" cy="2532888"/>
          </a:xfrm>
          <a:prstGeom prst="rect">
            <a:avLst/>
          </a:prstGeom>
          <a:noFill/>
          <a:ln>
            <a:noFill/>
          </a:ln>
        </p:spPr>
      </p:pic>
      <p:sp>
        <p:nvSpPr>
          <p:cNvPr id="404" name="Google Shape;404;p20"/>
          <p:cNvSpPr/>
          <p:nvPr/>
        </p:nvSpPr>
        <p:spPr>
          <a:xfrm>
            <a:off x="6744360" y="6739338"/>
            <a:ext cx="3467588" cy="553998"/>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b="1" lang="en-US" sz="2000">
                <a:solidFill>
                  <a:schemeClr val="dk1"/>
                </a:solidFill>
                <a:latin typeface="Montserrat"/>
                <a:ea typeface="Montserrat"/>
                <a:cs typeface="Montserrat"/>
                <a:sym typeface="Montserrat"/>
              </a:rPr>
              <a:t>Manhattan Distance</a:t>
            </a:r>
            <a:endParaRPr b="1" sz="2000">
              <a:solidFill>
                <a:schemeClr val="dk1"/>
              </a:solidFill>
              <a:latin typeface="Montserrat"/>
              <a:ea typeface="Montserrat"/>
              <a:cs typeface="Montserrat"/>
              <a:sym typeface="Montserrat"/>
            </a:endParaRPr>
          </a:p>
        </p:txBody>
      </p:sp>
      <p:sp>
        <p:nvSpPr>
          <p:cNvPr id="405" name="Google Shape;405;p20"/>
          <p:cNvSpPr/>
          <p:nvPr/>
        </p:nvSpPr>
        <p:spPr>
          <a:xfrm>
            <a:off x="11836089" y="6758950"/>
            <a:ext cx="3467588" cy="501932"/>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b="1" lang="en-US" sz="2000">
                <a:solidFill>
                  <a:schemeClr val="dk1"/>
                </a:solidFill>
                <a:latin typeface="Montserrat"/>
                <a:ea typeface="Montserrat"/>
                <a:cs typeface="Montserrat"/>
                <a:sym typeface="Montserrat"/>
              </a:rPr>
              <a:t>Minkowski Distance</a:t>
            </a:r>
            <a:endParaRPr b="1" sz="2000">
              <a:solidFill>
                <a:schemeClr val="dk1"/>
              </a:solidFill>
              <a:latin typeface="Montserrat"/>
              <a:ea typeface="Montserrat"/>
              <a:cs typeface="Montserrat"/>
              <a:sym typeface="Montserrat"/>
            </a:endParaRPr>
          </a:p>
        </p:txBody>
      </p:sp>
      <p:sp>
        <p:nvSpPr>
          <p:cNvPr id="406" name="Google Shape;406;p20"/>
          <p:cNvSpPr/>
          <p:nvPr/>
        </p:nvSpPr>
        <p:spPr>
          <a:xfrm>
            <a:off x="1256135" y="7365486"/>
            <a:ext cx="4306465" cy="1754326"/>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lang="en-US" sz="1800">
                <a:solidFill>
                  <a:schemeClr val="dk1"/>
                </a:solidFill>
                <a:latin typeface="Montserrat"/>
                <a:ea typeface="Montserrat"/>
                <a:cs typeface="Montserrat"/>
                <a:sym typeface="Montserrat"/>
              </a:rPr>
              <a:t>mengukur jarak garis lurus antara dua titik dalam ruang fitur. Ini adalah jenis jarak yang paling umum digunakan</a:t>
            </a:r>
            <a:endParaRPr sz="1800">
              <a:solidFill>
                <a:schemeClr val="dk1"/>
              </a:solidFill>
              <a:latin typeface="Montserrat"/>
              <a:ea typeface="Montserrat"/>
              <a:cs typeface="Montserrat"/>
              <a:sym typeface="Montserrat"/>
            </a:endParaRPr>
          </a:p>
        </p:txBody>
      </p:sp>
      <p:sp>
        <p:nvSpPr>
          <p:cNvPr id="407" name="Google Shape;407;p20"/>
          <p:cNvSpPr/>
          <p:nvPr/>
        </p:nvSpPr>
        <p:spPr>
          <a:xfrm>
            <a:off x="6362216" y="7365486"/>
            <a:ext cx="4306465" cy="1338828"/>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lang="en-US" sz="1800">
                <a:solidFill>
                  <a:schemeClr val="dk1"/>
                </a:solidFill>
                <a:latin typeface="Montserrat"/>
                <a:ea typeface="Montserrat"/>
                <a:cs typeface="Montserrat"/>
                <a:sym typeface="Montserrat"/>
              </a:rPr>
              <a:t>mengukur jarak berdasarkan jumlah perbedaan sepanjang sumbu koordinat. </a:t>
            </a:r>
            <a:endParaRPr/>
          </a:p>
        </p:txBody>
      </p:sp>
      <p:sp>
        <p:nvSpPr>
          <p:cNvPr id="408" name="Google Shape;408;p20"/>
          <p:cNvSpPr/>
          <p:nvPr/>
        </p:nvSpPr>
        <p:spPr>
          <a:xfrm>
            <a:off x="11468297" y="7365486"/>
            <a:ext cx="4306465" cy="1338828"/>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lang="en-US" sz="1800">
                <a:solidFill>
                  <a:schemeClr val="dk1"/>
                </a:solidFill>
                <a:latin typeface="Montserrat"/>
                <a:ea typeface="Montserrat"/>
                <a:cs typeface="Montserrat"/>
                <a:sym typeface="Montserrat"/>
              </a:rPr>
              <a:t>Generalisasi dari Euclidean dan Manhattan Distance yang bergantung pada parameter p. </a:t>
            </a:r>
            <a:endParaRPr/>
          </a:p>
        </p:txBody>
      </p:sp>
    </p:spTree>
  </p:cSld>
  <p:clrMapOvr>
    <a:masterClrMapping/>
  </p:clrMapOvr>
  <p:transition spd="slow">
    <p:push/>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grpSp>
        <p:nvGrpSpPr>
          <p:cNvPr id="414" name="Google Shape;414;p21"/>
          <p:cNvGrpSpPr/>
          <p:nvPr/>
        </p:nvGrpSpPr>
        <p:grpSpPr>
          <a:xfrm>
            <a:off x="15238003" y="8290589"/>
            <a:ext cx="7523780" cy="7523780"/>
            <a:chOff x="0" y="0"/>
            <a:chExt cx="812800" cy="812800"/>
          </a:xfrm>
        </p:grpSpPr>
        <p:sp>
          <p:nvSpPr>
            <p:cNvPr id="415" name="Google Shape;415;p2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29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6" name="Google Shape;416;p2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17" name="Google Shape;417;p21"/>
          <p:cNvGrpSpPr/>
          <p:nvPr/>
        </p:nvGrpSpPr>
        <p:grpSpPr>
          <a:xfrm>
            <a:off x="-3724222" y="-4507687"/>
            <a:ext cx="5924489" cy="5924489"/>
            <a:chOff x="0" y="0"/>
            <a:chExt cx="812800" cy="812800"/>
          </a:xfrm>
        </p:grpSpPr>
        <p:sp>
          <p:nvSpPr>
            <p:cNvPr id="418" name="Google Shape;418;p2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29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9" name="Google Shape;419;p2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20" name="Google Shape;420;p21"/>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3">
              <a:alphaModFix/>
            </a:blip>
            <a:stretch>
              <a:fillRect b="0" l="-3961" r="-3961"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1" name="Google Shape;421;p21"/>
          <p:cNvSpPr txBox="1"/>
          <p:nvPr/>
        </p:nvSpPr>
        <p:spPr>
          <a:xfrm>
            <a:off x="751417" y="1326523"/>
            <a:ext cx="17526000" cy="49244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200">
                <a:solidFill>
                  <a:srgbClr val="08377C"/>
                </a:solidFill>
                <a:latin typeface="Calibri"/>
                <a:ea typeface="Calibri"/>
                <a:cs typeface="Calibri"/>
                <a:sym typeface="Calibri"/>
              </a:rPr>
              <a:t>3. Bobot (</a:t>
            </a:r>
            <a:r>
              <a:rPr b="1" i="1" lang="en-US" sz="3200">
                <a:solidFill>
                  <a:srgbClr val="08377C"/>
                </a:solidFill>
                <a:latin typeface="Calibri"/>
                <a:ea typeface="Calibri"/>
                <a:cs typeface="Calibri"/>
                <a:sym typeface="Calibri"/>
              </a:rPr>
              <a:t>Weights</a:t>
            </a:r>
            <a:r>
              <a:rPr b="1" lang="en-US" sz="3200">
                <a:solidFill>
                  <a:srgbClr val="08377C"/>
                </a:solidFill>
                <a:latin typeface="Calibri"/>
                <a:ea typeface="Calibri"/>
                <a:cs typeface="Calibri"/>
                <a:sym typeface="Calibri"/>
              </a:rPr>
              <a:t>) (default = uniform)</a:t>
            </a:r>
            <a:endParaRPr b="1" sz="3200">
              <a:solidFill>
                <a:srgbClr val="08377C"/>
              </a:solidFill>
              <a:latin typeface="Calibri"/>
              <a:ea typeface="Calibri"/>
              <a:cs typeface="Calibri"/>
              <a:sym typeface="Calibri"/>
            </a:endParaRPr>
          </a:p>
        </p:txBody>
      </p:sp>
      <p:sp>
        <p:nvSpPr>
          <p:cNvPr id="422" name="Google Shape;422;p21"/>
          <p:cNvSpPr/>
          <p:nvPr/>
        </p:nvSpPr>
        <p:spPr>
          <a:xfrm>
            <a:off x="1143000" y="2045156"/>
            <a:ext cx="14961827" cy="7848302"/>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lang="en-US" sz="2800">
                <a:solidFill>
                  <a:schemeClr val="dk1"/>
                </a:solidFill>
                <a:latin typeface="Montserrat"/>
                <a:ea typeface="Montserrat"/>
                <a:cs typeface="Montserrat"/>
                <a:sym typeface="Montserrat"/>
              </a:rPr>
              <a:t>Bobot menentukan </a:t>
            </a:r>
            <a:r>
              <a:rPr b="1" lang="en-US" sz="2800" u="sng">
                <a:solidFill>
                  <a:schemeClr val="dk1"/>
                </a:solidFill>
                <a:latin typeface="Montserrat"/>
                <a:ea typeface="Montserrat"/>
                <a:cs typeface="Montserrat"/>
                <a:sym typeface="Montserrat"/>
              </a:rPr>
              <a:t>seberapa besar pengaruh setiap tetangga terdekat terhadap keputusan prediksi</a:t>
            </a:r>
            <a:r>
              <a:rPr lang="en-US" sz="2800">
                <a:solidFill>
                  <a:schemeClr val="dk1"/>
                </a:solidFill>
                <a:latin typeface="Montserrat"/>
                <a:ea typeface="Montserrat"/>
                <a:cs typeface="Montserrat"/>
                <a:sym typeface="Montserrat"/>
              </a:rPr>
              <a:t>. Bobot yang diberikan akan memengaruhi keputusan akhir pada proses pelatihan. Ada dua jenis bobot yang umum digunakan.</a:t>
            </a:r>
            <a:endParaRPr/>
          </a:p>
          <a:p>
            <a:pPr indent="-457200" lvl="0" marL="457200" marR="0" rtl="0" algn="just">
              <a:lnSpc>
                <a:spcPct val="150000"/>
              </a:lnSpc>
              <a:spcBef>
                <a:spcPts val="0"/>
              </a:spcBef>
              <a:spcAft>
                <a:spcPts val="0"/>
              </a:spcAft>
              <a:buClr>
                <a:schemeClr val="dk1"/>
              </a:buClr>
              <a:buSzPts val="2800"/>
              <a:buFont typeface="Arial"/>
              <a:buChar char="•"/>
            </a:pPr>
            <a:r>
              <a:rPr b="1" lang="en-US" sz="2800">
                <a:solidFill>
                  <a:schemeClr val="dk1"/>
                </a:solidFill>
                <a:latin typeface="Montserrat"/>
                <a:ea typeface="Montserrat"/>
                <a:cs typeface="Montserrat"/>
                <a:sym typeface="Montserrat"/>
              </a:rPr>
              <a:t>Uniform:</a:t>
            </a:r>
            <a:r>
              <a:rPr lang="en-US" sz="2800">
                <a:solidFill>
                  <a:schemeClr val="dk1"/>
                </a:solidFill>
                <a:latin typeface="Montserrat"/>
                <a:ea typeface="Montserrat"/>
                <a:cs typeface="Montserrat"/>
                <a:sym typeface="Montserrat"/>
              </a:rPr>
              <a:t> Setiap tetangga dianggap memiliki pengaruh yang sama dalam menentukan hasil prediksi. Ini berarti semua tetangga, tidak peduli seberapa dekat atau jauhnya, memberikan kontribusi yang sama terhadap keputusan akhir.</a:t>
            </a:r>
            <a:endParaRPr/>
          </a:p>
          <a:p>
            <a:pPr indent="-457200" lvl="0" marL="457200" marR="0" rtl="0" algn="just">
              <a:lnSpc>
                <a:spcPct val="150000"/>
              </a:lnSpc>
              <a:spcBef>
                <a:spcPts val="0"/>
              </a:spcBef>
              <a:spcAft>
                <a:spcPts val="0"/>
              </a:spcAft>
              <a:buClr>
                <a:schemeClr val="dk1"/>
              </a:buClr>
              <a:buSzPts val="2800"/>
              <a:buFont typeface="Arial"/>
              <a:buChar char="•"/>
            </a:pPr>
            <a:r>
              <a:rPr b="1" lang="en-US" sz="2800">
                <a:solidFill>
                  <a:schemeClr val="dk1"/>
                </a:solidFill>
                <a:latin typeface="Montserrat"/>
                <a:ea typeface="Montserrat"/>
                <a:cs typeface="Montserrat"/>
                <a:sym typeface="Montserrat"/>
              </a:rPr>
              <a:t>Distance:</a:t>
            </a:r>
            <a:r>
              <a:rPr lang="en-US" sz="2800">
                <a:solidFill>
                  <a:schemeClr val="dk1"/>
                </a:solidFill>
                <a:latin typeface="Montserrat"/>
                <a:ea typeface="Montserrat"/>
                <a:cs typeface="Montserrat"/>
                <a:sym typeface="Montserrat"/>
              </a:rPr>
              <a:t> Tetangga yang lebih dekat mendapatkan bobot lebih besar, artinya, tetangga yang lebih dekat akan memberikan kontribusi lebih signifikan terhadap keputusan prediksi. Bobot dihitung terbalik sebanding dengan jarak sehingga semakin dekat tetangga, semakin besar pengaruhnya.</a:t>
            </a:r>
            <a:endParaRPr/>
          </a:p>
        </p:txBody>
      </p:sp>
    </p:spTree>
  </p:cSld>
  <p:clrMapOvr>
    <a:masterClrMapping/>
  </p:clrMapOvr>
  <p:transition spd="slow">
    <p:push/>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grpSp>
        <p:nvGrpSpPr>
          <p:cNvPr id="428" name="Google Shape;428;p22"/>
          <p:cNvGrpSpPr/>
          <p:nvPr/>
        </p:nvGrpSpPr>
        <p:grpSpPr>
          <a:xfrm>
            <a:off x="15238003" y="8290589"/>
            <a:ext cx="7523780" cy="7523780"/>
            <a:chOff x="0" y="0"/>
            <a:chExt cx="812800" cy="812800"/>
          </a:xfrm>
        </p:grpSpPr>
        <p:sp>
          <p:nvSpPr>
            <p:cNvPr id="429" name="Google Shape;429;p2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29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0" name="Google Shape;430;p2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31" name="Google Shape;431;p22"/>
          <p:cNvGrpSpPr/>
          <p:nvPr/>
        </p:nvGrpSpPr>
        <p:grpSpPr>
          <a:xfrm>
            <a:off x="-3724222" y="-4507687"/>
            <a:ext cx="5924489" cy="5924489"/>
            <a:chOff x="0" y="0"/>
            <a:chExt cx="812800" cy="812800"/>
          </a:xfrm>
        </p:grpSpPr>
        <p:sp>
          <p:nvSpPr>
            <p:cNvPr id="432" name="Google Shape;432;p2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29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3" name="Google Shape;433;p2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34" name="Google Shape;434;p22"/>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3">
              <a:alphaModFix/>
            </a:blip>
            <a:stretch>
              <a:fillRect b="0" l="-3961" r="-3961"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5" name="Google Shape;435;p22"/>
          <p:cNvSpPr txBox="1"/>
          <p:nvPr/>
        </p:nvSpPr>
        <p:spPr>
          <a:xfrm>
            <a:off x="751417" y="1326523"/>
            <a:ext cx="17526000" cy="49244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200">
                <a:solidFill>
                  <a:srgbClr val="08377C"/>
                </a:solidFill>
                <a:latin typeface="Montserrat"/>
                <a:ea typeface="Montserrat"/>
                <a:cs typeface="Montserrat"/>
                <a:sym typeface="Montserrat"/>
              </a:rPr>
              <a:t>4. Panjang Jarak (Distance Metric Parameters)</a:t>
            </a:r>
            <a:endParaRPr b="1" sz="3200">
              <a:solidFill>
                <a:srgbClr val="08377C"/>
              </a:solidFill>
              <a:latin typeface="Montserrat"/>
              <a:ea typeface="Montserrat"/>
              <a:cs typeface="Montserrat"/>
              <a:sym typeface="Montserrat"/>
            </a:endParaRPr>
          </a:p>
        </p:txBody>
      </p:sp>
      <p:sp>
        <p:nvSpPr>
          <p:cNvPr id="436" name="Google Shape;436;p22"/>
          <p:cNvSpPr/>
          <p:nvPr/>
        </p:nvSpPr>
        <p:spPr>
          <a:xfrm>
            <a:off x="1143000" y="1764330"/>
            <a:ext cx="14961827" cy="2604816"/>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lang="en-US" sz="2800">
                <a:solidFill>
                  <a:schemeClr val="dk1"/>
                </a:solidFill>
                <a:latin typeface="Montserrat"/>
                <a:ea typeface="Montserrat"/>
                <a:cs typeface="Montserrat"/>
                <a:sym typeface="Montserrat"/>
              </a:rPr>
              <a:t>Beberapa metrik jarak menggunakan parameter tambahan untuk mengatur cara perhitungan jarak. Ini memungkinkan penyesuaian metrik jarak dengan karakteristik data. Salah satu parameter yang sering digunakan adalah parameter p (</a:t>
            </a:r>
            <a:r>
              <a:rPr i="1" lang="en-US" sz="2800">
                <a:solidFill>
                  <a:schemeClr val="dk1"/>
                </a:solidFill>
                <a:latin typeface="Montserrat"/>
                <a:ea typeface="Montserrat"/>
                <a:cs typeface="Montserrat"/>
                <a:sym typeface="Montserrat"/>
              </a:rPr>
              <a:t>power parameter</a:t>
            </a:r>
            <a:r>
              <a:rPr lang="en-US" sz="2800">
                <a:solidFill>
                  <a:schemeClr val="dk1"/>
                </a:solidFill>
                <a:latin typeface="Montserrat"/>
                <a:ea typeface="Montserrat"/>
                <a:cs typeface="Montserrat"/>
                <a:sym typeface="Montserrat"/>
              </a:rPr>
              <a:t>) dalam </a:t>
            </a:r>
            <a:r>
              <a:rPr i="1" lang="en-US" sz="2800">
                <a:solidFill>
                  <a:schemeClr val="dk1"/>
                </a:solidFill>
                <a:latin typeface="Montserrat"/>
                <a:ea typeface="Montserrat"/>
                <a:cs typeface="Montserrat"/>
                <a:sym typeface="Montserrat"/>
              </a:rPr>
              <a:t>minkowski distance.</a:t>
            </a:r>
            <a:endParaRPr sz="2800">
              <a:solidFill>
                <a:schemeClr val="dk1"/>
              </a:solidFill>
              <a:latin typeface="Montserrat"/>
              <a:ea typeface="Montserrat"/>
              <a:cs typeface="Montserrat"/>
              <a:sym typeface="Montserrat"/>
            </a:endParaRPr>
          </a:p>
        </p:txBody>
      </p:sp>
      <p:sp>
        <p:nvSpPr>
          <p:cNvPr id="437" name="Google Shape;437;p22"/>
          <p:cNvSpPr txBox="1"/>
          <p:nvPr/>
        </p:nvSpPr>
        <p:spPr>
          <a:xfrm>
            <a:off x="751417" y="4837290"/>
            <a:ext cx="17526000" cy="49244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200">
                <a:solidFill>
                  <a:srgbClr val="08377C"/>
                </a:solidFill>
                <a:latin typeface="Montserrat"/>
                <a:ea typeface="Montserrat"/>
                <a:cs typeface="Montserrat"/>
                <a:sym typeface="Montserrat"/>
              </a:rPr>
              <a:t>5. Normalisasi Data</a:t>
            </a:r>
            <a:endParaRPr b="1" sz="3200">
              <a:solidFill>
                <a:srgbClr val="08377C"/>
              </a:solidFill>
              <a:latin typeface="Montserrat"/>
              <a:ea typeface="Montserrat"/>
              <a:cs typeface="Montserrat"/>
              <a:sym typeface="Montserrat"/>
            </a:endParaRPr>
          </a:p>
        </p:txBody>
      </p:sp>
      <p:sp>
        <p:nvSpPr>
          <p:cNvPr id="438" name="Google Shape;438;p22"/>
          <p:cNvSpPr/>
          <p:nvPr/>
        </p:nvSpPr>
        <p:spPr>
          <a:xfrm>
            <a:off x="1142999" y="5284578"/>
            <a:ext cx="14961827" cy="3970318"/>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lang="en-US" sz="2800">
                <a:solidFill>
                  <a:schemeClr val="dk1"/>
                </a:solidFill>
                <a:latin typeface="Montserrat"/>
                <a:ea typeface="Montserrat"/>
                <a:cs typeface="Montserrat"/>
                <a:sym typeface="Montserrat"/>
              </a:rPr>
              <a:t>Normalisasi adalah proses menyesuaikan skala fitur sehingga fitur berada dalam rentang yang serupa agar perhitungan jarak menjadi adil, yang membantu meningkatkan akurasi model KNN.</a:t>
            </a:r>
            <a:endParaRPr/>
          </a:p>
          <a:p>
            <a:pPr indent="0" lvl="0" marL="0" marR="0" rtl="0" algn="just">
              <a:lnSpc>
                <a:spcPct val="150000"/>
              </a:lnSpc>
              <a:spcBef>
                <a:spcPts val="0"/>
              </a:spcBef>
              <a:spcAft>
                <a:spcPts val="0"/>
              </a:spcAft>
              <a:buNone/>
            </a:pPr>
            <a:r>
              <a:rPr lang="en-US" sz="2800">
                <a:solidFill>
                  <a:schemeClr val="dk1"/>
                </a:solidFill>
                <a:latin typeface="Montserrat"/>
                <a:ea typeface="Montserrat"/>
                <a:cs typeface="Montserrat"/>
                <a:sym typeface="Montserrat"/>
              </a:rPr>
              <a:t>Ada dua teknik umum normalisasi data pada algoritma KNN sebagai berikut.</a:t>
            </a:r>
            <a:endParaRPr/>
          </a:p>
          <a:p>
            <a:pPr indent="-457200" lvl="0" marL="457200" marR="0" rtl="0" algn="just">
              <a:lnSpc>
                <a:spcPct val="150000"/>
              </a:lnSpc>
              <a:spcBef>
                <a:spcPts val="0"/>
              </a:spcBef>
              <a:spcAft>
                <a:spcPts val="0"/>
              </a:spcAft>
              <a:buClr>
                <a:schemeClr val="dk1"/>
              </a:buClr>
              <a:buSzPts val="2800"/>
              <a:buFont typeface="Arial"/>
              <a:buChar char="•"/>
            </a:pPr>
            <a:r>
              <a:rPr b="1" lang="en-US" sz="2800">
                <a:solidFill>
                  <a:schemeClr val="dk1"/>
                </a:solidFill>
                <a:latin typeface="Montserrat"/>
                <a:ea typeface="Montserrat"/>
                <a:cs typeface="Montserrat"/>
                <a:sym typeface="Montserrat"/>
              </a:rPr>
              <a:t>Standardisasi</a:t>
            </a:r>
            <a:endParaRPr sz="2800">
              <a:solidFill>
                <a:schemeClr val="dk1"/>
              </a:solidFill>
              <a:latin typeface="Montserrat"/>
              <a:ea typeface="Montserrat"/>
              <a:cs typeface="Montserrat"/>
              <a:sym typeface="Montserrat"/>
            </a:endParaRPr>
          </a:p>
          <a:p>
            <a:pPr indent="-457200" lvl="0" marL="457200" marR="0" rtl="0" algn="just">
              <a:lnSpc>
                <a:spcPct val="150000"/>
              </a:lnSpc>
              <a:spcBef>
                <a:spcPts val="0"/>
              </a:spcBef>
              <a:spcAft>
                <a:spcPts val="0"/>
              </a:spcAft>
              <a:buClr>
                <a:schemeClr val="dk1"/>
              </a:buClr>
              <a:buSzPts val="2800"/>
              <a:buFont typeface="Arial"/>
              <a:buChar char="•"/>
            </a:pPr>
            <a:r>
              <a:rPr b="1" lang="en-US" sz="2800">
                <a:solidFill>
                  <a:schemeClr val="dk1"/>
                </a:solidFill>
                <a:latin typeface="Montserrat"/>
                <a:ea typeface="Montserrat"/>
                <a:cs typeface="Montserrat"/>
                <a:sym typeface="Montserrat"/>
              </a:rPr>
              <a:t>Normalisasi Min-Max</a:t>
            </a:r>
            <a:endParaRPr sz="2800">
              <a:solidFill>
                <a:schemeClr val="dk1"/>
              </a:solidFill>
              <a:latin typeface="Montserrat"/>
              <a:ea typeface="Montserrat"/>
              <a:cs typeface="Montserrat"/>
              <a:sym typeface="Montserrat"/>
            </a:endParaRPr>
          </a:p>
        </p:txBody>
      </p:sp>
    </p:spTree>
  </p:cSld>
  <p:clrMapOvr>
    <a:masterClrMapping/>
  </p:clrMapOvr>
  <p:transition spd="slow">
    <p:push/>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grpSp>
        <p:nvGrpSpPr>
          <p:cNvPr id="444" name="Google Shape;444;p23"/>
          <p:cNvGrpSpPr/>
          <p:nvPr/>
        </p:nvGrpSpPr>
        <p:grpSpPr>
          <a:xfrm>
            <a:off x="15238003" y="8290589"/>
            <a:ext cx="7523780" cy="7523780"/>
            <a:chOff x="0" y="0"/>
            <a:chExt cx="812800" cy="812800"/>
          </a:xfrm>
        </p:grpSpPr>
        <p:sp>
          <p:nvSpPr>
            <p:cNvPr id="445" name="Google Shape;445;p2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29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6" name="Google Shape;446;p23"/>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47" name="Google Shape;447;p23"/>
          <p:cNvGrpSpPr/>
          <p:nvPr/>
        </p:nvGrpSpPr>
        <p:grpSpPr>
          <a:xfrm>
            <a:off x="-3724222" y="-4507687"/>
            <a:ext cx="5924489" cy="5924489"/>
            <a:chOff x="0" y="0"/>
            <a:chExt cx="812800" cy="812800"/>
          </a:xfrm>
        </p:grpSpPr>
        <p:sp>
          <p:nvSpPr>
            <p:cNvPr id="448" name="Google Shape;448;p2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29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9" name="Google Shape;449;p23"/>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50" name="Google Shape;450;p23"/>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3">
              <a:alphaModFix/>
            </a:blip>
            <a:stretch>
              <a:fillRect b="0" l="-3961" r="-3961"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1" name="Google Shape;451;p23"/>
          <p:cNvSpPr txBox="1"/>
          <p:nvPr/>
        </p:nvSpPr>
        <p:spPr>
          <a:xfrm>
            <a:off x="751417" y="1326523"/>
            <a:ext cx="17526000" cy="49244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200">
                <a:solidFill>
                  <a:srgbClr val="08377C"/>
                </a:solidFill>
                <a:latin typeface="Montserrat"/>
                <a:ea typeface="Montserrat"/>
                <a:cs typeface="Montserrat"/>
                <a:sym typeface="Montserrat"/>
              </a:rPr>
              <a:t>5. Algoritma Pencarian Tetangga (default = auto)</a:t>
            </a:r>
            <a:endParaRPr b="1" sz="3200">
              <a:solidFill>
                <a:srgbClr val="08377C"/>
              </a:solidFill>
              <a:latin typeface="Montserrat"/>
              <a:ea typeface="Montserrat"/>
              <a:cs typeface="Montserrat"/>
              <a:sym typeface="Montserrat"/>
            </a:endParaRPr>
          </a:p>
        </p:txBody>
      </p:sp>
      <p:sp>
        <p:nvSpPr>
          <p:cNvPr id="452" name="Google Shape;452;p23"/>
          <p:cNvSpPr/>
          <p:nvPr/>
        </p:nvSpPr>
        <p:spPr>
          <a:xfrm>
            <a:off x="1143000" y="2028601"/>
            <a:ext cx="14961827" cy="590931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lang="en-US" sz="2800">
                <a:solidFill>
                  <a:schemeClr val="dk1"/>
                </a:solidFill>
                <a:latin typeface="Montserrat"/>
                <a:ea typeface="Montserrat"/>
                <a:cs typeface="Montserrat"/>
                <a:sym typeface="Montserrat"/>
              </a:rPr>
              <a:t>Memilih algoritma pencarian yang tepat dapat memengaruhi kecepatan dan efisiensi model KNN, terutama untuk dataset besar atau dengan banyak fitur.</a:t>
            </a:r>
            <a:endParaRPr/>
          </a:p>
          <a:p>
            <a:pPr indent="-457200" lvl="0" marL="457200" marR="0" rtl="0" algn="just">
              <a:lnSpc>
                <a:spcPct val="150000"/>
              </a:lnSpc>
              <a:spcBef>
                <a:spcPts val="0"/>
              </a:spcBef>
              <a:spcAft>
                <a:spcPts val="0"/>
              </a:spcAft>
              <a:buClr>
                <a:schemeClr val="dk1"/>
              </a:buClr>
              <a:buSzPts val="2800"/>
              <a:buFont typeface="Arial"/>
              <a:buChar char="•"/>
            </a:pPr>
            <a:r>
              <a:rPr b="1" lang="en-US" sz="2800">
                <a:solidFill>
                  <a:schemeClr val="dk1"/>
                </a:solidFill>
                <a:latin typeface="Montserrat"/>
                <a:ea typeface="Montserrat"/>
                <a:cs typeface="Montserrat"/>
                <a:sym typeface="Montserrat"/>
              </a:rPr>
              <a:t>Brute Force:</a:t>
            </a:r>
            <a:r>
              <a:rPr lang="en-US" sz="2800">
                <a:solidFill>
                  <a:schemeClr val="dk1"/>
                </a:solidFill>
                <a:latin typeface="Montserrat"/>
                <a:ea typeface="Montserrat"/>
                <a:cs typeface="Montserrat"/>
                <a:sym typeface="Montserrat"/>
              </a:rPr>
              <a:t> menghitung jarak antara data baru dan setiap titik dalam dataset pelatihan secara langsung. Ini bisa sangat lambat untuk dataset besar karena kompleksitas waktu yang tinggi.</a:t>
            </a:r>
            <a:endParaRPr/>
          </a:p>
          <a:p>
            <a:pPr indent="-457200" lvl="0" marL="457200" marR="0" rtl="0" algn="just">
              <a:lnSpc>
                <a:spcPct val="150000"/>
              </a:lnSpc>
              <a:spcBef>
                <a:spcPts val="0"/>
              </a:spcBef>
              <a:spcAft>
                <a:spcPts val="0"/>
              </a:spcAft>
              <a:buClr>
                <a:schemeClr val="dk1"/>
              </a:buClr>
              <a:buSzPts val="2800"/>
              <a:buFont typeface="Arial"/>
              <a:buChar char="•"/>
            </a:pPr>
            <a:r>
              <a:rPr b="1" lang="en-US" sz="2800">
                <a:solidFill>
                  <a:schemeClr val="dk1"/>
                </a:solidFill>
                <a:latin typeface="Montserrat"/>
                <a:ea typeface="Montserrat"/>
                <a:cs typeface="Montserrat"/>
                <a:sym typeface="Montserrat"/>
              </a:rPr>
              <a:t>KD-Tree:</a:t>
            </a:r>
            <a:r>
              <a:rPr lang="en-US" sz="2800">
                <a:solidFill>
                  <a:schemeClr val="dk1"/>
                </a:solidFill>
                <a:latin typeface="Montserrat"/>
                <a:ea typeface="Montserrat"/>
                <a:cs typeface="Montserrat"/>
                <a:sym typeface="Montserrat"/>
              </a:rPr>
              <a:t> struktur data untuk mempercepat pencarian tetangga terdekat.</a:t>
            </a:r>
            <a:endParaRPr/>
          </a:p>
          <a:p>
            <a:pPr indent="-457200" lvl="0" marL="457200" marR="0" rtl="0" algn="just">
              <a:lnSpc>
                <a:spcPct val="150000"/>
              </a:lnSpc>
              <a:spcBef>
                <a:spcPts val="0"/>
              </a:spcBef>
              <a:spcAft>
                <a:spcPts val="0"/>
              </a:spcAft>
              <a:buClr>
                <a:schemeClr val="dk1"/>
              </a:buClr>
              <a:buSzPts val="2800"/>
              <a:buFont typeface="Arial"/>
              <a:buChar char="•"/>
            </a:pPr>
            <a:r>
              <a:rPr b="1" lang="en-US" sz="2800">
                <a:solidFill>
                  <a:schemeClr val="dk1"/>
                </a:solidFill>
                <a:latin typeface="Montserrat"/>
                <a:ea typeface="Montserrat"/>
                <a:cs typeface="Montserrat"/>
                <a:sym typeface="Montserrat"/>
              </a:rPr>
              <a:t>Ball-Tree:</a:t>
            </a:r>
            <a:r>
              <a:rPr lang="en-US" sz="2800">
                <a:solidFill>
                  <a:schemeClr val="dk1"/>
                </a:solidFill>
                <a:latin typeface="Montserrat"/>
                <a:ea typeface="Montserrat"/>
                <a:cs typeface="Montserrat"/>
                <a:sym typeface="Montserrat"/>
              </a:rPr>
              <a:t> Struktur data yang membagi ruang fitur menggunakan volume berbasis partisi, cocok untuk data berdimensi tinggi dengan performa pencarian yang lebih baik dibandingkan KD-Tree.</a:t>
            </a:r>
            <a:endParaRPr sz="2800">
              <a:solidFill>
                <a:schemeClr val="dk1"/>
              </a:solidFill>
              <a:latin typeface="Montserrat"/>
              <a:ea typeface="Montserrat"/>
              <a:cs typeface="Montserrat"/>
              <a:sym typeface="Montserrat"/>
            </a:endParaRPr>
          </a:p>
        </p:txBody>
      </p:sp>
    </p:spTree>
  </p:cSld>
  <p:clrMapOvr>
    <a:masterClrMapping/>
  </p:clrMapOvr>
  <p:transition spd="slow">
    <p:push/>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grpSp>
        <p:nvGrpSpPr>
          <p:cNvPr id="458" name="Google Shape;458;p24"/>
          <p:cNvGrpSpPr/>
          <p:nvPr/>
        </p:nvGrpSpPr>
        <p:grpSpPr>
          <a:xfrm>
            <a:off x="17016492" y="-180826"/>
            <a:ext cx="1271508" cy="10467826"/>
            <a:chOff x="0" y="-47625"/>
            <a:chExt cx="334883" cy="2756958"/>
          </a:xfrm>
        </p:grpSpPr>
        <p:sp>
          <p:nvSpPr>
            <p:cNvPr id="459" name="Google Shape;459;p24"/>
            <p:cNvSpPr/>
            <p:nvPr/>
          </p:nvSpPr>
          <p:spPr>
            <a:xfrm>
              <a:off x="0" y="0"/>
              <a:ext cx="334883" cy="2709333"/>
            </a:xfrm>
            <a:custGeom>
              <a:rect b="b" l="l" r="r" t="t"/>
              <a:pathLst>
                <a:path extrusionOk="0" h="2709333" w="334883">
                  <a:moveTo>
                    <a:pt x="0" y="0"/>
                  </a:moveTo>
                  <a:lnTo>
                    <a:pt x="334883" y="0"/>
                  </a:lnTo>
                  <a:lnTo>
                    <a:pt x="334883" y="2709333"/>
                  </a:lnTo>
                  <a:lnTo>
                    <a:pt x="0" y="2709333"/>
                  </a:lnTo>
                  <a:close/>
                </a:path>
              </a:pathLst>
            </a:custGeom>
            <a:solidFill>
              <a:srgbClr val="08377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0" name="Google Shape;460;p24"/>
            <p:cNvSpPr txBox="1"/>
            <p:nvPr/>
          </p:nvSpPr>
          <p:spPr>
            <a:xfrm>
              <a:off x="0" y="-47625"/>
              <a:ext cx="334883"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61" name="Google Shape;461;p24"/>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3">
              <a:alphaModFix/>
            </a:blip>
            <a:stretch>
              <a:fillRect b="0" l="-3961" r="-3961"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2" name="Google Shape;462;p24"/>
          <p:cNvSpPr txBox="1"/>
          <p:nvPr/>
        </p:nvSpPr>
        <p:spPr>
          <a:xfrm>
            <a:off x="17315322" y="9410922"/>
            <a:ext cx="670613" cy="689890"/>
          </a:xfrm>
          <a:prstGeom prst="rect">
            <a:avLst/>
          </a:prstGeom>
          <a:noFill/>
          <a:ln>
            <a:noFill/>
          </a:ln>
        </p:spPr>
        <p:txBody>
          <a:bodyPr anchorCtr="0" anchor="ctr" bIns="50800" lIns="50800" spcFirstLastPara="1" rIns="50800" wrap="square" tIns="50800">
            <a:noAutofit/>
          </a:bodyPr>
          <a:lstStyle/>
          <a:p>
            <a:pPr indent="0" lvl="0" marL="0" marR="0" rtl="0" algn="ctr">
              <a:lnSpc>
                <a:spcPct val="140021"/>
              </a:lnSpc>
              <a:spcBef>
                <a:spcPts val="0"/>
              </a:spcBef>
              <a:spcAft>
                <a:spcPts val="0"/>
              </a:spcAft>
              <a:buNone/>
            </a:pPr>
            <a:r>
              <a:t/>
            </a:r>
            <a:endParaRPr b="1" sz="1899">
              <a:solidFill>
                <a:srgbClr val="FDFDFD"/>
              </a:solidFill>
              <a:latin typeface="Open Sans ExtraBold"/>
              <a:ea typeface="Open Sans ExtraBold"/>
              <a:cs typeface="Open Sans ExtraBold"/>
              <a:sym typeface="Open Sans ExtraBold"/>
            </a:endParaRPr>
          </a:p>
        </p:txBody>
      </p:sp>
      <p:sp>
        <p:nvSpPr>
          <p:cNvPr id="463" name="Google Shape;463;p24"/>
          <p:cNvSpPr txBox="1"/>
          <p:nvPr/>
        </p:nvSpPr>
        <p:spPr>
          <a:xfrm>
            <a:off x="4152286" y="1328699"/>
            <a:ext cx="9983428" cy="897682"/>
          </a:xfrm>
          <a:prstGeom prst="rect">
            <a:avLst/>
          </a:prstGeom>
          <a:noFill/>
          <a:ln>
            <a:noFill/>
          </a:ln>
        </p:spPr>
        <p:txBody>
          <a:bodyPr anchorCtr="0" anchor="t" bIns="0" lIns="0" spcFirstLastPara="1" rIns="0" wrap="square" tIns="0">
            <a:spAutoFit/>
          </a:bodyPr>
          <a:lstStyle/>
          <a:p>
            <a:pPr indent="0" lvl="0" marL="0" marR="0" rtl="0" algn="ctr">
              <a:lnSpc>
                <a:spcPct val="120010"/>
              </a:lnSpc>
              <a:spcBef>
                <a:spcPts val="0"/>
              </a:spcBef>
              <a:spcAft>
                <a:spcPts val="0"/>
              </a:spcAft>
              <a:buNone/>
            </a:pPr>
            <a:r>
              <a:rPr b="1" lang="en-US" sz="5792">
                <a:solidFill>
                  <a:srgbClr val="08377C"/>
                </a:solidFill>
                <a:latin typeface="Montserrat"/>
                <a:ea typeface="Montserrat"/>
                <a:cs typeface="Montserrat"/>
                <a:sym typeface="Montserrat"/>
              </a:rPr>
              <a:t>Cara Kerja KNN?</a:t>
            </a:r>
            <a:endParaRPr b="1" sz="5792">
              <a:solidFill>
                <a:srgbClr val="08377C"/>
              </a:solidFill>
              <a:latin typeface="Montserrat"/>
              <a:ea typeface="Montserrat"/>
              <a:cs typeface="Montserrat"/>
              <a:sym typeface="Montserrat"/>
            </a:endParaRPr>
          </a:p>
        </p:txBody>
      </p:sp>
      <p:pic>
        <p:nvPicPr>
          <p:cNvPr descr="dos-2d4c20e4889463df266e8e32368b1fd320241015141900.jpeg" id="464" name="Google Shape;464;p24"/>
          <p:cNvPicPr preferRelativeResize="0"/>
          <p:nvPr/>
        </p:nvPicPr>
        <p:blipFill rotWithShape="1">
          <a:blip r:embed="rId4">
            <a:alphaModFix/>
          </a:blip>
          <a:srcRect b="0" l="0" r="0" t="19539"/>
          <a:stretch/>
        </p:blipFill>
        <p:spPr>
          <a:xfrm>
            <a:off x="1905000" y="2933700"/>
            <a:ext cx="12945267" cy="5943600"/>
          </a:xfrm>
          <a:prstGeom prst="rect">
            <a:avLst/>
          </a:prstGeom>
          <a:noFill/>
          <a:ln>
            <a:noFill/>
          </a:ln>
        </p:spPr>
      </p:pic>
    </p:spTree>
  </p:cSld>
  <p:clrMapOvr>
    <a:masterClrMapping/>
  </p:clrMapOvr>
  <p:transition spd="slow">
    <p:push/>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grpSp>
        <p:nvGrpSpPr>
          <p:cNvPr id="470" name="Google Shape;470;p25"/>
          <p:cNvGrpSpPr/>
          <p:nvPr/>
        </p:nvGrpSpPr>
        <p:grpSpPr>
          <a:xfrm>
            <a:off x="17016492" y="-180826"/>
            <a:ext cx="1271508" cy="10467826"/>
            <a:chOff x="0" y="-47625"/>
            <a:chExt cx="334883" cy="2756958"/>
          </a:xfrm>
        </p:grpSpPr>
        <p:sp>
          <p:nvSpPr>
            <p:cNvPr id="471" name="Google Shape;471;p25"/>
            <p:cNvSpPr/>
            <p:nvPr/>
          </p:nvSpPr>
          <p:spPr>
            <a:xfrm>
              <a:off x="0" y="0"/>
              <a:ext cx="334883" cy="2709333"/>
            </a:xfrm>
            <a:custGeom>
              <a:rect b="b" l="l" r="r" t="t"/>
              <a:pathLst>
                <a:path extrusionOk="0" h="2709333" w="334883">
                  <a:moveTo>
                    <a:pt x="0" y="0"/>
                  </a:moveTo>
                  <a:lnTo>
                    <a:pt x="334883" y="0"/>
                  </a:lnTo>
                  <a:lnTo>
                    <a:pt x="334883" y="2709333"/>
                  </a:lnTo>
                  <a:lnTo>
                    <a:pt x="0" y="2709333"/>
                  </a:lnTo>
                  <a:close/>
                </a:path>
              </a:pathLst>
            </a:custGeom>
            <a:solidFill>
              <a:srgbClr val="08377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2" name="Google Shape;472;p25"/>
            <p:cNvSpPr txBox="1"/>
            <p:nvPr/>
          </p:nvSpPr>
          <p:spPr>
            <a:xfrm>
              <a:off x="0" y="-47625"/>
              <a:ext cx="334883"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73" name="Google Shape;473;p25"/>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3">
              <a:alphaModFix/>
            </a:blip>
            <a:stretch>
              <a:fillRect b="0" l="-3961" r="-3961"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4" name="Google Shape;474;p25"/>
          <p:cNvSpPr txBox="1"/>
          <p:nvPr/>
        </p:nvSpPr>
        <p:spPr>
          <a:xfrm>
            <a:off x="17315322" y="9410922"/>
            <a:ext cx="670613" cy="689890"/>
          </a:xfrm>
          <a:prstGeom prst="rect">
            <a:avLst/>
          </a:prstGeom>
          <a:noFill/>
          <a:ln>
            <a:noFill/>
          </a:ln>
        </p:spPr>
        <p:txBody>
          <a:bodyPr anchorCtr="0" anchor="ctr" bIns="50800" lIns="50800" spcFirstLastPara="1" rIns="50800" wrap="square" tIns="50800">
            <a:noAutofit/>
          </a:bodyPr>
          <a:lstStyle/>
          <a:p>
            <a:pPr indent="0" lvl="0" marL="0" marR="0" rtl="0" algn="ctr">
              <a:lnSpc>
                <a:spcPct val="140021"/>
              </a:lnSpc>
              <a:spcBef>
                <a:spcPts val="0"/>
              </a:spcBef>
              <a:spcAft>
                <a:spcPts val="0"/>
              </a:spcAft>
              <a:buNone/>
            </a:pPr>
            <a:r>
              <a:t/>
            </a:r>
            <a:endParaRPr b="1" sz="1899">
              <a:solidFill>
                <a:srgbClr val="FDFDFD"/>
              </a:solidFill>
              <a:latin typeface="Open Sans ExtraBold"/>
              <a:ea typeface="Open Sans ExtraBold"/>
              <a:cs typeface="Open Sans ExtraBold"/>
              <a:sym typeface="Open Sans ExtraBold"/>
            </a:endParaRPr>
          </a:p>
        </p:txBody>
      </p:sp>
      <p:sp>
        <p:nvSpPr>
          <p:cNvPr id="475" name="Google Shape;475;p25"/>
          <p:cNvSpPr txBox="1"/>
          <p:nvPr/>
        </p:nvSpPr>
        <p:spPr>
          <a:xfrm>
            <a:off x="4152286" y="1328699"/>
            <a:ext cx="9983428" cy="897682"/>
          </a:xfrm>
          <a:prstGeom prst="rect">
            <a:avLst/>
          </a:prstGeom>
          <a:noFill/>
          <a:ln>
            <a:noFill/>
          </a:ln>
        </p:spPr>
        <p:txBody>
          <a:bodyPr anchorCtr="0" anchor="t" bIns="0" lIns="0" spcFirstLastPara="1" rIns="0" wrap="square" tIns="0">
            <a:spAutoFit/>
          </a:bodyPr>
          <a:lstStyle/>
          <a:p>
            <a:pPr indent="0" lvl="0" marL="0" marR="0" rtl="0" algn="ctr">
              <a:lnSpc>
                <a:spcPct val="120010"/>
              </a:lnSpc>
              <a:spcBef>
                <a:spcPts val="0"/>
              </a:spcBef>
              <a:spcAft>
                <a:spcPts val="0"/>
              </a:spcAft>
              <a:buNone/>
            </a:pPr>
            <a:r>
              <a:rPr b="1" lang="en-US" sz="5792">
                <a:solidFill>
                  <a:srgbClr val="08377C"/>
                </a:solidFill>
                <a:latin typeface="Montserrat"/>
                <a:ea typeface="Montserrat"/>
                <a:cs typeface="Montserrat"/>
                <a:sym typeface="Montserrat"/>
              </a:rPr>
              <a:t>Cara Kerja KNN?</a:t>
            </a:r>
            <a:endParaRPr b="1" sz="5792">
              <a:solidFill>
                <a:srgbClr val="08377C"/>
              </a:solidFill>
              <a:latin typeface="Montserrat"/>
              <a:ea typeface="Montserrat"/>
              <a:cs typeface="Montserrat"/>
              <a:sym typeface="Montserrat"/>
            </a:endParaRPr>
          </a:p>
        </p:txBody>
      </p:sp>
      <p:pic>
        <p:nvPicPr>
          <p:cNvPr descr="dos-2d4c20e4889463df266e8e32368b1fd320241015141900.jpeg" id="476" name="Google Shape;476;p25"/>
          <p:cNvPicPr preferRelativeResize="0"/>
          <p:nvPr/>
        </p:nvPicPr>
        <p:blipFill rotWithShape="1">
          <a:blip r:embed="rId4">
            <a:alphaModFix/>
          </a:blip>
          <a:srcRect b="0" l="0" r="0" t="19539"/>
          <a:stretch/>
        </p:blipFill>
        <p:spPr>
          <a:xfrm>
            <a:off x="1908879" y="3156488"/>
            <a:ext cx="5867400" cy="2693917"/>
          </a:xfrm>
          <a:prstGeom prst="rect">
            <a:avLst/>
          </a:prstGeom>
          <a:noFill/>
          <a:ln>
            <a:noFill/>
          </a:ln>
        </p:spPr>
      </p:pic>
      <p:pic>
        <p:nvPicPr>
          <p:cNvPr descr="dos-08b36051633c21ba24c38e8001b3c73d20241015141900.jpeg" id="477" name="Google Shape;477;p25"/>
          <p:cNvPicPr preferRelativeResize="0"/>
          <p:nvPr/>
        </p:nvPicPr>
        <p:blipFill rotWithShape="1">
          <a:blip r:embed="rId5">
            <a:alphaModFix/>
          </a:blip>
          <a:srcRect b="0" l="15978" r="17021" t="0"/>
          <a:stretch/>
        </p:blipFill>
        <p:spPr>
          <a:xfrm>
            <a:off x="8458200" y="3476033"/>
            <a:ext cx="5122593" cy="6761632"/>
          </a:xfrm>
          <a:prstGeom prst="rect">
            <a:avLst/>
          </a:prstGeom>
          <a:noFill/>
          <a:ln>
            <a:noFill/>
          </a:ln>
        </p:spPr>
      </p:pic>
      <p:cxnSp>
        <p:nvCxnSpPr>
          <p:cNvPr id="478" name="Google Shape;478;p25"/>
          <p:cNvCxnSpPr>
            <a:endCxn id="477" idx="1"/>
          </p:cNvCxnSpPr>
          <p:nvPr/>
        </p:nvCxnSpPr>
        <p:spPr>
          <a:xfrm>
            <a:off x="5261700" y="5382049"/>
            <a:ext cx="3196500" cy="1474800"/>
          </a:xfrm>
          <a:prstGeom prst="curvedConnector3">
            <a:avLst>
              <a:gd fmla="val 50000" name="adj1"/>
            </a:avLst>
          </a:prstGeom>
          <a:noFill/>
          <a:ln cap="flat" cmpd="sng" w="38100">
            <a:solidFill>
              <a:schemeClr val="accent1"/>
            </a:solidFill>
            <a:prstDash val="solid"/>
            <a:round/>
            <a:headEnd len="sm" w="sm" type="none"/>
            <a:tailEnd len="med" w="med" type="triangle"/>
          </a:ln>
          <a:effectLst>
            <a:outerShdw blurRad="40000" rotWithShape="0" dir="5400000" dist="23000">
              <a:srgbClr val="000000">
                <a:alpha val="34901"/>
              </a:srgbClr>
            </a:outerShdw>
          </a:effectLst>
        </p:spPr>
      </p:cxnSp>
      <p:sp>
        <p:nvSpPr>
          <p:cNvPr id="479" name="Google Shape;479;p25"/>
          <p:cNvSpPr/>
          <p:nvPr/>
        </p:nvSpPr>
        <p:spPr>
          <a:xfrm>
            <a:off x="7119982" y="2512436"/>
            <a:ext cx="7799027" cy="963597"/>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lang="en-US" sz="2000">
                <a:solidFill>
                  <a:schemeClr val="dk1"/>
                </a:solidFill>
                <a:latin typeface="Montserrat"/>
                <a:ea typeface="Montserrat"/>
                <a:cs typeface="Montserrat"/>
                <a:sym typeface="Montserrat"/>
              </a:rPr>
              <a:t>Contohnya,</a:t>
            </a:r>
            <a:r>
              <a:rPr b="1" lang="en-US" sz="2000">
                <a:solidFill>
                  <a:schemeClr val="dk1"/>
                </a:solidFill>
                <a:latin typeface="Montserrat"/>
                <a:ea typeface="Montserrat"/>
                <a:cs typeface="Montserrat"/>
                <a:sym typeface="Montserrat"/>
              </a:rPr>
              <a:t> </a:t>
            </a:r>
            <a:r>
              <a:rPr lang="en-US" sz="2000">
                <a:solidFill>
                  <a:schemeClr val="dk1"/>
                </a:solidFill>
                <a:latin typeface="Montserrat"/>
                <a:ea typeface="Montserrat"/>
                <a:cs typeface="Montserrat"/>
                <a:sym typeface="Montserrat"/>
              </a:rPr>
              <a:t>jika K = 3, KNN akan memilih tiga data yang paling dekat dengan data baru.</a:t>
            </a:r>
            <a:endParaRPr sz="2000">
              <a:solidFill>
                <a:schemeClr val="dk1"/>
              </a:solidFill>
              <a:latin typeface="Montserrat"/>
              <a:ea typeface="Montserrat"/>
              <a:cs typeface="Montserrat"/>
              <a:sym typeface="Montserrat"/>
            </a:endParaRPr>
          </a:p>
        </p:txBody>
      </p:sp>
    </p:spTree>
  </p:cSld>
  <p:clrMapOvr>
    <a:masterClrMapping/>
  </p:clrMapOvr>
  <p:transition spd="slow">
    <p:push/>
  </p:transition>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grpSp>
        <p:nvGrpSpPr>
          <p:cNvPr id="485" name="Google Shape;485;p26"/>
          <p:cNvGrpSpPr/>
          <p:nvPr/>
        </p:nvGrpSpPr>
        <p:grpSpPr>
          <a:xfrm>
            <a:off x="17016492" y="-180826"/>
            <a:ext cx="1271508" cy="10467826"/>
            <a:chOff x="0" y="-47625"/>
            <a:chExt cx="334883" cy="2756958"/>
          </a:xfrm>
        </p:grpSpPr>
        <p:sp>
          <p:nvSpPr>
            <p:cNvPr id="486" name="Google Shape;486;p26"/>
            <p:cNvSpPr/>
            <p:nvPr/>
          </p:nvSpPr>
          <p:spPr>
            <a:xfrm>
              <a:off x="0" y="0"/>
              <a:ext cx="334883" cy="2709333"/>
            </a:xfrm>
            <a:custGeom>
              <a:rect b="b" l="l" r="r" t="t"/>
              <a:pathLst>
                <a:path extrusionOk="0" h="2709333" w="334883">
                  <a:moveTo>
                    <a:pt x="0" y="0"/>
                  </a:moveTo>
                  <a:lnTo>
                    <a:pt x="334883" y="0"/>
                  </a:lnTo>
                  <a:lnTo>
                    <a:pt x="334883" y="2709333"/>
                  </a:lnTo>
                  <a:lnTo>
                    <a:pt x="0" y="2709333"/>
                  </a:lnTo>
                  <a:close/>
                </a:path>
              </a:pathLst>
            </a:custGeom>
            <a:solidFill>
              <a:srgbClr val="08377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7" name="Google Shape;487;p26"/>
            <p:cNvSpPr txBox="1"/>
            <p:nvPr/>
          </p:nvSpPr>
          <p:spPr>
            <a:xfrm>
              <a:off x="0" y="-47625"/>
              <a:ext cx="334883"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88" name="Google Shape;488;p26"/>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3">
              <a:alphaModFix/>
            </a:blip>
            <a:stretch>
              <a:fillRect b="0" l="-3961" r="-3961"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9" name="Google Shape;489;p26"/>
          <p:cNvSpPr txBox="1"/>
          <p:nvPr/>
        </p:nvSpPr>
        <p:spPr>
          <a:xfrm>
            <a:off x="17315322" y="9410922"/>
            <a:ext cx="670613" cy="689890"/>
          </a:xfrm>
          <a:prstGeom prst="rect">
            <a:avLst/>
          </a:prstGeom>
          <a:noFill/>
          <a:ln>
            <a:noFill/>
          </a:ln>
        </p:spPr>
        <p:txBody>
          <a:bodyPr anchorCtr="0" anchor="ctr" bIns="50800" lIns="50800" spcFirstLastPara="1" rIns="50800" wrap="square" tIns="50800">
            <a:noAutofit/>
          </a:bodyPr>
          <a:lstStyle/>
          <a:p>
            <a:pPr indent="0" lvl="0" marL="0" marR="0" rtl="0" algn="ctr">
              <a:lnSpc>
                <a:spcPct val="140021"/>
              </a:lnSpc>
              <a:spcBef>
                <a:spcPts val="0"/>
              </a:spcBef>
              <a:spcAft>
                <a:spcPts val="0"/>
              </a:spcAft>
              <a:buNone/>
            </a:pPr>
            <a:r>
              <a:t/>
            </a:r>
            <a:endParaRPr b="1" sz="1899">
              <a:solidFill>
                <a:srgbClr val="FDFDFD"/>
              </a:solidFill>
              <a:latin typeface="Open Sans ExtraBold"/>
              <a:ea typeface="Open Sans ExtraBold"/>
              <a:cs typeface="Open Sans ExtraBold"/>
              <a:sym typeface="Open Sans ExtraBold"/>
            </a:endParaRPr>
          </a:p>
        </p:txBody>
      </p:sp>
      <p:sp>
        <p:nvSpPr>
          <p:cNvPr id="490" name="Google Shape;490;p26"/>
          <p:cNvSpPr txBox="1"/>
          <p:nvPr/>
        </p:nvSpPr>
        <p:spPr>
          <a:xfrm>
            <a:off x="2819400" y="1333500"/>
            <a:ext cx="11468714" cy="1795363"/>
          </a:xfrm>
          <a:prstGeom prst="rect">
            <a:avLst/>
          </a:prstGeom>
          <a:noFill/>
          <a:ln>
            <a:noFill/>
          </a:ln>
        </p:spPr>
        <p:txBody>
          <a:bodyPr anchorCtr="0" anchor="t" bIns="0" lIns="0" spcFirstLastPara="1" rIns="0" wrap="square" tIns="0">
            <a:spAutoFit/>
          </a:bodyPr>
          <a:lstStyle/>
          <a:p>
            <a:pPr indent="0" lvl="0" marL="0" marR="0" rtl="0" algn="ctr">
              <a:lnSpc>
                <a:spcPct val="120010"/>
              </a:lnSpc>
              <a:spcBef>
                <a:spcPts val="0"/>
              </a:spcBef>
              <a:spcAft>
                <a:spcPts val="0"/>
              </a:spcAft>
              <a:buNone/>
            </a:pPr>
            <a:r>
              <a:rPr b="1" lang="en-US" sz="5792">
                <a:solidFill>
                  <a:srgbClr val="08377C"/>
                </a:solidFill>
                <a:latin typeface="Montserrat"/>
                <a:ea typeface="Montserrat"/>
                <a:cs typeface="Montserrat"/>
                <a:sym typeface="Montserrat"/>
              </a:rPr>
              <a:t>Kelebihan dan Kekurangan KNN?</a:t>
            </a:r>
            <a:endParaRPr b="1" sz="5792">
              <a:solidFill>
                <a:srgbClr val="08377C"/>
              </a:solidFill>
              <a:latin typeface="Montserrat"/>
              <a:ea typeface="Montserrat"/>
              <a:cs typeface="Montserrat"/>
              <a:sym typeface="Montserrat"/>
            </a:endParaRPr>
          </a:p>
        </p:txBody>
      </p:sp>
      <p:graphicFrame>
        <p:nvGraphicFramePr>
          <p:cNvPr id="491" name="Google Shape;491;p26"/>
          <p:cNvGraphicFramePr/>
          <p:nvPr/>
        </p:nvGraphicFramePr>
        <p:xfrm>
          <a:off x="2362200" y="3686075"/>
          <a:ext cx="3000000" cy="3000000"/>
        </p:xfrm>
        <a:graphic>
          <a:graphicData uri="http://schemas.openxmlformats.org/drawingml/2006/table">
            <a:tbl>
              <a:tblPr bandRow="1" firstRow="1">
                <a:noFill/>
                <a:tableStyleId>{6F37385D-6868-4BBC-A807-A0F5DB3808EF}</a:tableStyleId>
              </a:tblPr>
              <a:tblGrid>
                <a:gridCol w="6096000"/>
                <a:gridCol w="6096000"/>
              </a:tblGrid>
              <a:tr h="370850">
                <a:tc>
                  <a:txBody>
                    <a:bodyPr/>
                    <a:lstStyle/>
                    <a:p>
                      <a:pPr indent="0" lvl="0" marL="0" marR="0" rtl="0" algn="ctr">
                        <a:lnSpc>
                          <a:spcPct val="150000"/>
                        </a:lnSpc>
                        <a:spcBef>
                          <a:spcPts val="0"/>
                        </a:spcBef>
                        <a:spcAft>
                          <a:spcPts val="0"/>
                        </a:spcAft>
                        <a:buNone/>
                      </a:pPr>
                      <a:r>
                        <a:rPr b="1" lang="en-US" sz="2000" u="none" cap="none" strike="noStrike">
                          <a:latin typeface="Montserrat"/>
                          <a:ea typeface="Montserrat"/>
                          <a:cs typeface="Montserrat"/>
                          <a:sym typeface="Montserrat"/>
                        </a:rPr>
                        <a:t>Kelebihan </a:t>
                      </a:r>
                      <a:endParaRPr b="1" sz="2000" u="none" cap="none" strike="noStrike">
                        <a:latin typeface="Montserrat"/>
                        <a:ea typeface="Montserrat"/>
                        <a:cs typeface="Montserrat"/>
                        <a:sym typeface="Montserrat"/>
                      </a:endParaRPr>
                    </a:p>
                  </a:txBody>
                  <a:tcPr marT="45725" marB="45725" marR="91450" marL="91450"/>
                </a:tc>
                <a:tc>
                  <a:txBody>
                    <a:bodyPr/>
                    <a:lstStyle/>
                    <a:p>
                      <a:pPr indent="0" lvl="0" marL="0" marR="0" rtl="0" algn="ctr">
                        <a:lnSpc>
                          <a:spcPct val="150000"/>
                        </a:lnSpc>
                        <a:spcBef>
                          <a:spcPts val="0"/>
                        </a:spcBef>
                        <a:spcAft>
                          <a:spcPts val="0"/>
                        </a:spcAft>
                        <a:buNone/>
                      </a:pPr>
                      <a:r>
                        <a:rPr b="1" lang="en-US" sz="2000" u="none" cap="none" strike="noStrike">
                          <a:latin typeface="Montserrat"/>
                          <a:ea typeface="Montserrat"/>
                          <a:cs typeface="Montserrat"/>
                          <a:sym typeface="Montserrat"/>
                        </a:rPr>
                        <a:t>Kekurangan </a:t>
                      </a:r>
                      <a:endParaRPr b="1" sz="2000" u="none" cap="none" strike="noStrike">
                        <a:latin typeface="Montserrat"/>
                        <a:ea typeface="Montserrat"/>
                        <a:cs typeface="Montserrat"/>
                        <a:sym typeface="Montserrat"/>
                      </a:endParaRPr>
                    </a:p>
                  </a:txBody>
                  <a:tcPr marT="45725" marB="45725" marR="91450" marL="91450"/>
                </a:tc>
              </a:tr>
              <a:tr h="370850">
                <a:tc>
                  <a:txBody>
                    <a:bodyPr/>
                    <a:lstStyle/>
                    <a:p>
                      <a:pPr indent="-285750" lvl="0" marL="285750" marR="0" rtl="0" algn="l">
                        <a:lnSpc>
                          <a:spcPct val="150000"/>
                        </a:lnSpc>
                        <a:spcBef>
                          <a:spcPts val="0"/>
                        </a:spcBef>
                        <a:spcAft>
                          <a:spcPts val="0"/>
                        </a:spcAft>
                        <a:buClr>
                          <a:schemeClr val="dk1"/>
                        </a:buClr>
                        <a:buSzPts val="1800"/>
                        <a:buFont typeface="Arial"/>
                        <a:buChar char="•"/>
                      </a:pPr>
                      <a:r>
                        <a:rPr b="0" lang="en-US" sz="1800" u="none" cap="none" strike="noStrike">
                          <a:latin typeface="Montserrat"/>
                          <a:ea typeface="Montserrat"/>
                          <a:cs typeface="Montserrat"/>
                          <a:sym typeface="Montserrat"/>
                        </a:rPr>
                        <a:t>Simpel dan Intuitif: mudah dipahami dan diimplementasikan tanpa banyak asumsi.</a:t>
                      </a:r>
                      <a:endParaRPr/>
                    </a:p>
                  </a:txBody>
                  <a:tcPr marT="45725" marB="45725" marR="91450" marL="91450"/>
                </a:tc>
                <a:tc>
                  <a:txBody>
                    <a:bodyPr/>
                    <a:lstStyle/>
                    <a:p>
                      <a:pPr indent="-285750" lvl="0" marL="285750" marR="0" rtl="0" algn="l">
                        <a:lnSpc>
                          <a:spcPct val="150000"/>
                        </a:lnSpc>
                        <a:spcBef>
                          <a:spcPts val="0"/>
                        </a:spcBef>
                        <a:spcAft>
                          <a:spcPts val="0"/>
                        </a:spcAft>
                        <a:buClr>
                          <a:schemeClr val="dk1"/>
                        </a:buClr>
                        <a:buSzPts val="1800"/>
                        <a:buFont typeface="Arial"/>
                        <a:buChar char="•"/>
                      </a:pPr>
                      <a:r>
                        <a:rPr b="0" lang="en-US" sz="1800" u="none" cap="none" strike="noStrike">
                          <a:latin typeface="Montserrat"/>
                          <a:ea typeface="Montserrat"/>
                          <a:cs typeface="Montserrat"/>
                          <a:sym typeface="Montserrat"/>
                        </a:rPr>
                        <a:t>Komputasi Berat untuk Dataset Besar: perhitungan jarak untuk setiap prediksi membuat KNN lambat pada dataset besar.</a:t>
                      </a:r>
                      <a:endParaRPr/>
                    </a:p>
                  </a:txBody>
                  <a:tcPr marT="45725" marB="45725" marR="91450" marL="91450"/>
                </a:tc>
              </a:tr>
              <a:tr h="370850">
                <a:tc>
                  <a:txBody>
                    <a:bodyPr/>
                    <a:lstStyle/>
                    <a:p>
                      <a:pPr indent="-285750" lvl="0" marL="285750" marR="0" rtl="0" algn="l">
                        <a:lnSpc>
                          <a:spcPct val="150000"/>
                        </a:lnSpc>
                        <a:spcBef>
                          <a:spcPts val="0"/>
                        </a:spcBef>
                        <a:spcAft>
                          <a:spcPts val="0"/>
                        </a:spcAft>
                        <a:buClr>
                          <a:schemeClr val="dk1"/>
                        </a:buClr>
                        <a:buSzPts val="1800"/>
                        <a:buFont typeface="Arial"/>
                        <a:buChar char="•"/>
                      </a:pPr>
                      <a:r>
                        <a:rPr b="0" lang="en-US" sz="1800" u="none" cap="none" strike="noStrike">
                          <a:latin typeface="Montserrat"/>
                          <a:ea typeface="Montserrat"/>
                          <a:cs typeface="Montserrat"/>
                          <a:sym typeface="Montserrat"/>
                        </a:rPr>
                        <a:t>Non-parametrik: tidak mengasumsikan distribusi data tertentu, cocok untuk berbagai jenis data.</a:t>
                      </a:r>
                      <a:endParaRPr/>
                    </a:p>
                  </a:txBody>
                  <a:tcPr marT="45725" marB="45725" marR="91450" marL="91450"/>
                </a:tc>
                <a:tc>
                  <a:txBody>
                    <a:bodyPr/>
                    <a:lstStyle/>
                    <a:p>
                      <a:pPr indent="-285750" lvl="0" marL="285750" marR="0" rtl="0" algn="l">
                        <a:lnSpc>
                          <a:spcPct val="150000"/>
                        </a:lnSpc>
                        <a:spcBef>
                          <a:spcPts val="0"/>
                        </a:spcBef>
                        <a:spcAft>
                          <a:spcPts val="0"/>
                        </a:spcAft>
                        <a:buClr>
                          <a:schemeClr val="dk1"/>
                        </a:buClr>
                        <a:buSzPts val="1800"/>
                        <a:buFont typeface="Arial"/>
                        <a:buChar char="•"/>
                      </a:pPr>
                      <a:r>
                        <a:rPr b="0" lang="en-US" sz="1800" u="none" cap="none" strike="noStrike">
                          <a:latin typeface="Montserrat"/>
                          <a:ea typeface="Montserrat"/>
                          <a:cs typeface="Montserrat"/>
                          <a:sym typeface="Montserrat"/>
                        </a:rPr>
                        <a:t>Sensitif terhadap Noise: data yang tidak sesuai atau fitur yang tidak relevan dapat menurunkan akurasi prediksi.</a:t>
                      </a:r>
                      <a:endParaRPr/>
                    </a:p>
                  </a:txBody>
                  <a:tcPr marT="45725" marB="45725" marR="91450" marL="91450"/>
                </a:tc>
              </a:tr>
              <a:tr h="370850">
                <a:tc>
                  <a:txBody>
                    <a:bodyPr/>
                    <a:lstStyle/>
                    <a:p>
                      <a:pPr indent="-285750" lvl="0" marL="285750" marR="0" rtl="0" algn="l">
                        <a:lnSpc>
                          <a:spcPct val="150000"/>
                        </a:lnSpc>
                        <a:spcBef>
                          <a:spcPts val="0"/>
                        </a:spcBef>
                        <a:spcAft>
                          <a:spcPts val="0"/>
                        </a:spcAft>
                        <a:buClr>
                          <a:schemeClr val="dk1"/>
                        </a:buClr>
                        <a:buSzPts val="1800"/>
                        <a:buFont typeface="Arial"/>
                        <a:buChar char="•"/>
                      </a:pPr>
                      <a:r>
                        <a:rPr b="0" lang="en-US" sz="1800" u="none" cap="none" strike="noStrike">
                          <a:latin typeface="Montserrat"/>
                          <a:ea typeface="Montserrat"/>
                          <a:cs typeface="Montserrat"/>
                          <a:sym typeface="Montserrat"/>
                        </a:rPr>
                        <a:t>Efektif untuk Dataset Kecil: ideal untuk dataset kecil dengan interpretasi langsung dan hasil cepat.</a:t>
                      </a:r>
                      <a:endParaRPr/>
                    </a:p>
                  </a:txBody>
                  <a:tcPr marT="45725" marB="45725" marR="91450" marL="91450"/>
                </a:tc>
                <a:tc>
                  <a:txBody>
                    <a:bodyPr/>
                    <a:lstStyle/>
                    <a:p>
                      <a:pPr indent="-285750" lvl="0" marL="285750" marR="0" rtl="0" algn="l">
                        <a:lnSpc>
                          <a:spcPct val="150000"/>
                        </a:lnSpc>
                        <a:spcBef>
                          <a:spcPts val="0"/>
                        </a:spcBef>
                        <a:spcAft>
                          <a:spcPts val="0"/>
                        </a:spcAft>
                        <a:buClr>
                          <a:schemeClr val="dk1"/>
                        </a:buClr>
                        <a:buSzPts val="1800"/>
                        <a:buFont typeface="Arial"/>
                        <a:buChar char="•"/>
                      </a:pPr>
                      <a:r>
                        <a:rPr b="0" lang="en-US" sz="1800" u="none" cap="none" strike="noStrike">
                          <a:latin typeface="Montserrat"/>
                          <a:ea typeface="Montserrat"/>
                          <a:cs typeface="Montserrat"/>
                          <a:sym typeface="Montserrat"/>
                        </a:rPr>
                        <a:t>Memori Intensif: membutuhkan penyimpanan seluruh dataset pelatihan dalam memori, meningkatkan kebutuhan memori pada dataset besar.</a:t>
                      </a:r>
                      <a:endParaRPr/>
                    </a:p>
                  </a:txBody>
                  <a:tcPr marT="45725" marB="45725" marR="91450" marL="91450"/>
                </a:tc>
              </a:tr>
            </a:tbl>
          </a:graphicData>
        </a:graphic>
      </p:graphicFrame>
    </p:spTree>
  </p:cSld>
  <p:clrMapOvr>
    <a:masterClrMapping/>
  </p:clrMapOvr>
  <p:transition spd="slow">
    <p:push/>
  </p:transition>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grpSp>
        <p:nvGrpSpPr>
          <p:cNvPr id="497" name="Google Shape;497;p27"/>
          <p:cNvGrpSpPr/>
          <p:nvPr/>
        </p:nvGrpSpPr>
        <p:grpSpPr>
          <a:xfrm>
            <a:off x="13955786" y="-435680"/>
            <a:ext cx="4632524" cy="10996052"/>
            <a:chOff x="0" y="-47625"/>
            <a:chExt cx="1220089" cy="2896080"/>
          </a:xfrm>
        </p:grpSpPr>
        <p:sp>
          <p:nvSpPr>
            <p:cNvPr id="498" name="Google Shape;498;p27"/>
            <p:cNvSpPr/>
            <p:nvPr/>
          </p:nvSpPr>
          <p:spPr>
            <a:xfrm>
              <a:off x="0" y="0"/>
              <a:ext cx="1220089" cy="2848455"/>
            </a:xfrm>
            <a:custGeom>
              <a:rect b="b" l="l" r="r" t="t"/>
              <a:pathLst>
                <a:path extrusionOk="0" h="2848455" w="1220089">
                  <a:moveTo>
                    <a:pt x="0" y="0"/>
                  </a:moveTo>
                  <a:lnTo>
                    <a:pt x="1220089" y="0"/>
                  </a:lnTo>
                  <a:lnTo>
                    <a:pt x="1220089" y="2848455"/>
                  </a:lnTo>
                  <a:lnTo>
                    <a:pt x="0" y="2848455"/>
                  </a:lnTo>
                  <a:close/>
                </a:path>
              </a:pathLst>
            </a:custGeom>
            <a:solidFill>
              <a:srgbClr val="08377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9" name="Google Shape;499;p27"/>
            <p:cNvSpPr txBox="1"/>
            <p:nvPr/>
          </p:nvSpPr>
          <p:spPr>
            <a:xfrm>
              <a:off x="0" y="-47625"/>
              <a:ext cx="1220089" cy="289608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00" name="Google Shape;500;p27"/>
          <p:cNvSpPr/>
          <p:nvPr/>
        </p:nvSpPr>
        <p:spPr>
          <a:xfrm rot="-5400000">
            <a:off x="11952046" y="3265440"/>
            <a:ext cx="7715094" cy="3707614"/>
          </a:xfrm>
          <a:custGeom>
            <a:rect b="b" l="l" r="r" t="t"/>
            <a:pathLst>
              <a:path extrusionOk="0" h="3707614" w="7715094">
                <a:moveTo>
                  <a:pt x="0" y="0"/>
                </a:moveTo>
                <a:lnTo>
                  <a:pt x="7715094" y="0"/>
                </a:lnTo>
                <a:lnTo>
                  <a:pt x="7715094" y="3707614"/>
                </a:lnTo>
                <a:lnTo>
                  <a:pt x="0" y="3707614"/>
                </a:lnTo>
                <a:lnTo>
                  <a:pt x="0" y="0"/>
                </a:lnTo>
                <a:close/>
              </a:path>
            </a:pathLst>
          </a:custGeom>
          <a:blipFill rotWithShape="1">
            <a:blip r:embed="rId3">
              <a:alphaModFix/>
            </a:blip>
            <a:stretch>
              <a:fillRect b="0" l="0" r="0" t="-5934"/>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1" name="Google Shape;501;p27"/>
          <p:cNvSpPr txBox="1"/>
          <p:nvPr/>
        </p:nvSpPr>
        <p:spPr>
          <a:xfrm>
            <a:off x="1311647" y="4214179"/>
            <a:ext cx="8822953" cy="769441"/>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5035" u="none" strike="noStrike">
                <a:solidFill>
                  <a:srgbClr val="2A2E3A"/>
                </a:solidFill>
                <a:latin typeface="Montserrat"/>
                <a:ea typeface="Montserrat"/>
                <a:cs typeface="Montserrat"/>
                <a:sym typeface="Montserrat"/>
              </a:rPr>
              <a:t>Evaluation</a:t>
            </a:r>
            <a:endParaRPr b="1" sz="5035" u="none" strike="noStrike">
              <a:solidFill>
                <a:srgbClr val="2A2E3A"/>
              </a:solidFill>
              <a:latin typeface="Montserrat"/>
              <a:ea typeface="Montserrat"/>
              <a:cs typeface="Montserrat"/>
              <a:sym typeface="Montserrat"/>
            </a:endParaRPr>
          </a:p>
        </p:txBody>
      </p:sp>
      <p:sp>
        <p:nvSpPr>
          <p:cNvPr id="502" name="Google Shape;502;p27"/>
          <p:cNvSpPr txBox="1"/>
          <p:nvPr/>
        </p:nvSpPr>
        <p:spPr>
          <a:xfrm>
            <a:off x="1259652" y="5143500"/>
            <a:ext cx="10779948" cy="957634"/>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None/>
            </a:pPr>
            <a:r>
              <a:rPr b="1" lang="en-US" sz="6792">
                <a:solidFill>
                  <a:srgbClr val="08377C"/>
                </a:solidFill>
                <a:latin typeface="Montserrat"/>
                <a:ea typeface="Montserrat"/>
                <a:cs typeface="Montserrat"/>
                <a:sym typeface="Montserrat"/>
              </a:rPr>
              <a:t>in Classification</a:t>
            </a:r>
            <a:endParaRPr b="1" sz="6792" u="none" strike="noStrike">
              <a:solidFill>
                <a:srgbClr val="08377C"/>
              </a:solidFill>
              <a:latin typeface="Montserrat"/>
              <a:ea typeface="Montserrat"/>
              <a:cs typeface="Montserrat"/>
              <a:sym typeface="Montserrat"/>
            </a:endParaRPr>
          </a:p>
        </p:txBody>
      </p:sp>
      <p:sp>
        <p:nvSpPr>
          <p:cNvPr id="503" name="Google Shape;503;p27"/>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4">
              <a:alphaModFix/>
            </a:blip>
            <a:stretch>
              <a:fillRect b="0" l="-3961" r="-3961"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4" name="Google Shape;504;p27"/>
          <p:cNvSpPr txBox="1"/>
          <p:nvPr/>
        </p:nvSpPr>
        <p:spPr>
          <a:xfrm>
            <a:off x="14721159" y="4804810"/>
            <a:ext cx="2237609" cy="730456"/>
          </a:xfrm>
          <a:prstGeom prst="rect">
            <a:avLst/>
          </a:prstGeom>
          <a:noFill/>
          <a:ln>
            <a:noFill/>
          </a:ln>
        </p:spPr>
        <p:txBody>
          <a:bodyPr anchorCtr="0" anchor="t" bIns="0" lIns="0" spcFirstLastPara="1" rIns="0" wrap="square" tIns="0">
            <a:spAutoFit/>
          </a:bodyPr>
          <a:lstStyle/>
          <a:p>
            <a:pPr indent="0" lvl="0" marL="0" marR="0" rtl="0" algn="l">
              <a:lnSpc>
                <a:spcPct val="42789"/>
              </a:lnSpc>
              <a:spcBef>
                <a:spcPts val="0"/>
              </a:spcBef>
              <a:spcAft>
                <a:spcPts val="0"/>
              </a:spcAft>
              <a:buNone/>
            </a:pPr>
            <a:r>
              <a:rPr lang="en-US" sz="10000">
                <a:solidFill>
                  <a:schemeClr val="lt1"/>
                </a:solidFill>
                <a:latin typeface="Montserrat"/>
                <a:ea typeface="Montserrat"/>
                <a:cs typeface="Montserrat"/>
                <a:sym typeface="Montserrat"/>
              </a:rPr>
              <a:t>04</a:t>
            </a:r>
            <a:endParaRPr sz="10000">
              <a:solidFill>
                <a:schemeClr val="lt1"/>
              </a:solidFill>
              <a:latin typeface="Montserrat"/>
              <a:ea typeface="Montserrat"/>
              <a:cs typeface="Montserrat"/>
              <a:sym typeface="Montserrat"/>
            </a:endParaRPr>
          </a:p>
        </p:txBody>
      </p:sp>
    </p:spTree>
  </p:cSld>
  <p:clrMapOvr>
    <a:masterClrMapping/>
  </p:clrMapOvr>
  <p:transition spd="slow">
    <p:push/>
  </p:transition>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pic>
        <p:nvPicPr>
          <p:cNvPr id="510" name="Google Shape;510;p28"/>
          <p:cNvPicPr preferRelativeResize="0"/>
          <p:nvPr/>
        </p:nvPicPr>
        <p:blipFill rotWithShape="1">
          <a:blip r:embed="rId3">
            <a:alphaModFix/>
          </a:blip>
          <a:srcRect b="0" l="0" r="0" t="0"/>
          <a:stretch/>
        </p:blipFill>
        <p:spPr>
          <a:xfrm>
            <a:off x="1474427" y="1709779"/>
            <a:ext cx="15240000" cy="8210550"/>
          </a:xfrm>
          <a:prstGeom prst="rect">
            <a:avLst/>
          </a:prstGeom>
          <a:noFill/>
          <a:ln>
            <a:noFill/>
          </a:ln>
        </p:spPr>
      </p:pic>
      <p:grpSp>
        <p:nvGrpSpPr>
          <p:cNvPr id="511" name="Google Shape;511;p28"/>
          <p:cNvGrpSpPr/>
          <p:nvPr/>
        </p:nvGrpSpPr>
        <p:grpSpPr>
          <a:xfrm>
            <a:off x="17016492" y="-180826"/>
            <a:ext cx="1271508" cy="10467826"/>
            <a:chOff x="0" y="-47625"/>
            <a:chExt cx="334883" cy="2756958"/>
          </a:xfrm>
        </p:grpSpPr>
        <p:sp>
          <p:nvSpPr>
            <p:cNvPr id="512" name="Google Shape;512;p28"/>
            <p:cNvSpPr/>
            <p:nvPr/>
          </p:nvSpPr>
          <p:spPr>
            <a:xfrm>
              <a:off x="0" y="0"/>
              <a:ext cx="334883" cy="2709333"/>
            </a:xfrm>
            <a:custGeom>
              <a:rect b="b" l="l" r="r" t="t"/>
              <a:pathLst>
                <a:path extrusionOk="0" h="2709333" w="334883">
                  <a:moveTo>
                    <a:pt x="0" y="0"/>
                  </a:moveTo>
                  <a:lnTo>
                    <a:pt x="334883" y="0"/>
                  </a:lnTo>
                  <a:lnTo>
                    <a:pt x="334883" y="2709333"/>
                  </a:lnTo>
                  <a:lnTo>
                    <a:pt x="0" y="2709333"/>
                  </a:lnTo>
                  <a:close/>
                </a:path>
              </a:pathLst>
            </a:custGeom>
            <a:solidFill>
              <a:srgbClr val="08377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3" name="Google Shape;513;p28"/>
            <p:cNvSpPr txBox="1"/>
            <p:nvPr/>
          </p:nvSpPr>
          <p:spPr>
            <a:xfrm>
              <a:off x="0" y="-47625"/>
              <a:ext cx="334883"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14" name="Google Shape;514;p28"/>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4">
              <a:alphaModFix/>
            </a:blip>
            <a:stretch>
              <a:fillRect b="0" l="-3961" r="-3961"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5" name="Google Shape;515;p28"/>
          <p:cNvSpPr txBox="1"/>
          <p:nvPr/>
        </p:nvSpPr>
        <p:spPr>
          <a:xfrm>
            <a:off x="17315322" y="9410922"/>
            <a:ext cx="670613" cy="689890"/>
          </a:xfrm>
          <a:prstGeom prst="rect">
            <a:avLst/>
          </a:prstGeom>
          <a:noFill/>
          <a:ln>
            <a:noFill/>
          </a:ln>
        </p:spPr>
        <p:txBody>
          <a:bodyPr anchorCtr="0" anchor="ctr" bIns="50800" lIns="50800" spcFirstLastPara="1" rIns="50800" wrap="square" tIns="50800">
            <a:noAutofit/>
          </a:bodyPr>
          <a:lstStyle/>
          <a:p>
            <a:pPr indent="0" lvl="0" marL="0" marR="0" rtl="0" algn="ctr">
              <a:lnSpc>
                <a:spcPct val="140021"/>
              </a:lnSpc>
              <a:spcBef>
                <a:spcPts val="0"/>
              </a:spcBef>
              <a:spcAft>
                <a:spcPts val="0"/>
              </a:spcAft>
              <a:buNone/>
            </a:pPr>
            <a:r>
              <a:t/>
            </a:r>
            <a:endParaRPr b="1" sz="1899">
              <a:solidFill>
                <a:srgbClr val="FDFDFD"/>
              </a:solidFill>
              <a:latin typeface="Open Sans ExtraBold"/>
              <a:ea typeface="Open Sans ExtraBold"/>
              <a:cs typeface="Open Sans ExtraBold"/>
              <a:sym typeface="Open Sans ExtraBold"/>
            </a:endParaRPr>
          </a:p>
        </p:txBody>
      </p:sp>
      <p:sp>
        <p:nvSpPr>
          <p:cNvPr id="516" name="Google Shape;516;p28"/>
          <p:cNvSpPr txBox="1"/>
          <p:nvPr/>
        </p:nvSpPr>
        <p:spPr>
          <a:xfrm>
            <a:off x="4152286" y="1328699"/>
            <a:ext cx="9983428" cy="817340"/>
          </a:xfrm>
          <a:prstGeom prst="rect">
            <a:avLst/>
          </a:prstGeom>
          <a:noFill/>
          <a:ln>
            <a:noFill/>
          </a:ln>
        </p:spPr>
        <p:txBody>
          <a:bodyPr anchorCtr="0" anchor="t" bIns="0" lIns="0" spcFirstLastPara="1" rIns="0" wrap="square" tIns="0">
            <a:spAutoFit/>
          </a:bodyPr>
          <a:lstStyle/>
          <a:p>
            <a:pPr indent="0" lvl="0" marL="0" marR="0" rtl="0" algn="ctr">
              <a:lnSpc>
                <a:spcPct val="120010"/>
              </a:lnSpc>
              <a:spcBef>
                <a:spcPts val="0"/>
              </a:spcBef>
              <a:spcAft>
                <a:spcPts val="0"/>
              </a:spcAft>
              <a:buNone/>
            </a:pPr>
            <a:r>
              <a:rPr b="1" lang="en-US" sz="5792">
                <a:solidFill>
                  <a:srgbClr val="08377C"/>
                </a:solidFill>
                <a:latin typeface="Montserrat"/>
                <a:ea typeface="Montserrat"/>
                <a:cs typeface="Montserrat"/>
                <a:sym typeface="Montserrat"/>
              </a:rPr>
              <a:t>Serupa tapi tak sama</a:t>
            </a:r>
            <a:endParaRPr b="1" sz="5792">
              <a:solidFill>
                <a:srgbClr val="08377C"/>
              </a:solidFill>
              <a:latin typeface="Montserrat"/>
              <a:ea typeface="Montserrat"/>
              <a:cs typeface="Montserrat"/>
              <a:sym typeface="Montserrat"/>
            </a:endParaRPr>
          </a:p>
        </p:txBody>
      </p:sp>
    </p:spTree>
  </p:cSld>
  <p:clrMapOvr>
    <a:masterClrMapping/>
  </p:clrMapOvr>
  <p:transition spd="slow">
    <p:push/>
  </p:transition>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grpSp>
        <p:nvGrpSpPr>
          <p:cNvPr id="522" name="Google Shape;522;p29"/>
          <p:cNvGrpSpPr/>
          <p:nvPr/>
        </p:nvGrpSpPr>
        <p:grpSpPr>
          <a:xfrm>
            <a:off x="17016492" y="-180826"/>
            <a:ext cx="1271508" cy="10467826"/>
            <a:chOff x="0" y="-47625"/>
            <a:chExt cx="334883" cy="2756958"/>
          </a:xfrm>
        </p:grpSpPr>
        <p:sp>
          <p:nvSpPr>
            <p:cNvPr id="523" name="Google Shape;523;p29"/>
            <p:cNvSpPr/>
            <p:nvPr/>
          </p:nvSpPr>
          <p:spPr>
            <a:xfrm>
              <a:off x="0" y="0"/>
              <a:ext cx="334883" cy="2709333"/>
            </a:xfrm>
            <a:custGeom>
              <a:rect b="b" l="l" r="r" t="t"/>
              <a:pathLst>
                <a:path extrusionOk="0" h="2709333" w="334883">
                  <a:moveTo>
                    <a:pt x="0" y="0"/>
                  </a:moveTo>
                  <a:lnTo>
                    <a:pt x="334883" y="0"/>
                  </a:lnTo>
                  <a:lnTo>
                    <a:pt x="334883" y="2709333"/>
                  </a:lnTo>
                  <a:lnTo>
                    <a:pt x="0" y="2709333"/>
                  </a:lnTo>
                  <a:close/>
                </a:path>
              </a:pathLst>
            </a:custGeom>
            <a:solidFill>
              <a:srgbClr val="08377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4" name="Google Shape;524;p29"/>
            <p:cNvSpPr txBox="1"/>
            <p:nvPr/>
          </p:nvSpPr>
          <p:spPr>
            <a:xfrm>
              <a:off x="0" y="-47625"/>
              <a:ext cx="334883"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25" name="Google Shape;525;p29"/>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3">
              <a:alphaModFix/>
            </a:blip>
            <a:stretch>
              <a:fillRect b="0" l="-3961" r="-3961"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6" name="Google Shape;526;p29"/>
          <p:cNvSpPr txBox="1"/>
          <p:nvPr/>
        </p:nvSpPr>
        <p:spPr>
          <a:xfrm>
            <a:off x="17315322" y="9410922"/>
            <a:ext cx="670613" cy="689890"/>
          </a:xfrm>
          <a:prstGeom prst="rect">
            <a:avLst/>
          </a:prstGeom>
          <a:noFill/>
          <a:ln>
            <a:noFill/>
          </a:ln>
        </p:spPr>
        <p:txBody>
          <a:bodyPr anchorCtr="0" anchor="ctr" bIns="50800" lIns="50800" spcFirstLastPara="1" rIns="50800" wrap="square" tIns="50800">
            <a:noAutofit/>
          </a:bodyPr>
          <a:lstStyle/>
          <a:p>
            <a:pPr indent="0" lvl="0" marL="0" marR="0" rtl="0" algn="ctr">
              <a:lnSpc>
                <a:spcPct val="140021"/>
              </a:lnSpc>
              <a:spcBef>
                <a:spcPts val="0"/>
              </a:spcBef>
              <a:spcAft>
                <a:spcPts val="0"/>
              </a:spcAft>
              <a:buNone/>
            </a:pPr>
            <a:r>
              <a:t/>
            </a:r>
            <a:endParaRPr b="1" sz="1899">
              <a:solidFill>
                <a:srgbClr val="FDFDFD"/>
              </a:solidFill>
              <a:latin typeface="Open Sans ExtraBold"/>
              <a:ea typeface="Open Sans ExtraBold"/>
              <a:cs typeface="Open Sans ExtraBold"/>
              <a:sym typeface="Open Sans ExtraBold"/>
            </a:endParaRPr>
          </a:p>
        </p:txBody>
      </p:sp>
      <p:sp>
        <p:nvSpPr>
          <p:cNvPr id="527" name="Google Shape;527;p29"/>
          <p:cNvSpPr txBox="1"/>
          <p:nvPr/>
        </p:nvSpPr>
        <p:spPr>
          <a:xfrm>
            <a:off x="4152286" y="1328699"/>
            <a:ext cx="9983428" cy="817340"/>
          </a:xfrm>
          <a:prstGeom prst="rect">
            <a:avLst/>
          </a:prstGeom>
          <a:noFill/>
          <a:ln>
            <a:noFill/>
          </a:ln>
        </p:spPr>
        <p:txBody>
          <a:bodyPr anchorCtr="0" anchor="t" bIns="0" lIns="0" spcFirstLastPara="1" rIns="0" wrap="square" tIns="0">
            <a:spAutoFit/>
          </a:bodyPr>
          <a:lstStyle/>
          <a:p>
            <a:pPr indent="0" lvl="0" marL="0" marR="0" rtl="0" algn="ctr">
              <a:lnSpc>
                <a:spcPct val="120010"/>
              </a:lnSpc>
              <a:spcBef>
                <a:spcPts val="0"/>
              </a:spcBef>
              <a:spcAft>
                <a:spcPts val="0"/>
              </a:spcAft>
              <a:buNone/>
            </a:pPr>
            <a:r>
              <a:rPr b="1" lang="en-US" sz="5792">
                <a:solidFill>
                  <a:srgbClr val="08377C"/>
                </a:solidFill>
                <a:latin typeface="Montserrat"/>
                <a:ea typeface="Montserrat"/>
                <a:cs typeface="Montserrat"/>
                <a:sym typeface="Montserrat"/>
              </a:rPr>
              <a:t>Confusion Matrix</a:t>
            </a:r>
            <a:endParaRPr b="1" sz="5792">
              <a:solidFill>
                <a:srgbClr val="08377C"/>
              </a:solidFill>
              <a:latin typeface="Montserrat"/>
              <a:ea typeface="Montserrat"/>
              <a:cs typeface="Montserrat"/>
              <a:sym typeface="Montserrat"/>
            </a:endParaRPr>
          </a:p>
        </p:txBody>
      </p:sp>
      <p:sp>
        <p:nvSpPr>
          <p:cNvPr id="528" name="Google Shape;528;p29"/>
          <p:cNvSpPr/>
          <p:nvPr/>
        </p:nvSpPr>
        <p:spPr>
          <a:xfrm>
            <a:off x="8493228" y="3314700"/>
            <a:ext cx="7543800" cy="3323987"/>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i="1" lang="en-US" sz="2800">
                <a:solidFill>
                  <a:schemeClr val="dk1"/>
                </a:solidFill>
                <a:latin typeface="Montserrat"/>
                <a:ea typeface="Montserrat"/>
                <a:cs typeface="Montserrat"/>
                <a:sym typeface="Montserrat"/>
              </a:rPr>
              <a:t>Confusion matrix</a:t>
            </a:r>
            <a:r>
              <a:rPr lang="en-US" sz="2800">
                <a:solidFill>
                  <a:schemeClr val="dk1"/>
                </a:solidFill>
                <a:latin typeface="Montserrat"/>
                <a:ea typeface="Montserrat"/>
                <a:cs typeface="Montserrat"/>
                <a:sym typeface="Montserrat"/>
              </a:rPr>
              <a:t> adalah alat untuk mengevaluasi kinerja model klasifikasi dengan menunjukkan jumlah prediksi yang benar dan salah dalam format tabel. </a:t>
            </a:r>
            <a:endParaRPr sz="2800">
              <a:solidFill>
                <a:schemeClr val="dk1"/>
              </a:solidFill>
              <a:latin typeface="Montserrat"/>
              <a:ea typeface="Montserrat"/>
              <a:cs typeface="Montserrat"/>
              <a:sym typeface="Montserrat"/>
            </a:endParaRPr>
          </a:p>
        </p:txBody>
      </p:sp>
      <p:pic>
        <p:nvPicPr>
          <p:cNvPr descr="dos-ad83c262ee2432f5fedfa32b2a19c69b20241015153232.jpeg" id="529" name="Google Shape;529;p29"/>
          <p:cNvPicPr preferRelativeResize="0"/>
          <p:nvPr/>
        </p:nvPicPr>
        <p:blipFill rotWithShape="1">
          <a:blip r:embed="rId4">
            <a:alphaModFix/>
          </a:blip>
          <a:srcRect b="0" l="14530" r="14784" t="21149"/>
          <a:stretch/>
        </p:blipFill>
        <p:spPr>
          <a:xfrm>
            <a:off x="714606" y="2857500"/>
            <a:ext cx="6875359" cy="4419600"/>
          </a:xfrm>
          <a:prstGeom prst="rect">
            <a:avLst/>
          </a:prstGeom>
          <a:noFill/>
          <a:ln>
            <a:noFill/>
          </a:ln>
        </p:spPr>
      </p:pic>
      <p:sp>
        <p:nvSpPr>
          <p:cNvPr id="530" name="Google Shape;530;p29"/>
          <p:cNvSpPr/>
          <p:nvPr/>
        </p:nvSpPr>
        <p:spPr>
          <a:xfrm>
            <a:off x="1143000" y="7193537"/>
            <a:ext cx="15163800" cy="1886927"/>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50000"/>
              </a:lnSpc>
              <a:spcBef>
                <a:spcPts val="0"/>
              </a:spcBef>
              <a:spcAft>
                <a:spcPts val="0"/>
              </a:spcAft>
              <a:buClr>
                <a:schemeClr val="dk1"/>
              </a:buClr>
              <a:buSzPts val="2000"/>
              <a:buFont typeface="Arial"/>
              <a:buChar char="•"/>
            </a:pPr>
            <a:r>
              <a:rPr b="1" lang="en-US" sz="2000">
                <a:solidFill>
                  <a:schemeClr val="dk1"/>
                </a:solidFill>
                <a:latin typeface="Montserrat"/>
                <a:ea typeface="Montserrat"/>
                <a:cs typeface="Montserrat"/>
                <a:sym typeface="Montserrat"/>
              </a:rPr>
              <a:t>True Positives (TP):</a:t>
            </a:r>
            <a:r>
              <a:rPr lang="en-US" sz="2000">
                <a:solidFill>
                  <a:schemeClr val="dk1"/>
                </a:solidFill>
                <a:latin typeface="Montserrat"/>
                <a:ea typeface="Montserrat"/>
                <a:cs typeface="Montserrat"/>
                <a:sym typeface="Montserrat"/>
              </a:rPr>
              <a:t> jumlah kasus positif yang benar-benar diprediksi sebagai positif.</a:t>
            </a:r>
            <a:endParaRPr/>
          </a:p>
          <a:p>
            <a:pPr indent="-457200" lvl="0" marL="457200" marR="0" rtl="0" algn="just">
              <a:lnSpc>
                <a:spcPct val="150000"/>
              </a:lnSpc>
              <a:spcBef>
                <a:spcPts val="0"/>
              </a:spcBef>
              <a:spcAft>
                <a:spcPts val="0"/>
              </a:spcAft>
              <a:buClr>
                <a:schemeClr val="dk1"/>
              </a:buClr>
              <a:buSzPts val="2000"/>
              <a:buFont typeface="Arial"/>
              <a:buChar char="•"/>
            </a:pPr>
            <a:r>
              <a:rPr b="1" lang="en-US" sz="2000">
                <a:solidFill>
                  <a:schemeClr val="dk1"/>
                </a:solidFill>
                <a:latin typeface="Montserrat"/>
                <a:ea typeface="Montserrat"/>
                <a:cs typeface="Montserrat"/>
                <a:sym typeface="Montserrat"/>
              </a:rPr>
              <a:t>True Negatives (TN):</a:t>
            </a:r>
            <a:r>
              <a:rPr lang="en-US" sz="2000">
                <a:solidFill>
                  <a:schemeClr val="dk1"/>
                </a:solidFill>
                <a:latin typeface="Montserrat"/>
                <a:ea typeface="Montserrat"/>
                <a:cs typeface="Montserrat"/>
                <a:sym typeface="Montserrat"/>
              </a:rPr>
              <a:t> jumlah kasus negatif yang benar-benar diprediksi sebagai negatif.</a:t>
            </a:r>
            <a:endParaRPr/>
          </a:p>
          <a:p>
            <a:pPr indent="-457200" lvl="0" marL="457200" marR="0" rtl="0" algn="just">
              <a:lnSpc>
                <a:spcPct val="150000"/>
              </a:lnSpc>
              <a:spcBef>
                <a:spcPts val="0"/>
              </a:spcBef>
              <a:spcAft>
                <a:spcPts val="0"/>
              </a:spcAft>
              <a:buClr>
                <a:schemeClr val="dk1"/>
              </a:buClr>
              <a:buSzPts val="2000"/>
              <a:buFont typeface="Arial"/>
              <a:buChar char="•"/>
            </a:pPr>
            <a:r>
              <a:rPr b="1" lang="en-US" sz="2000">
                <a:solidFill>
                  <a:schemeClr val="dk1"/>
                </a:solidFill>
                <a:latin typeface="Montserrat"/>
                <a:ea typeface="Montserrat"/>
                <a:cs typeface="Montserrat"/>
                <a:sym typeface="Montserrat"/>
              </a:rPr>
              <a:t>False Positives (FP):</a:t>
            </a:r>
            <a:r>
              <a:rPr lang="en-US" sz="2000">
                <a:solidFill>
                  <a:schemeClr val="dk1"/>
                </a:solidFill>
                <a:latin typeface="Montserrat"/>
                <a:ea typeface="Montserrat"/>
                <a:cs typeface="Montserrat"/>
                <a:sym typeface="Montserrat"/>
              </a:rPr>
              <a:t> jumlah kasus negatif yang diprediksi sebagai positif (juga dikenal sebagai kesalahan tipe I).</a:t>
            </a:r>
            <a:endParaRPr/>
          </a:p>
          <a:p>
            <a:pPr indent="-457200" lvl="0" marL="457200" marR="0" rtl="0" algn="just">
              <a:lnSpc>
                <a:spcPct val="150000"/>
              </a:lnSpc>
              <a:spcBef>
                <a:spcPts val="0"/>
              </a:spcBef>
              <a:spcAft>
                <a:spcPts val="0"/>
              </a:spcAft>
              <a:buClr>
                <a:schemeClr val="dk1"/>
              </a:buClr>
              <a:buSzPts val="2000"/>
              <a:buFont typeface="Arial"/>
              <a:buChar char="•"/>
            </a:pPr>
            <a:r>
              <a:rPr b="1" lang="en-US" sz="2000">
                <a:solidFill>
                  <a:schemeClr val="dk1"/>
                </a:solidFill>
                <a:latin typeface="Montserrat"/>
                <a:ea typeface="Montserrat"/>
                <a:cs typeface="Montserrat"/>
                <a:sym typeface="Montserrat"/>
              </a:rPr>
              <a:t>False Negatives (FN):</a:t>
            </a:r>
            <a:r>
              <a:rPr lang="en-US" sz="2000">
                <a:solidFill>
                  <a:schemeClr val="dk1"/>
                </a:solidFill>
                <a:latin typeface="Montserrat"/>
                <a:ea typeface="Montserrat"/>
                <a:cs typeface="Montserrat"/>
                <a:sym typeface="Montserrat"/>
              </a:rPr>
              <a:t> jumlah kasus positif yang diprediksi sebagai negatif (juga dikenal sebagai kesalahan tipe II).</a:t>
            </a:r>
            <a:endParaRPr/>
          </a:p>
        </p:txBody>
      </p:sp>
    </p:spTree>
  </p:cSld>
  <p:clrMapOvr>
    <a:masterClrMapping/>
  </p:clrMapOvr>
  <p:transition spd="slow">
    <p:push/>
  </p:transition>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grpSp>
        <p:nvGrpSpPr>
          <p:cNvPr id="536" name="Google Shape;536;p30"/>
          <p:cNvGrpSpPr/>
          <p:nvPr/>
        </p:nvGrpSpPr>
        <p:grpSpPr>
          <a:xfrm>
            <a:off x="17016492" y="-180826"/>
            <a:ext cx="1271508" cy="10467826"/>
            <a:chOff x="0" y="-47625"/>
            <a:chExt cx="334883" cy="2756958"/>
          </a:xfrm>
        </p:grpSpPr>
        <p:sp>
          <p:nvSpPr>
            <p:cNvPr id="537" name="Google Shape;537;p30"/>
            <p:cNvSpPr/>
            <p:nvPr/>
          </p:nvSpPr>
          <p:spPr>
            <a:xfrm>
              <a:off x="0" y="0"/>
              <a:ext cx="334883" cy="2709333"/>
            </a:xfrm>
            <a:custGeom>
              <a:rect b="b" l="l" r="r" t="t"/>
              <a:pathLst>
                <a:path extrusionOk="0" h="2709333" w="334883">
                  <a:moveTo>
                    <a:pt x="0" y="0"/>
                  </a:moveTo>
                  <a:lnTo>
                    <a:pt x="334883" y="0"/>
                  </a:lnTo>
                  <a:lnTo>
                    <a:pt x="334883" y="2709333"/>
                  </a:lnTo>
                  <a:lnTo>
                    <a:pt x="0" y="2709333"/>
                  </a:lnTo>
                  <a:close/>
                </a:path>
              </a:pathLst>
            </a:custGeom>
            <a:solidFill>
              <a:srgbClr val="08377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8" name="Google Shape;538;p30"/>
            <p:cNvSpPr txBox="1"/>
            <p:nvPr/>
          </p:nvSpPr>
          <p:spPr>
            <a:xfrm>
              <a:off x="0" y="-47625"/>
              <a:ext cx="334883"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39" name="Google Shape;539;p30"/>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3">
              <a:alphaModFix/>
            </a:blip>
            <a:stretch>
              <a:fillRect b="0" l="-3961" r="-3961"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0" name="Google Shape;540;p30"/>
          <p:cNvSpPr txBox="1"/>
          <p:nvPr/>
        </p:nvSpPr>
        <p:spPr>
          <a:xfrm>
            <a:off x="17315322" y="9410922"/>
            <a:ext cx="670613" cy="689890"/>
          </a:xfrm>
          <a:prstGeom prst="rect">
            <a:avLst/>
          </a:prstGeom>
          <a:noFill/>
          <a:ln>
            <a:noFill/>
          </a:ln>
        </p:spPr>
        <p:txBody>
          <a:bodyPr anchorCtr="0" anchor="ctr" bIns="50800" lIns="50800" spcFirstLastPara="1" rIns="50800" wrap="square" tIns="50800">
            <a:noAutofit/>
          </a:bodyPr>
          <a:lstStyle/>
          <a:p>
            <a:pPr indent="0" lvl="0" marL="0" marR="0" rtl="0" algn="ctr">
              <a:lnSpc>
                <a:spcPct val="140021"/>
              </a:lnSpc>
              <a:spcBef>
                <a:spcPts val="0"/>
              </a:spcBef>
              <a:spcAft>
                <a:spcPts val="0"/>
              </a:spcAft>
              <a:buNone/>
            </a:pPr>
            <a:r>
              <a:t/>
            </a:r>
            <a:endParaRPr b="1" sz="1899">
              <a:solidFill>
                <a:srgbClr val="FDFDFD"/>
              </a:solidFill>
              <a:latin typeface="Open Sans ExtraBold"/>
              <a:ea typeface="Open Sans ExtraBold"/>
              <a:cs typeface="Open Sans ExtraBold"/>
              <a:sym typeface="Open Sans ExtraBold"/>
            </a:endParaRPr>
          </a:p>
        </p:txBody>
      </p:sp>
      <p:sp>
        <p:nvSpPr>
          <p:cNvPr id="541" name="Google Shape;541;p30"/>
          <p:cNvSpPr txBox="1"/>
          <p:nvPr/>
        </p:nvSpPr>
        <p:spPr>
          <a:xfrm>
            <a:off x="4152286" y="1328699"/>
            <a:ext cx="9983428" cy="817340"/>
          </a:xfrm>
          <a:prstGeom prst="rect">
            <a:avLst/>
          </a:prstGeom>
          <a:noFill/>
          <a:ln>
            <a:noFill/>
          </a:ln>
        </p:spPr>
        <p:txBody>
          <a:bodyPr anchorCtr="0" anchor="t" bIns="0" lIns="0" spcFirstLastPara="1" rIns="0" wrap="square" tIns="0">
            <a:spAutoFit/>
          </a:bodyPr>
          <a:lstStyle/>
          <a:p>
            <a:pPr indent="0" lvl="0" marL="0" marR="0" rtl="0" algn="ctr">
              <a:lnSpc>
                <a:spcPct val="120010"/>
              </a:lnSpc>
              <a:spcBef>
                <a:spcPts val="0"/>
              </a:spcBef>
              <a:spcAft>
                <a:spcPts val="0"/>
              </a:spcAft>
              <a:buNone/>
            </a:pPr>
            <a:r>
              <a:rPr b="1" lang="en-US" sz="5792">
                <a:solidFill>
                  <a:srgbClr val="08377C"/>
                </a:solidFill>
                <a:latin typeface="Montserrat"/>
                <a:ea typeface="Montserrat"/>
                <a:cs typeface="Montserrat"/>
                <a:sym typeface="Montserrat"/>
              </a:rPr>
              <a:t>Confusion Matrix</a:t>
            </a:r>
            <a:endParaRPr b="1" sz="5792">
              <a:solidFill>
                <a:srgbClr val="08377C"/>
              </a:solidFill>
              <a:latin typeface="Montserrat"/>
              <a:ea typeface="Montserrat"/>
              <a:cs typeface="Montserrat"/>
              <a:sym typeface="Montserrat"/>
            </a:endParaRPr>
          </a:p>
        </p:txBody>
      </p:sp>
      <p:pic>
        <p:nvPicPr>
          <p:cNvPr descr="dos-80cbb62ff55204a33c9e4d575569a6a520241015153232.jpeg" id="542" name="Google Shape;542;p30"/>
          <p:cNvPicPr preferRelativeResize="0"/>
          <p:nvPr/>
        </p:nvPicPr>
        <p:blipFill rotWithShape="1">
          <a:blip r:embed="rId4">
            <a:alphaModFix/>
          </a:blip>
          <a:srcRect b="7180" l="9677" r="4839" t="6536"/>
          <a:stretch/>
        </p:blipFill>
        <p:spPr>
          <a:xfrm>
            <a:off x="225597" y="3213100"/>
            <a:ext cx="8077200" cy="5029200"/>
          </a:xfrm>
          <a:prstGeom prst="rect">
            <a:avLst/>
          </a:prstGeom>
          <a:noFill/>
          <a:ln>
            <a:noFill/>
          </a:ln>
        </p:spPr>
      </p:pic>
      <p:graphicFrame>
        <p:nvGraphicFramePr>
          <p:cNvPr id="543" name="Google Shape;543;p30"/>
          <p:cNvGraphicFramePr/>
          <p:nvPr/>
        </p:nvGraphicFramePr>
        <p:xfrm>
          <a:off x="8458200" y="2837180"/>
          <a:ext cx="3000000" cy="3000000"/>
        </p:xfrm>
        <a:graphic>
          <a:graphicData uri="http://schemas.openxmlformats.org/drawingml/2006/table">
            <a:tbl>
              <a:tblPr bandRow="1" firstRow="1">
                <a:noFill/>
                <a:tableStyleId>{6F37385D-6868-4BBC-A807-A0F5DB3808EF}</a:tableStyleId>
              </a:tblPr>
              <a:tblGrid>
                <a:gridCol w="2819400"/>
                <a:gridCol w="2133600"/>
                <a:gridCol w="3048000"/>
              </a:tblGrid>
              <a:tr h="370850">
                <a:tc>
                  <a:txBody>
                    <a:bodyPr/>
                    <a:lstStyle/>
                    <a:p>
                      <a:pPr indent="0" lvl="0" marL="0" marR="0" rtl="0" algn="ctr">
                        <a:spcBef>
                          <a:spcPts val="0"/>
                        </a:spcBef>
                        <a:spcAft>
                          <a:spcPts val="0"/>
                        </a:spcAft>
                        <a:buNone/>
                      </a:pPr>
                      <a:r>
                        <a:t/>
                      </a:r>
                      <a:endParaRPr sz="1800" u="none" cap="none" strike="noStrike">
                        <a:latin typeface="Montserrat"/>
                        <a:ea typeface="Montserrat"/>
                        <a:cs typeface="Montserrat"/>
                        <a:sym typeface="Montserrat"/>
                      </a:endParaRPr>
                    </a:p>
                  </a:txBody>
                  <a:tcPr marT="45725" marB="45725" marR="91450" marL="91450"/>
                </a:tc>
                <a:tc>
                  <a:txBody>
                    <a:bodyPr/>
                    <a:lstStyle/>
                    <a:p>
                      <a:pPr indent="0" lvl="0" marL="0" marR="0" rtl="0" algn="ctr">
                        <a:spcBef>
                          <a:spcPts val="0"/>
                        </a:spcBef>
                        <a:spcAft>
                          <a:spcPts val="0"/>
                        </a:spcAft>
                        <a:buNone/>
                      </a:pPr>
                      <a:r>
                        <a:rPr lang="en-US" sz="1800" u="none" cap="none" strike="noStrike">
                          <a:latin typeface="Montserrat"/>
                          <a:ea typeface="Montserrat"/>
                          <a:cs typeface="Montserrat"/>
                          <a:sym typeface="Montserrat"/>
                        </a:rPr>
                        <a:t>Prediksi Spam</a:t>
                      </a:r>
                      <a:endParaRPr sz="1800" u="none" cap="none" strike="noStrike">
                        <a:latin typeface="Montserrat"/>
                        <a:ea typeface="Montserrat"/>
                        <a:cs typeface="Montserrat"/>
                        <a:sym typeface="Montserrat"/>
                      </a:endParaRPr>
                    </a:p>
                  </a:txBody>
                  <a:tcPr marT="45725" marB="45725" marR="91450" marL="91450"/>
                </a:tc>
                <a:tc>
                  <a:txBody>
                    <a:bodyPr/>
                    <a:lstStyle/>
                    <a:p>
                      <a:pPr indent="0" lvl="0" marL="0" marR="0" rtl="0" algn="ctr">
                        <a:spcBef>
                          <a:spcPts val="0"/>
                        </a:spcBef>
                        <a:spcAft>
                          <a:spcPts val="0"/>
                        </a:spcAft>
                        <a:buNone/>
                      </a:pPr>
                      <a:r>
                        <a:rPr lang="en-US" sz="1800" u="none" cap="none" strike="noStrike">
                          <a:latin typeface="Montserrat"/>
                          <a:ea typeface="Montserrat"/>
                          <a:cs typeface="Montserrat"/>
                          <a:sym typeface="Montserrat"/>
                        </a:rPr>
                        <a:t>Prediksi Bukan Spam</a:t>
                      </a:r>
                      <a:endParaRPr sz="1800" u="none" cap="none" strike="noStrike">
                        <a:latin typeface="Montserrat"/>
                        <a:ea typeface="Montserrat"/>
                        <a:cs typeface="Montserrat"/>
                        <a:sym typeface="Montserrat"/>
                      </a:endParaRPr>
                    </a:p>
                  </a:txBody>
                  <a:tcPr marT="45725" marB="45725" marR="91450" marL="91450"/>
                </a:tc>
              </a:tr>
              <a:tr h="370850">
                <a:tc>
                  <a:txBody>
                    <a:bodyPr/>
                    <a:lstStyle/>
                    <a:p>
                      <a:pPr indent="0" lvl="0" marL="0" marR="0" rtl="0" algn="ctr">
                        <a:spcBef>
                          <a:spcPts val="0"/>
                        </a:spcBef>
                        <a:spcAft>
                          <a:spcPts val="0"/>
                        </a:spcAft>
                        <a:buNone/>
                      </a:pPr>
                      <a:r>
                        <a:rPr lang="en-US" sz="1800" u="none" cap="none" strike="noStrike">
                          <a:latin typeface="Montserrat"/>
                          <a:ea typeface="Montserrat"/>
                          <a:cs typeface="Montserrat"/>
                          <a:sym typeface="Montserrat"/>
                        </a:rPr>
                        <a:t>Spam Actual</a:t>
                      </a:r>
                      <a:endParaRPr sz="1800" u="none" cap="none" strike="noStrike">
                        <a:latin typeface="Montserrat"/>
                        <a:ea typeface="Montserrat"/>
                        <a:cs typeface="Montserrat"/>
                        <a:sym typeface="Montserrat"/>
                      </a:endParaRPr>
                    </a:p>
                  </a:txBody>
                  <a:tcPr marT="45725" marB="45725" marR="91450" marL="91450"/>
                </a:tc>
                <a:tc>
                  <a:txBody>
                    <a:bodyPr/>
                    <a:lstStyle/>
                    <a:p>
                      <a:pPr indent="0" lvl="0" marL="0" marR="0" rtl="0" algn="ctr">
                        <a:spcBef>
                          <a:spcPts val="0"/>
                        </a:spcBef>
                        <a:spcAft>
                          <a:spcPts val="0"/>
                        </a:spcAft>
                        <a:buNone/>
                      </a:pPr>
                      <a:r>
                        <a:rPr lang="en-US" sz="1800" u="none" cap="none" strike="noStrike">
                          <a:latin typeface="Montserrat"/>
                          <a:ea typeface="Montserrat"/>
                          <a:cs typeface="Montserrat"/>
                          <a:sym typeface="Montserrat"/>
                        </a:rPr>
                        <a:t>30</a:t>
                      </a:r>
                      <a:endParaRPr sz="1800" u="none" cap="none" strike="noStrike">
                        <a:latin typeface="Montserrat"/>
                        <a:ea typeface="Montserrat"/>
                        <a:cs typeface="Montserrat"/>
                        <a:sym typeface="Montserrat"/>
                      </a:endParaRPr>
                    </a:p>
                  </a:txBody>
                  <a:tcPr marT="45725" marB="45725" marR="91450" marL="91450"/>
                </a:tc>
                <a:tc>
                  <a:txBody>
                    <a:bodyPr/>
                    <a:lstStyle/>
                    <a:p>
                      <a:pPr indent="0" lvl="0" marL="0" marR="0" rtl="0" algn="ctr">
                        <a:spcBef>
                          <a:spcPts val="0"/>
                        </a:spcBef>
                        <a:spcAft>
                          <a:spcPts val="0"/>
                        </a:spcAft>
                        <a:buNone/>
                      </a:pPr>
                      <a:r>
                        <a:rPr lang="en-US" sz="1800" u="none" cap="none" strike="noStrike">
                          <a:latin typeface="Montserrat"/>
                          <a:ea typeface="Montserrat"/>
                          <a:cs typeface="Montserrat"/>
                          <a:sym typeface="Montserrat"/>
                        </a:rPr>
                        <a:t>10</a:t>
                      </a:r>
                      <a:endParaRPr sz="1800" u="none" cap="none" strike="noStrike">
                        <a:latin typeface="Montserrat"/>
                        <a:ea typeface="Montserrat"/>
                        <a:cs typeface="Montserrat"/>
                        <a:sym typeface="Montserrat"/>
                      </a:endParaRPr>
                    </a:p>
                  </a:txBody>
                  <a:tcPr marT="45725" marB="45725" marR="91450" marL="91450"/>
                </a:tc>
              </a:tr>
              <a:tr h="370850">
                <a:tc>
                  <a:txBody>
                    <a:bodyPr/>
                    <a:lstStyle/>
                    <a:p>
                      <a:pPr indent="0" lvl="0" marL="0" marR="0" rtl="0" algn="ctr">
                        <a:spcBef>
                          <a:spcPts val="0"/>
                        </a:spcBef>
                        <a:spcAft>
                          <a:spcPts val="0"/>
                        </a:spcAft>
                        <a:buNone/>
                      </a:pPr>
                      <a:r>
                        <a:rPr lang="en-US" sz="1800" u="none" cap="none" strike="noStrike">
                          <a:latin typeface="Montserrat"/>
                          <a:ea typeface="Montserrat"/>
                          <a:cs typeface="Montserrat"/>
                          <a:sym typeface="Montserrat"/>
                        </a:rPr>
                        <a:t>Bukan Spam Actual</a:t>
                      </a:r>
                      <a:endParaRPr sz="1800" u="none" cap="none" strike="noStrike">
                        <a:latin typeface="Montserrat"/>
                        <a:ea typeface="Montserrat"/>
                        <a:cs typeface="Montserrat"/>
                        <a:sym typeface="Montserrat"/>
                      </a:endParaRPr>
                    </a:p>
                  </a:txBody>
                  <a:tcPr marT="45725" marB="45725" marR="91450" marL="91450"/>
                </a:tc>
                <a:tc>
                  <a:txBody>
                    <a:bodyPr/>
                    <a:lstStyle/>
                    <a:p>
                      <a:pPr indent="0" lvl="0" marL="0" marR="0" rtl="0" algn="ctr">
                        <a:spcBef>
                          <a:spcPts val="0"/>
                        </a:spcBef>
                        <a:spcAft>
                          <a:spcPts val="0"/>
                        </a:spcAft>
                        <a:buNone/>
                      </a:pPr>
                      <a:r>
                        <a:rPr lang="en-US" sz="1800" u="none" cap="none" strike="noStrike">
                          <a:latin typeface="Montserrat"/>
                          <a:ea typeface="Montserrat"/>
                          <a:cs typeface="Montserrat"/>
                          <a:sym typeface="Montserrat"/>
                        </a:rPr>
                        <a:t>10</a:t>
                      </a:r>
                      <a:endParaRPr sz="1800" u="none" cap="none" strike="noStrike">
                        <a:latin typeface="Montserrat"/>
                        <a:ea typeface="Montserrat"/>
                        <a:cs typeface="Montserrat"/>
                        <a:sym typeface="Montserrat"/>
                      </a:endParaRPr>
                    </a:p>
                  </a:txBody>
                  <a:tcPr marT="45725" marB="45725" marR="91450" marL="91450"/>
                </a:tc>
                <a:tc>
                  <a:txBody>
                    <a:bodyPr/>
                    <a:lstStyle/>
                    <a:p>
                      <a:pPr indent="0" lvl="0" marL="0" marR="0" rtl="0" algn="ctr">
                        <a:spcBef>
                          <a:spcPts val="0"/>
                        </a:spcBef>
                        <a:spcAft>
                          <a:spcPts val="0"/>
                        </a:spcAft>
                        <a:buNone/>
                      </a:pPr>
                      <a:r>
                        <a:rPr lang="en-US" sz="1800" u="none" cap="none" strike="noStrike">
                          <a:latin typeface="Montserrat"/>
                          <a:ea typeface="Montserrat"/>
                          <a:cs typeface="Montserrat"/>
                          <a:sym typeface="Montserrat"/>
                        </a:rPr>
                        <a:t>50</a:t>
                      </a:r>
                      <a:endParaRPr sz="1800" u="none" cap="none" strike="noStrike">
                        <a:latin typeface="Montserrat"/>
                        <a:ea typeface="Montserrat"/>
                        <a:cs typeface="Montserrat"/>
                        <a:sym typeface="Montserrat"/>
                      </a:endParaRPr>
                    </a:p>
                  </a:txBody>
                  <a:tcPr marT="45725" marB="45725" marR="91450" marL="91450"/>
                </a:tc>
              </a:tr>
            </a:tbl>
          </a:graphicData>
        </a:graphic>
      </p:graphicFrame>
      <p:pic>
        <p:nvPicPr>
          <p:cNvPr id="544" name="Google Shape;544;p30"/>
          <p:cNvPicPr preferRelativeResize="0"/>
          <p:nvPr/>
        </p:nvPicPr>
        <p:blipFill rotWithShape="1">
          <a:blip r:embed="rId5">
            <a:alphaModFix/>
          </a:blip>
          <a:srcRect b="0" l="0" r="0" t="0"/>
          <a:stretch/>
        </p:blipFill>
        <p:spPr>
          <a:xfrm>
            <a:off x="10058400" y="4598432"/>
            <a:ext cx="4996328" cy="1219200"/>
          </a:xfrm>
          <a:prstGeom prst="rect">
            <a:avLst/>
          </a:prstGeom>
          <a:noFill/>
          <a:ln>
            <a:noFill/>
          </a:ln>
        </p:spPr>
      </p:pic>
      <p:cxnSp>
        <p:nvCxnSpPr>
          <p:cNvPr id="545" name="Google Shape;545;p30"/>
          <p:cNvCxnSpPr>
            <a:endCxn id="544" idx="1"/>
          </p:cNvCxnSpPr>
          <p:nvPr/>
        </p:nvCxnSpPr>
        <p:spPr>
          <a:xfrm flipH="1" rot="10800000">
            <a:off x="8229600" y="5208032"/>
            <a:ext cx="1828800" cy="914400"/>
          </a:xfrm>
          <a:prstGeom prst="curvedConnector3">
            <a:avLst>
              <a:gd fmla="val 50000" name="adj1"/>
            </a:avLst>
          </a:prstGeom>
          <a:noFill/>
          <a:ln cap="flat" cmpd="sng" w="9525">
            <a:solidFill>
              <a:srgbClr val="4A7DBA"/>
            </a:solidFill>
            <a:prstDash val="solid"/>
            <a:round/>
            <a:headEnd len="sm" w="sm" type="none"/>
            <a:tailEnd len="med" w="med" type="triangle"/>
          </a:ln>
        </p:spPr>
      </p:cxnSp>
      <p:sp>
        <p:nvSpPr>
          <p:cNvPr id="546" name="Google Shape;546;p30"/>
          <p:cNvSpPr txBox="1"/>
          <p:nvPr/>
        </p:nvSpPr>
        <p:spPr>
          <a:xfrm>
            <a:off x="10058400" y="4229100"/>
            <a:ext cx="13716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Montserrat"/>
                <a:ea typeface="Montserrat"/>
                <a:cs typeface="Montserrat"/>
                <a:sym typeface="Montserrat"/>
              </a:rPr>
              <a:t>Example : </a:t>
            </a:r>
            <a:endParaRPr b="1" sz="1800">
              <a:solidFill>
                <a:schemeClr val="dk1"/>
              </a:solidFill>
              <a:latin typeface="Montserrat"/>
              <a:ea typeface="Montserrat"/>
              <a:cs typeface="Montserrat"/>
              <a:sym typeface="Montserrat"/>
            </a:endParaRPr>
          </a:p>
        </p:txBody>
      </p:sp>
    </p:spTree>
  </p:cSld>
  <p:clrMapOvr>
    <a:masterClrMapping/>
  </p:clrMapOvr>
  <p:transition spd="slow">
    <p:push/>
  </p:transition>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grpSp>
        <p:nvGrpSpPr>
          <p:cNvPr id="551" name="Google Shape;551;p31"/>
          <p:cNvGrpSpPr/>
          <p:nvPr/>
        </p:nvGrpSpPr>
        <p:grpSpPr>
          <a:xfrm>
            <a:off x="17016492" y="-180826"/>
            <a:ext cx="1271508" cy="10467826"/>
            <a:chOff x="0" y="-47625"/>
            <a:chExt cx="334883" cy="2756958"/>
          </a:xfrm>
        </p:grpSpPr>
        <p:sp>
          <p:nvSpPr>
            <p:cNvPr id="552" name="Google Shape;552;p31"/>
            <p:cNvSpPr/>
            <p:nvPr/>
          </p:nvSpPr>
          <p:spPr>
            <a:xfrm>
              <a:off x="0" y="0"/>
              <a:ext cx="334883" cy="2709333"/>
            </a:xfrm>
            <a:custGeom>
              <a:rect b="b" l="l" r="r" t="t"/>
              <a:pathLst>
                <a:path extrusionOk="0" h="2709333" w="334883">
                  <a:moveTo>
                    <a:pt x="0" y="0"/>
                  </a:moveTo>
                  <a:lnTo>
                    <a:pt x="334883" y="0"/>
                  </a:lnTo>
                  <a:lnTo>
                    <a:pt x="334883" y="2709333"/>
                  </a:lnTo>
                  <a:lnTo>
                    <a:pt x="0" y="2709333"/>
                  </a:lnTo>
                  <a:close/>
                </a:path>
              </a:pathLst>
            </a:custGeom>
            <a:solidFill>
              <a:srgbClr val="08377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3" name="Google Shape;553;p31"/>
            <p:cNvSpPr txBox="1"/>
            <p:nvPr/>
          </p:nvSpPr>
          <p:spPr>
            <a:xfrm>
              <a:off x="0" y="-47625"/>
              <a:ext cx="334883"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54" name="Google Shape;554;p31"/>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3">
              <a:alphaModFix/>
            </a:blip>
            <a:stretch>
              <a:fillRect b="0" l="-3961" r="-3961"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5" name="Google Shape;555;p31"/>
          <p:cNvSpPr txBox="1"/>
          <p:nvPr/>
        </p:nvSpPr>
        <p:spPr>
          <a:xfrm>
            <a:off x="6083684" y="1257300"/>
            <a:ext cx="5211826" cy="933450"/>
          </a:xfrm>
          <a:prstGeom prst="rect">
            <a:avLst/>
          </a:prstGeom>
          <a:noFill/>
          <a:ln>
            <a:noFill/>
          </a:ln>
        </p:spPr>
        <p:txBody>
          <a:bodyPr anchorCtr="0" anchor="t" bIns="0" lIns="0" spcFirstLastPara="1" rIns="0" wrap="square" tIns="0">
            <a:spAutoFit/>
          </a:bodyPr>
          <a:lstStyle/>
          <a:p>
            <a:pPr indent="0" lvl="0" marL="0" marR="0" rtl="0" algn="ctr">
              <a:lnSpc>
                <a:spcPct val="120009"/>
              </a:lnSpc>
              <a:spcBef>
                <a:spcPts val="0"/>
              </a:spcBef>
              <a:spcAft>
                <a:spcPts val="0"/>
              </a:spcAft>
              <a:buNone/>
            </a:pPr>
            <a:r>
              <a:rPr b="1" lang="en-US" sz="6092">
                <a:solidFill>
                  <a:srgbClr val="08377C"/>
                </a:solidFill>
                <a:latin typeface="Montserrat"/>
                <a:ea typeface="Montserrat"/>
                <a:cs typeface="Montserrat"/>
                <a:sym typeface="Montserrat"/>
              </a:rPr>
              <a:t>Reference</a:t>
            </a:r>
            <a:endParaRPr/>
          </a:p>
        </p:txBody>
      </p:sp>
      <p:sp>
        <p:nvSpPr>
          <p:cNvPr id="556" name="Google Shape;556;p31"/>
          <p:cNvSpPr txBox="1"/>
          <p:nvPr/>
        </p:nvSpPr>
        <p:spPr>
          <a:xfrm>
            <a:off x="767595" y="2919347"/>
            <a:ext cx="15844005" cy="1627112"/>
          </a:xfrm>
          <a:prstGeom prst="rect">
            <a:avLst/>
          </a:prstGeom>
          <a:noFill/>
          <a:ln>
            <a:noFill/>
          </a:ln>
        </p:spPr>
        <p:txBody>
          <a:bodyPr anchorCtr="0" anchor="t" bIns="0" lIns="0" spcFirstLastPara="1" rIns="0" wrap="square" tIns="0">
            <a:spAutoFit/>
          </a:bodyPr>
          <a:lstStyle/>
          <a:p>
            <a:pPr indent="-514350" lvl="0" marL="514350" marR="0" rtl="0" algn="l">
              <a:lnSpc>
                <a:spcPct val="110000"/>
              </a:lnSpc>
              <a:spcBef>
                <a:spcPts val="0"/>
              </a:spcBef>
              <a:spcAft>
                <a:spcPts val="0"/>
              </a:spcAft>
              <a:buClr>
                <a:srgbClr val="074364"/>
              </a:buClr>
              <a:buSzPts val="2800"/>
              <a:buFont typeface="Calibri"/>
              <a:buAutoNum type="arabicPeriod"/>
            </a:pPr>
            <a:r>
              <a:rPr b="0" i="0" lang="en-US" sz="2800">
                <a:solidFill>
                  <a:srgbClr val="074364"/>
                </a:solidFill>
                <a:latin typeface="Raleway"/>
                <a:ea typeface="Raleway"/>
                <a:cs typeface="Raleway"/>
                <a:sym typeface="Raleway"/>
              </a:rPr>
              <a:t>Nils. J. Nilson, 1998, Intoduction to Machine Learning, Department of Computer Science, Standford University, Last Edition</a:t>
            </a:r>
            <a:endParaRPr/>
          </a:p>
          <a:p>
            <a:pPr indent="-514350" lvl="0" marL="514350" marR="0" rtl="0" algn="l">
              <a:lnSpc>
                <a:spcPct val="110000"/>
              </a:lnSpc>
              <a:spcBef>
                <a:spcPts val="1600"/>
              </a:spcBef>
              <a:spcAft>
                <a:spcPts val="0"/>
              </a:spcAft>
              <a:buClr>
                <a:srgbClr val="074364"/>
              </a:buClr>
              <a:buSzPts val="2800"/>
              <a:buFont typeface="Calibri"/>
              <a:buAutoNum type="arabicPeriod"/>
            </a:pPr>
            <a:r>
              <a:rPr lang="en-US" sz="2800">
                <a:solidFill>
                  <a:srgbClr val="074364"/>
                </a:solidFill>
                <a:latin typeface="Raleway"/>
                <a:ea typeface="Raleway"/>
                <a:cs typeface="Raleway"/>
                <a:sym typeface="Raleway"/>
              </a:rPr>
              <a:t>Dicoding – Belajar Machine Learning untuk Pemula</a:t>
            </a:r>
            <a:endParaRPr b="0" sz="2800">
              <a:solidFill>
                <a:srgbClr val="074364"/>
              </a:solidFill>
              <a:latin typeface="Raleway"/>
              <a:ea typeface="Raleway"/>
              <a:cs typeface="Raleway"/>
              <a:sym typeface="Raleway"/>
            </a:endParaRPr>
          </a:p>
        </p:txBody>
      </p:sp>
    </p:spTree>
  </p:cSld>
  <p:clrMapOvr>
    <a:masterClrMapping/>
  </p:clrMapOvr>
  <p:transition spd="slow">
    <p:push/>
  </p:transition>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561" name="Shape 561"/>
        <p:cNvGrpSpPr/>
        <p:nvPr/>
      </p:nvGrpSpPr>
      <p:grpSpPr>
        <a:xfrm>
          <a:off x="0" y="0"/>
          <a:ext cx="0" cy="0"/>
          <a:chOff x="0" y="0"/>
          <a:chExt cx="0" cy="0"/>
        </a:xfrm>
      </p:grpSpPr>
      <p:grpSp>
        <p:nvGrpSpPr>
          <p:cNvPr id="562" name="Google Shape;562;p32"/>
          <p:cNvGrpSpPr/>
          <p:nvPr/>
        </p:nvGrpSpPr>
        <p:grpSpPr>
          <a:xfrm>
            <a:off x="1" y="9204114"/>
            <a:ext cx="18288000" cy="1082886"/>
            <a:chOff x="0" y="-38100"/>
            <a:chExt cx="6110362" cy="303232"/>
          </a:xfrm>
        </p:grpSpPr>
        <p:sp>
          <p:nvSpPr>
            <p:cNvPr id="563" name="Google Shape;563;p32"/>
            <p:cNvSpPr/>
            <p:nvPr/>
          </p:nvSpPr>
          <p:spPr>
            <a:xfrm>
              <a:off x="0" y="0"/>
              <a:ext cx="6110362" cy="265132"/>
            </a:xfrm>
            <a:custGeom>
              <a:rect b="b" l="l" r="r" t="t"/>
              <a:pathLst>
                <a:path extrusionOk="0" h="265132" w="6110362">
                  <a:moveTo>
                    <a:pt x="0" y="0"/>
                  </a:moveTo>
                  <a:lnTo>
                    <a:pt x="6110362" y="0"/>
                  </a:lnTo>
                  <a:lnTo>
                    <a:pt x="6110362" y="265132"/>
                  </a:lnTo>
                  <a:lnTo>
                    <a:pt x="0" y="265132"/>
                  </a:lnTo>
                  <a:close/>
                </a:path>
              </a:pathLst>
            </a:custGeom>
            <a:solidFill>
              <a:srgbClr val="145D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4" name="Google Shape;564;p32"/>
            <p:cNvSpPr txBox="1"/>
            <p:nvPr/>
          </p:nvSpPr>
          <p:spPr>
            <a:xfrm>
              <a:off x="0" y="-38100"/>
              <a:ext cx="6110362" cy="303232"/>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65" name="Google Shape;565;p32"/>
          <p:cNvGrpSpPr/>
          <p:nvPr/>
        </p:nvGrpSpPr>
        <p:grpSpPr>
          <a:xfrm>
            <a:off x="1" y="-73076"/>
            <a:ext cx="18288000" cy="1019900"/>
            <a:chOff x="0" y="-38100"/>
            <a:chExt cx="6110362" cy="531751"/>
          </a:xfrm>
        </p:grpSpPr>
        <p:sp>
          <p:nvSpPr>
            <p:cNvPr id="566" name="Google Shape;566;p32"/>
            <p:cNvSpPr/>
            <p:nvPr/>
          </p:nvSpPr>
          <p:spPr>
            <a:xfrm>
              <a:off x="0" y="0"/>
              <a:ext cx="6110362" cy="493651"/>
            </a:xfrm>
            <a:custGeom>
              <a:rect b="b" l="l" r="r" t="t"/>
              <a:pathLst>
                <a:path extrusionOk="0" h="493651" w="6110362">
                  <a:moveTo>
                    <a:pt x="0" y="0"/>
                  </a:moveTo>
                  <a:lnTo>
                    <a:pt x="6110362" y="0"/>
                  </a:lnTo>
                  <a:lnTo>
                    <a:pt x="6110362" y="493651"/>
                  </a:lnTo>
                  <a:lnTo>
                    <a:pt x="0" y="493651"/>
                  </a:lnTo>
                  <a:close/>
                </a:path>
              </a:pathLst>
            </a:custGeom>
            <a:solidFill>
              <a:srgbClr val="145D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7" name="Google Shape;567;p32"/>
            <p:cNvSpPr txBox="1"/>
            <p:nvPr/>
          </p:nvSpPr>
          <p:spPr>
            <a:xfrm>
              <a:off x="0" y="-38100"/>
              <a:ext cx="6110362" cy="53175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68" name="Google Shape;568;p32"/>
          <p:cNvSpPr txBox="1"/>
          <p:nvPr/>
        </p:nvSpPr>
        <p:spPr>
          <a:xfrm>
            <a:off x="4734204" y="3627935"/>
            <a:ext cx="8819592" cy="1771491"/>
          </a:xfrm>
          <a:prstGeom prst="rect">
            <a:avLst/>
          </a:prstGeom>
          <a:noFill/>
          <a:ln>
            <a:noFill/>
          </a:ln>
        </p:spPr>
        <p:txBody>
          <a:bodyPr anchorCtr="0" anchor="t" bIns="0" lIns="0" spcFirstLastPara="1" rIns="0" wrap="square" tIns="0">
            <a:spAutoFit/>
          </a:bodyPr>
          <a:lstStyle/>
          <a:p>
            <a:pPr indent="0" lvl="0" marL="0" marR="0" rtl="0" algn="l">
              <a:lnSpc>
                <a:spcPct val="140003"/>
              </a:lnSpc>
              <a:spcBef>
                <a:spcPts val="0"/>
              </a:spcBef>
              <a:spcAft>
                <a:spcPts val="0"/>
              </a:spcAft>
              <a:buNone/>
            </a:pPr>
            <a:r>
              <a:rPr b="1" lang="en-US" sz="10364">
                <a:solidFill>
                  <a:srgbClr val="051D40"/>
                </a:solidFill>
                <a:latin typeface="Open Sans ExtraBold"/>
                <a:ea typeface="Open Sans ExtraBold"/>
                <a:cs typeface="Open Sans ExtraBold"/>
                <a:sym typeface="Open Sans ExtraBold"/>
              </a:rPr>
              <a:t>THANK YOU!</a:t>
            </a:r>
            <a:endParaRPr/>
          </a:p>
        </p:txBody>
      </p:sp>
    </p:spTree>
  </p:cSld>
  <p:clrMapOvr>
    <a:masterClrMapping/>
  </p:clrMapOvr>
  <p:transition spd="slow">
    <p:push/>
  </p:transition>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M S I</dc:creator>
</cp:coreProperties>
</file>